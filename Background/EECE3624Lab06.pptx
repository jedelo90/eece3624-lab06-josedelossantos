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56" r:id="rId2"/>
    <p:sldId id="257" r:id="rId3"/>
    <p:sldId id="258" r:id="rId4"/>
    <p:sldId id="259" r:id="rId5"/>
    <p:sldId id="260" r:id="rId6"/>
    <p:sldId id="261" r:id="rId7"/>
  </p:sldIdLst>
  <p:sldSz cx="7772400" cy="10058400"/>
  <p:notesSz cx="18084800" cy="126492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C34588-01E4-42B6-994A-4BB35D8DC478}" v="7" dt="2026-10-06T16:08:09.461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notesMasterView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2556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7" d="100"/>
          <a:sy n="57" d="100"/>
        </p:scale>
        <p:origin x="1756" y="4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e De Los Santos" userId="5b4238d056d765fb" providerId="LiveId" clId="{A00C9B26-0AFF-4121-92BA-EA5BC3811AE2}"/>
    <pc:docChg chg="modNotesMaster">
      <pc:chgData name="Jose De Los Santos" userId="5b4238d056d765fb" providerId="LiveId" clId="{A00C9B26-0AFF-4121-92BA-EA5BC3811AE2}" dt="2026-10-06T16:08:20.431" v="8" actId="1076"/>
      <pc:docMkLst>
        <pc:docMk/>
      </pc:docMkLst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EAB34F6-3CBA-77C2-1228-1556CA8E39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7837488" cy="633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7EA9CA-EC57-D290-3723-8A6CAC4E2AC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10244138" y="0"/>
            <a:ext cx="7835900" cy="633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6D049A-565E-45C0-ADB2-C4804286CC89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0BEA46-22A2-BDA9-5310-6B7201A4906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2015788"/>
            <a:ext cx="7837488" cy="633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4F0834-0EE7-AE63-6ED4-4445424D742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0244138" y="12015788"/>
            <a:ext cx="7835900" cy="633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C12C96-1DBE-4436-BADC-9AC1941D09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76042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0" y="-27025"/>
            <a:ext cx="9816790" cy="12703249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06000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808163" y="6088063"/>
            <a:ext cx="14468475" cy="497998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8043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808163" y="6088063"/>
            <a:ext cx="14468475" cy="497998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6227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808163" y="6088063"/>
            <a:ext cx="14468475" cy="497998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3399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808163" y="6088063"/>
            <a:ext cx="14468475" cy="497998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6414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808163" y="6088063"/>
            <a:ext cx="14468475" cy="497998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4409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808163" y="6088063"/>
            <a:ext cx="14468475" cy="497998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4925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pPr marL="12700">
              <a:lnSpc>
                <a:spcPts val="1220"/>
              </a:lnSpc>
            </a:pPr>
            <a:r>
              <a:rPr spc="-10" dirty="0"/>
              <a:t>-</a:t>
            </a:r>
            <a:fld id="{81D60167-4931-47E6-BA6A-407CBD079E47}" type="slidenum">
              <a:rPr spc="-25" dirty="0"/>
              <a:t>‹#›</a:t>
            </a:fld>
            <a:r>
              <a:rPr spc="-25" dirty="0"/>
              <a:t>-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pPr marL="12700">
              <a:lnSpc>
                <a:spcPts val="1220"/>
              </a:lnSpc>
            </a:pPr>
            <a:r>
              <a:rPr spc="-10" dirty="0"/>
              <a:t>-</a:t>
            </a:r>
            <a:fld id="{81D60167-4931-47E6-BA6A-407CBD079E47}" type="slidenum">
              <a:rPr spc="-25" dirty="0"/>
              <a:t>‹#›</a:t>
            </a:fld>
            <a:r>
              <a:rPr spc="-25" dirty="0"/>
              <a:t>-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pPr marL="12700">
              <a:lnSpc>
                <a:spcPts val="1220"/>
              </a:lnSpc>
            </a:pPr>
            <a:r>
              <a:rPr spc="-10" dirty="0"/>
              <a:t>-</a:t>
            </a:r>
            <a:fld id="{81D60167-4931-47E6-BA6A-407CBD079E47}" type="slidenum">
              <a:rPr spc="-25" dirty="0"/>
              <a:t>‹#›</a:t>
            </a:fld>
            <a:r>
              <a:rPr spc="-25" dirty="0"/>
              <a:t>-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pPr marL="12700">
              <a:lnSpc>
                <a:spcPts val="1220"/>
              </a:lnSpc>
            </a:pPr>
            <a:r>
              <a:rPr spc="-10" dirty="0"/>
              <a:t>-</a:t>
            </a:r>
            <a:fld id="{81D60167-4931-47E6-BA6A-407CBD079E47}" type="slidenum">
              <a:rPr spc="-25" dirty="0"/>
              <a:t>‹#›</a:t>
            </a:fld>
            <a:r>
              <a:rPr spc="-25" dirty="0"/>
              <a:t>-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pPr marL="12700">
              <a:lnSpc>
                <a:spcPts val="1220"/>
              </a:lnSpc>
            </a:pPr>
            <a:r>
              <a:rPr spc="-10" dirty="0"/>
              <a:t>-</a:t>
            </a:r>
            <a:fld id="{81D60167-4931-47E6-BA6A-407CBD079E47}" type="slidenum">
              <a:rPr spc="-25" dirty="0"/>
              <a:t>‹#›</a:t>
            </a:fld>
            <a:r>
              <a:rPr spc="-25" dirty="0"/>
              <a:t>-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06017" y="734314"/>
            <a:ext cx="4960365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02004" y="2159254"/>
            <a:ext cx="5925184" cy="3921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642616" y="9354312"/>
            <a:ext cx="2487168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3784219" y="9385513"/>
            <a:ext cx="203200" cy="1803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pPr marL="12700">
              <a:lnSpc>
                <a:spcPts val="1220"/>
              </a:lnSpc>
            </a:pPr>
            <a:r>
              <a:rPr spc="-10" dirty="0"/>
              <a:t>-</a:t>
            </a:r>
            <a:fld id="{81D60167-4931-47E6-BA6A-407CBD079E47}" type="slidenum">
              <a:rPr spc="-25" dirty="0"/>
              <a:t>‹#›</a:t>
            </a:fld>
            <a:r>
              <a:rPr spc="-25" dirty="0"/>
              <a:t>-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.jpg"/><Relationship Id="rId4" Type="http://schemas.openxmlformats.org/officeDocument/2006/relationships/slide" Target="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04875"/>
            <a:ext cx="1812289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Palatino Linotype"/>
                <a:cs typeface="Palatino Linotype"/>
              </a:rPr>
              <a:t>EECE</a:t>
            </a:r>
            <a:r>
              <a:rPr sz="1100" b="1" spc="-15" dirty="0">
                <a:latin typeface="Palatino Linotype"/>
                <a:cs typeface="Palatino Linotype"/>
              </a:rPr>
              <a:t> </a:t>
            </a:r>
            <a:r>
              <a:rPr sz="1100" b="1" dirty="0">
                <a:latin typeface="Palatino Linotype"/>
                <a:cs typeface="Palatino Linotype"/>
              </a:rPr>
              <a:t>3624:</a:t>
            </a:r>
            <a:r>
              <a:rPr sz="1100" b="1" spc="-15" dirty="0">
                <a:latin typeface="Palatino Linotype"/>
                <a:cs typeface="Palatino Linotype"/>
              </a:rPr>
              <a:t> </a:t>
            </a:r>
            <a:r>
              <a:rPr sz="1100" b="1" spc="-10" dirty="0">
                <a:latin typeface="Palatino Linotype"/>
                <a:cs typeface="Palatino Linotype"/>
              </a:rPr>
              <a:t>Microprocessors</a:t>
            </a:r>
            <a:endParaRPr sz="1100">
              <a:latin typeface="Palatino Linotype"/>
              <a:cs typeface="Palatino Linotype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304026" y="404875"/>
            <a:ext cx="56959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Palatino Linotype"/>
                <a:cs typeface="Palatino Linotype"/>
              </a:rPr>
              <a:t>Fall</a:t>
            </a:r>
            <a:r>
              <a:rPr sz="1100" spc="-20" dirty="0">
                <a:latin typeface="Palatino Linotype"/>
                <a:cs typeface="Palatino Linotype"/>
              </a:rPr>
              <a:t> 2023</a:t>
            </a:r>
            <a:endParaRPr sz="1100">
              <a:latin typeface="Palatino Linotype"/>
              <a:cs typeface="Palatino Linotype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Lab</a:t>
            </a:r>
            <a:r>
              <a:rPr spc="-35" dirty="0"/>
              <a:t> </a:t>
            </a:r>
            <a:r>
              <a:rPr dirty="0"/>
              <a:t>06—Si,</a:t>
            </a:r>
            <a:r>
              <a:rPr spc="-20" dirty="0"/>
              <a:t> </a:t>
            </a:r>
            <a:r>
              <a:rPr dirty="0"/>
              <a:t>Señor</a:t>
            </a:r>
            <a:r>
              <a:rPr spc="-30" dirty="0"/>
              <a:t> </a:t>
            </a:r>
            <a:r>
              <a:rPr dirty="0"/>
              <a:t>y</a:t>
            </a:r>
            <a:r>
              <a:rPr spc="-25" dirty="0"/>
              <a:t> </a:t>
            </a:r>
            <a:r>
              <a:rPr dirty="0"/>
              <a:t>Señorita!</a:t>
            </a:r>
            <a:r>
              <a:rPr spc="-15" dirty="0"/>
              <a:t> </a:t>
            </a:r>
            <a:r>
              <a:rPr dirty="0"/>
              <a:t>Si!</a:t>
            </a:r>
            <a:r>
              <a:rPr spc="-35" dirty="0"/>
              <a:t> </a:t>
            </a:r>
            <a:r>
              <a:rPr spc="-25" dirty="0"/>
              <a:t>Si!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02004" y="1250949"/>
            <a:ext cx="5113020" cy="821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39240">
              <a:lnSpc>
                <a:spcPct val="100000"/>
              </a:lnSpc>
              <a:spcBef>
                <a:spcPts val="100"/>
              </a:spcBef>
            </a:pPr>
            <a:r>
              <a:rPr sz="2000" i="1" dirty="0">
                <a:latin typeface="Palatino Linotype"/>
                <a:cs typeface="Palatino Linotype"/>
              </a:rPr>
              <a:t>ReadyAVR</a:t>
            </a:r>
            <a:r>
              <a:rPr sz="2000" i="1" spc="-10" dirty="0">
                <a:latin typeface="Palatino Linotype"/>
                <a:cs typeface="Palatino Linotype"/>
              </a:rPr>
              <a:t> </a:t>
            </a:r>
            <a:r>
              <a:rPr sz="2000" i="1" dirty="0">
                <a:latin typeface="Palatino Linotype"/>
                <a:cs typeface="Palatino Linotype"/>
              </a:rPr>
              <a:t>C</a:t>
            </a:r>
            <a:r>
              <a:rPr sz="2000" i="1" spc="-30" dirty="0">
                <a:latin typeface="Palatino Linotype"/>
                <a:cs typeface="Palatino Linotype"/>
              </a:rPr>
              <a:t> </a:t>
            </a:r>
            <a:r>
              <a:rPr sz="2000" i="1" spc="-10" dirty="0">
                <a:latin typeface="Palatino Linotype"/>
                <a:cs typeface="Palatino Linotype"/>
              </a:rPr>
              <a:t>Programming</a:t>
            </a:r>
            <a:endParaRPr sz="200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1700"/>
              </a:spcBef>
            </a:pPr>
            <a:r>
              <a:rPr sz="1800" b="1" dirty="0">
                <a:solidFill>
                  <a:srgbClr val="006FC0"/>
                </a:solidFill>
                <a:latin typeface="Palatino Linotype"/>
                <a:cs typeface="Palatino Linotype"/>
              </a:rPr>
              <a:t>Overview,</a:t>
            </a:r>
            <a:r>
              <a:rPr sz="1800" b="1" spc="-40" dirty="0">
                <a:solidFill>
                  <a:srgbClr val="006FC0"/>
                </a:solidFill>
                <a:latin typeface="Palatino Linotype"/>
                <a:cs typeface="Palatino Linotype"/>
              </a:rPr>
              <a:t> </a:t>
            </a:r>
            <a:r>
              <a:rPr sz="1800" b="1" dirty="0">
                <a:solidFill>
                  <a:srgbClr val="006FC0"/>
                </a:solidFill>
                <a:latin typeface="Palatino Linotype"/>
                <a:cs typeface="Palatino Linotype"/>
              </a:rPr>
              <a:t>Hardware</a:t>
            </a:r>
            <a:r>
              <a:rPr sz="1800" b="1" spc="-30" dirty="0">
                <a:solidFill>
                  <a:srgbClr val="006FC0"/>
                </a:solidFill>
                <a:latin typeface="Palatino Linotype"/>
                <a:cs typeface="Palatino Linotype"/>
              </a:rPr>
              <a:t> </a:t>
            </a:r>
            <a:r>
              <a:rPr sz="1800" b="1" dirty="0">
                <a:solidFill>
                  <a:srgbClr val="006FC0"/>
                </a:solidFill>
                <a:latin typeface="Palatino Linotype"/>
                <a:cs typeface="Palatino Linotype"/>
              </a:rPr>
              <a:t>and</a:t>
            </a:r>
            <a:r>
              <a:rPr sz="1800" b="1" spc="-45" dirty="0">
                <a:solidFill>
                  <a:srgbClr val="006FC0"/>
                </a:solidFill>
                <a:latin typeface="Palatino Linotype"/>
                <a:cs typeface="Palatino Linotype"/>
              </a:rPr>
              <a:t> </a:t>
            </a:r>
            <a:r>
              <a:rPr sz="1800" b="1" dirty="0">
                <a:solidFill>
                  <a:srgbClr val="006FC0"/>
                </a:solidFill>
                <a:latin typeface="Palatino Linotype"/>
                <a:cs typeface="Palatino Linotype"/>
              </a:rPr>
              <a:t>Software</a:t>
            </a:r>
            <a:r>
              <a:rPr sz="1800" b="1" spc="-40" dirty="0">
                <a:solidFill>
                  <a:srgbClr val="006FC0"/>
                </a:solidFill>
                <a:latin typeface="Palatino Linotype"/>
                <a:cs typeface="Palatino Linotype"/>
              </a:rPr>
              <a:t> </a:t>
            </a:r>
            <a:r>
              <a:rPr sz="1800" b="1" spc="-10" dirty="0">
                <a:solidFill>
                  <a:srgbClr val="006FC0"/>
                </a:solidFill>
                <a:latin typeface="Palatino Linotype"/>
                <a:cs typeface="Palatino Linotype"/>
              </a:rPr>
              <a:t>Architectures</a:t>
            </a:r>
            <a:endParaRPr sz="1800">
              <a:latin typeface="Palatino Linotype"/>
              <a:cs typeface="Palatino Linotype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96416" y="2118614"/>
            <a:ext cx="5981065" cy="6350"/>
          </a:xfrm>
          <a:custGeom>
            <a:avLst/>
            <a:gdLst/>
            <a:ahLst/>
            <a:cxnLst/>
            <a:rect l="l" t="t" r="r" b="b"/>
            <a:pathLst>
              <a:path w="5981065" h="6350">
                <a:moveTo>
                  <a:pt x="5981065" y="0"/>
                </a:moveTo>
                <a:lnTo>
                  <a:pt x="0" y="0"/>
                </a:lnTo>
                <a:lnTo>
                  <a:pt x="0" y="6096"/>
                </a:lnTo>
                <a:lnTo>
                  <a:pt x="5981065" y="6096"/>
                </a:lnTo>
                <a:lnTo>
                  <a:pt x="5981065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02004" y="8658555"/>
            <a:ext cx="6191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"/>
                <a:cs typeface="Arial"/>
              </a:rPr>
              <a:t>Figure</a:t>
            </a:r>
            <a:r>
              <a:rPr sz="1200" b="1" spc="-65" dirty="0">
                <a:latin typeface="Arial"/>
                <a:cs typeface="Arial"/>
              </a:rPr>
              <a:t> </a:t>
            </a:r>
            <a:r>
              <a:rPr sz="1200" b="1" spc="-50" dirty="0">
                <a:latin typeface="Arial"/>
                <a:cs typeface="Arial"/>
              </a:rPr>
              <a:t>1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123950" y="6156578"/>
            <a:ext cx="2625725" cy="2164080"/>
            <a:chOff x="1123950" y="6156578"/>
            <a:chExt cx="2625725" cy="216408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23950" y="6156578"/>
              <a:ext cx="2625725" cy="2163699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720339" y="7293228"/>
              <a:ext cx="350520" cy="350520"/>
            </a:xfrm>
            <a:custGeom>
              <a:avLst/>
              <a:gdLst/>
              <a:ahLst/>
              <a:cxnLst/>
              <a:rect l="l" t="t" r="r" b="b"/>
              <a:pathLst>
                <a:path w="350519" h="350520">
                  <a:moveTo>
                    <a:pt x="0" y="175260"/>
                  </a:moveTo>
                  <a:lnTo>
                    <a:pt x="6261" y="128675"/>
                  </a:lnTo>
                  <a:lnTo>
                    <a:pt x="23932" y="86811"/>
                  </a:lnTo>
                  <a:lnTo>
                    <a:pt x="51339" y="51339"/>
                  </a:lnTo>
                  <a:lnTo>
                    <a:pt x="86811" y="23932"/>
                  </a:lnTo>
                  <a:lnTo>
                    <a:pt x="128675" y="6261"/>
                  </a:lnTo>
                  <a:lnTo>
                    <a:pt x="175260" y="0"/>
                  </a:lnTo>
                  <a:lnTo>
                    <a:pt x="221844" y="6261"/>
                  </a:lnTo>
                  <a:lnTo>
                    <a:pt x="263708" y="23932"/>
                  </a:lnTo>
                  <a:lnTo>
                    <a:pt x="299180" y="51339"/>
                  </a:lnTo>
                  <a:lnTo>
                    <a:pt x="326587" y="86811"/>
                  </a:lnTo>
                  <a:lnTo>
                    <a:pt x="344258" y="128675"/>
                  </a:lnTo>
                  <a:lnTo>
                    <a:pt x="350520" y="175260"/>
                  </a:lnTo>
                  <a:lnTo>
                    <a:pt x="344258" y="221844"/>
                  </a:lnTo>
                  <a:lnTo>
                    <a:pt x="326587" y="263708"/>
                  </a:lnTo>
                  <a:lnTo>
                    <a:pt x="299180" y="299180"/>
                  </a:lnTo>
                  <a:lnTo>
                    <a:pt x="263708" y="326587"/>
                  </a:lnTo>
                  <a:lnTo>
                    <a:pt x="221844" y="344258"/>
                  </a:lnTo>
                  <a:lnTo>
                    <a:pt x="175260" y="350520"/>
                  </a:lnTo>
                  <a:lnTo>
                    <a:pt x="128675" y="344258"/>
                  </a:lnTo>
                  <a:lnTo>
                    <a:pt x="86811" y="326587"/>
                  </a:lnTo>
                  <a:lnTo>
                    <a:pt x="51339" y="299180"/>
                  </a:lnTo>
                  <a:lnTo>
                    <a:pt x="23932" y="263708"/>
                  </a:lnTo>
                  <a:lnTo>
                    <a:pt x="6261" y="221844"/>
                  </a:lnTo>
                  <a:lnTo>
                    <a:pt x="0" y="175260"/>
                  </a:lnTo>
                  <a:close/>
                </a:path>
              </a:pathLst>
            </a:custGeom>
            <a:ln w="190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017520" y="7603108"/>
              <a:ext cx="175260" cy="160020"/>
            </a:xfrm>
            <a:custGeom>
              <a:avLst/>
              <a:gdLst/>
              <a:ahLst/>
              <a:cxnLst/>
              <a:rect l="l" t="t" r="r" b="b"/>
              <a:pathLst>
                <a:path w="175260" h="160020">
                  <a:moveTo>
                    <a:pt x="175260" y="160020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638300" y="6898893"/>
              <a:ext cx="350520" cy="350520"/>
            </a:xfrm>
            <a:custGeom>
              <a:avLst/>
              <a:gdLst/>
              <a:ahLst/>
              <a:cxnLst/>
              <a:rect l="l" t="t" r="r" b="b"/>
              <a:pathLst>
                <a:path w="350519" h="350520">
                  <a:moveTo>
                    <a:pt x="0" y="175259"/>
                  </a:moveTo>
                  <a:lnTo>
                    <a:pt x="6261" y="128675"/>
                  </a:lnTo>
                  <a:lnTo>
                    <a:pt x="23932" y="86811"/>
                  </a:lnTo>
                  <a:lnTo>
                    <a:pt x="51339" y="51339"/>
                  </a:lnTo>
                  <a:lnTo>
                    <a:pt x="86811" y="23932"/>
                  </a:lnTo>
                  <a:lnTo>
                    <a:pt x="128675" y="6261"/>
                  </a:lnTo>
                  <a:lnTo>
                    <a:pt x="175260" y="0"/>
                  </a:lnTo>
                  <a:lnTo>
                    <a:pt x="221844" y="6261"/>
                  </a:lnTo>
                  <a:lnTo>
                    <a:pt x="263708" y="23932"/>
                  </a:lnTo>
                  <a:lnTo>
                    <a:pt x="299180" y="51339"/>
                  </a:lnTo>
                  <a:lnTo>
                    <a:pt x="326587" y="86811"/>
                  </a:lnTo>
                  <a:lnTo>
                    <a:pt x="344258" y="128675"/>
                  </a:lnTo>
                  <a:lnTo>
                    <a:pt x="350519" y="175259"/>
                  </a:lnTo>
                  <a:lnTo>
                    <a:pt x="344258" y="221844"/>
                  </a:lnTo>
                  <a:lnTo>
                    <a:pt x="326587" y="263708"/>
                  </a:lnTo>
                  <a:lnTo>
                    <a:pt x="299180" y="299180"/>
                  </a:lnTo>
                  <a:lnTo>
                    <a:pt x="263708" y="326587"/>
                  </a:lnTo>
                  <a:lnTo>
                    <a:pt x="221844" y="344258"/>
                  </a:lnTo>
                  <a:lnTo>
                    <a:pt x="175260" y="350519"/>
                  </a:lnTo>
                  <a:lnTo>
                    <a:pt x="128675" y="344258"/>
                  </a:lnTo>
                  <a:lnTo>
                    <a:pt x="86811" y="326587"/>
                  </a:lnTo>
                  <a:lnTo>
                    <a:pt x="51339" y="299180"/>
                  </a:lnTo>
                  <a:lnTo>
                    <a:pt x="23932" y="263708"/>
                  </a:lnTo>
                  <a:lnTo>
                    <a:pt x="6261" y="221844"/>
                  </a:lnTo>
                  <a:lnTo>
                    <a:pt x="0" y="175259"/>
                  </a:lnTo>
                  <a:close/>
                </a:path>
              </a:pathLst>
            </a:custGeom>
            <a:ln w="190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3860800" y="6150228"/>
            <a:ext cx="2796540" cy="2184400"/>
            <a:chOff x="3860800" y="6150228"/>
            <a:chExt cx="2796540" cy="2184400"/>
          </a:xfrm>
        </p:grpSpPr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67150" y="6156578"/>
              <a:ext cx="2783840" cy="2171446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3863975" y="6153403"/>
              <a:ext cx="2790190" cy="2178050"/>
            </a:xfrm>
            <a:custGeom>
              <a:avLst/>
              <a:gdLst/>
              <a:ahLst/>
              <a:cxnLst/>
              <a:rect l="l" t="t" r="r" b="b"/>
              <a:pathLst>
                <a:path w="2790190" h="2178050">
                  <a:moveTo>
                    <a:pt x="0" y="2177796"/>
                  </a:moveTo>
                  <a:lnTo>
                    <a:pt x="2790190" y="2177796"/>
                  </a:lnTo>
                  <a:lnTo>
                    <a:pt x="2790190" y="0"/>
                  </a:lnTo>
                  <a:lnTo>
                    <a:pt x="0" y="0"/>
                  </a:lnTo>
                  <a:lnTo>
                    <a:pt x="0" y="2177796"/>
                  </a:lnTo>
                  <a:close/>
                </a:path>
              </a:pathLst>
            </a:custGeom>
            <a:ln w="63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21300"/>
              </a:lnSpc>
              <a:spcBef>
                <a:spcPts val="90"/>
              </a:spcBef>
            </a:pPr>
            <a:r>
              <a:rPr dirty="0"/>
              <a:t>This</a:t>
            </a:r>
            <a:r>
              <a:rPr spc="-35" dirty="0"/>
              <a:t> </a:t>
            </a:r>
            <a:r>
              <a:rPr dirty="0"/>
              <a:t>lab</a:t>
            </a:r>
            <a:r>
              <a:rPr spc="-15" dirty="0"/>
              <a:t> </a:t>
            </a:r>
            <a:r>
              <a:rPr dirty="0"/>
              <a:t>builds</a:t>
            </a:r>
            <a:r>
              <a:rPr spc="-25" dirty="0"/>
              <a:t> </a:t>
            </a:r>
            <a:r>
              <a:rPr dirty="0"/>
              <a:t>on</a:t>
            </a:r>
            <a:r>
              <a:rPr spc="-20" dirty="0"/>
              <a:t> </a:t>
            </a:r>
            <a:r>
              <a:rPr dirty="0"/>
              <a:t>what</a:t>
            </a:r>
            <a:r>
              <a:rPr spc="-25" dirty="0"/>
              <a:t> </a:t>
            </a:r>
            <a:r>
              <a:rPr dirty="0"/>
              <a:t>you</a:t>
            </a:r>
            <a:r>
              <a:rPr spc="-20" dirty="0"/>
              <a:t> </a:t>
            </a:r>
            <a:r>
              <a:rPr dirty="0"/>
              <a:t>already</a:t>
            </a:r>
            <a:r>
              <a:rPr spc="-20" dirty="0"/>
              <a:t> </a:t>
            </a:r>
            <a:r>
              <a:rPr dirty="0"/>
              <a:t>know</a:t>
            </a:r>
            <a:r>
              <a:rPr spc="-20" dirty="0"/>
              <a:t> </a:t>
            </a:r>
            <a:r>
              <a:rPr dirty="0"/>
              <a:t>about</a:t>
            </a:r>
            <a:r>
              <a:rPr spc="-30" dirty="0"/>
              <a:t> </a:t>
            </a:r>
            <a:r>
              <a:rPr dirty="0"/>
              <a:t>interrupts,</a:t>
            </a:r>
            <a:r>
              <a:rPr spc="-20" dirty="0"/>
              <a:t> </a:t>
            </a:r>
            <a:r>
              <a:rPr dirty="0"/>
              <a:t>but</a:t>
            </a:r>
            <a:r>
              <a:rPr spc="-25" dirty="0"/>
              <a:t> </a:t>
            </a:r>
            <a:r>
              <a:rPr dirty="0"/>
              <a:t>we’re</a:t>
            </a:r>
            <a:r>
              <a:rPr spc="-20" dirty="0"/>
              <a:t> </a:t>
            </a:r>
            <a:r>
              <a:rPr dirty="0"/>
              <a:t>leaving</a:t>
            </a:r>
            <a:r>
              <a:rPr spc="-20" dirty="0"/>
              <a:t> </a:t>
            </a:r>
            <a:r>
              <a:rPr spc="-10" dirty="0"/>
              <a:t>assembly </a:t>
            </a:r>
            <a:r>
              <a:rPr dirty="0"/>
              <a:t>language</a:t>
            </a:r>
            <a:r>
              <a:rPr spc="-20" dirty="0"/>
              <a:t> </a:t>
            </a:r>
            <a:r>
              <a:rPr dirty="0"/>
              <a:t>behind</a:t>
            </a:r>
            <a:r>
              <a:rPr spc="-20" dirty="0"/>
              <a:t> </a:t>
            </a:r>
            <a:r>
              <a:rPr dirty="0"/>
              <a:t>and</a:t>
            </a:r>
            <a:r>
              <a:rPr spc="-15" dirty="0"/>
              <a:t> </a:t>
            </a:r>
            <a:r>
              <a:rPr dirty="0"/>
              <a:t>moving</a:t>
            </a:r>
            <a:r>
              <a:rPr spc="-20" dirty="0"/>
              <a:t> </a:t>
            </a:r>
            <a:r>
              <a:rPr dirty="0"/>
              <a:t>on</a:t>
            </a:r>
            <a:r>
              <a:rPr spc="-20" dirty="0"/>
              <a:t> </a:t>
            </a:r>
            <a:r>
              <a:rPr dirty="0"/>
              <a:t>to</a:t>
            </a:r>
            <a:r>
              <a:rPr spc="-20" dirty="0"/>
              <a:t> </a:t>
            </a:r>
            <a:r>
              <a:rPr dirty="0"/>
              <a:t>C.</a:t>
            </a:r>
            <a:r>
              <a:rPr spc="-20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dirty="0"/>
              <a:t>while</a:t>
            </a:r>
            <a:r>
              <a:rPr spc="-20" dirty="0"/>
              <a:t> </a:t>
            </a:r>
            <a:r>
              <a:rPr dirty="0"/>
              <a:t>C</a:t>
            </a:r>
            <a:r>
              <a:rPr spc="-20" dirty="0"/>
              <a:t> </a:t>
            </a:r>
            <a:r>
              <a:rPr dirty="0"/>
              <a:t>is</a:t>
            </a:r>
            <a:r>
              <a:rPr spc="-25" dirty="0"/>
              <a:t> </a:t>
            </a:r>
            <a:r>
              <a:rPr dirty="0"/>
              <a:t>quite</a:t>
            </a:r>
            <a:r>
              <a:rPr spc="-20" dirty="0"/>
              <a:t> </a:t>
            </a:r>
            <a:r>
              <a:rPr dirty="0"/>
              <a:t>different from</a:t>
            </a:r>
            <a:r>
              <a:rPr spc="-20" dirty="0"/>
              <a:t> </a:t>
            </a:r>
            <a:r>
              <a:rPr spc="-25" dirty="0"/>
              <a:t>AVR </a:t>
            </a:r>
            <a:r>
              <a:rPr dirty="0"/>
              <a:t>assembly,</a:t>
            </a:r>
            <a:r>
              <a:rPr spc="-40" dirty="0"/>
              <a:t> </a:t>
            </a:r>
            <a:r>
              <a:rPr dirty="0"/>
              <a:t>by</a:t>
            </a:r>
            <a:r>
              <a:rPr spc="-20" dirty="0"/>
              <a:t> </a:t>
            </a:r>
            <a:r>
              <a:rPr dirty="0"/>
              <a:t>using</a:t>
            </a:r>
            <a:r>
              <a:rPr spc="-20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dirty="0"/>
              <a:t>predefined</a:t>
            </a:r>
            <a:r>
              <a:rPr spc="-10" dirty="0"/>
              <a:t> </a:t>
            </a:r>
            <a:r>
              <a:rPr spc="-20" dirty="0">
                <a:latin typeface="Courier New"/>
                <a:cs typeface="Courier New"/>
              </a:rPr>
              <a:t>#include</a:t>
            </a:r>
            <a:r>
              <a:rPr spc="-425" dirty="0">
                <a:latin typeface="Courier New"/>
                <a:cs typeface="Courier New"/>
              </a:rPr>
              <a:t> </a:t>
            </a:r>
            <a:r>
              <a:rPr dirty="0"/>
              <a:t>files</a:t>
            </a:r>
            <a:r>
              <a:rPr spc="-25" dirty="0"/>
              <a:t> </a:t>
            </a:r>
            <a:r>
              <a:rPr dirty="0"/>
              <a:t>in</a:t>
            </a:r>
            <a:r>
              <a:rPr spc="-20" dirty="0"/>
              <a:t> </a:t>
            </a:r>
            <a:r>
              <a:rPr dirty="0"/>
              <a:t>Atmel</a:t>
            </a:r>
            <a:r>
              <a:rPr spc="-20" dirty="0"/>
              <a:t> </a:t>
            </a:r>
            <a:r>
              <a:rPr dirty="0"/>
              <a:t>Studio</a:t>
            </a:r>
            <a:r>
              <a:rPr spc="-20" dirty="0"/>
              <a:t> </a:t>
            </a:r>
            <a:r>
              <a:rPr dirty="0"/>
              <a:t>you’ll</a:t>
            </a:r>
            <a:r>
              <a:rPr spc="-25" dirty="0"/>
              <a:t> </a:t>
            </a:r>
            <a:r>
              <a:rPr dirty="0"/>
              <a:t>be</a:t>
            </a:r>
            <a:r>
              <a:rPr spc="-20" dirty="0"/>
              <a:t> </a:t>
            </a:r>
            <a:r>
              <a:rPr dirty="0"/>
              <a:t>able</a:t>
            </a:r>
            <a:r>
              <a:rPr spc="-20" dirty="0"/>
              <a:t> </a:t>
            </a:r>
            <a:r>
              <a:rPr spc="-25" dirty="0"/>
              <a:t>to </a:t>
            </a:r>
            <a:r>
              <a:rPr dirty="0"/>
              <a:t>access</a:t>
            </a:r>
            <a:r>
              <a:rPr spc="-30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dirty="0"/>
              <a:t>internal</a:t>
            </a:r>
            <a:r>
              <a:rPr spc="-25" dirty="0"/>
              <a:t> </a:t>
            </a:r>
            <a:r>
              <a:rPr dirty="0"/>
              <a:t>hardware</a:t>
            </a:r>
            <a:r>
              <a:rPr spc="-25" dirty="0"/>
              <a:t> </a:t>
            </a:r>
            <a:r>
              <a:rPr dirty="0"/>
              <a:t>features</a:t>
            </a:r>
            <a:r>
              <a:rPr spc="-25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dirty="0"/>
              <a:t>the</a:t>
            </a:r>
            <a:r>
              <a:rPr spc="-40" dirty="0"/>
              <a:t> </a:t>
            </a:r>
            <a:r>
              <a:rPr dirty="0"/>
              <a:t>ATmega128A</a:t>
            </a:r>
            <a:r>
              <a:rPr spc="-20" dirty="0"/>
              <a:t> </a:t>
            </a:r>
            <a:r>
              <a:rPr dirty="0"/>
              <a:t>in</a:t>
            </a:r>
            <a:r>
              <a:rPr spc="-20" dirty="0"/>
              <a:t> </a:t>
            </a:r>
            <a:r>
              <a:rPr dirty="0"/>
              <a:t>a</a:t>
            </a:r>
            <a:r>
              <a:rPr spc="-25" dirty="0"/>
              <a:t> </a:t>
            </a:r>
            <a:r>
              <a:rPr dirty="0"/>
              <a:t>very</a:t>
            </a:r>
            <a:r>
              <a:rPr spc="-30" dirty="0"/>
              <a:t> </a:t>
            </a:r>
            <a:r>
              <a:rPr dirty="0"/>
              <a:t>intuitive</a:t>
            </a:r>
            <a:r>
              <a:rPr spc="-20" dirty="0"/>
              <a:t> </a:t>
            </a:r>
            <a:r>
              <a:rPr spc="-25" dirty="0"/>
              <a:t>and </a:t>
            </a:r>
            <a:r>
              <a:rPr dirty="0"/>
              <a:t>familiar</a:t>
            </a:r>
            <a:r>
              <a:rPr spc="-25" dirty="0"/>
              <a:t> </a:t>
            </a:r>
            <a:r>
              <a:rPr dirty="0"/>
              <a:t>way.</a:t>
            </a:r>
            <a:r>
              <a:rPr spc="-25" dirty="0"/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dirty="0"/>
              <a:t>goal</a:t>
            </a:r>
            <a:r>
              <a:rPr spc="-25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dirty="0"/>
              <a:t>this</a:t>
            </a:r>
            <a:r>
              <a:rPr spc="-30" dirty="0"/>
              <a:t> </a:t>
            </a:r>
            <a:r>
              <a:rPr dirty="0"/>
              <a:t>lab</a:t>
            </a:r>
            <a:r>
              <a:rPr spc="-35" dirty="0"/>
              <a:t> </a:t>
            </a:r>
            <a:r>
              <a:rPr dirty="0"/>
              <a:t>is</a:t>
            </a:r>
            <a:r>
              <a:rPr spc="-30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dirty="0"/>
              <a:t>create</a:t>
            </a:r>
            <a:r>
              <a:rPr spc="-25" dirty="0"/>
              <a:t> </a:t>
            </a:r>
            <a:r>
              <a:rPr dirty="0"/>
              <a:t>several</a:t>
            </a:r>
            <a:r>
              <a:rPr spc="-25" dirty="0"/>
              <a:t> </a:t>
            </a:r>
            <a:r>
              <a:rPr dirty="0"/>
              <a:t>"flashing</a:t>
            </a:r>
            <a:r>
              <a:rPr spc="-30" dirty="0"/>
              <a:t> </a:t>
            </a:r>
            <a:r>
              <a:rPr dirty="0"/>
              <a:t>patterns"</a:t>
            </a:r>
            <a:r>
              <a:rPr spc="-25" dirty="0"/>
              <a:t> </a:t>
            </a:r>
            <a:r>
              <a:rPr dirty="0"/>
              <a:t>using</a:t>
            </a:r>
            <a:r>
              <a:rPr spc="-25" dirty="0"/>
              <a:t> </a:t>
            </a:r>
            <a:r>
              <a:rPr spc="-10" dirty="0"/>
              <a:t>eight</a:t>
            </a:r>
            <a:r>
              <a:rPr spc="500" dirty="0"/>
              <a:t> </a:t>
            </a:r>
            <a:r>
              <a:rPr dirty="0"/>
              <a:t>LEDs</a:t>
            </a:r>
            <a:r>
              <a:rPr spc="-25" dirty="0"/>
              <a:t> </a:t>
            </a:r>
            <a:r>
              <a:rPr dirty="0"/>
              <a:t>attached</a:t>
            </a:r>
            <a:r>
              <a:rPr spc="-20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dirty="0"/>
              <a:t>ReadyAVR</a:t>
            </a:r>
            <a:r>
              <a:rPr spc="-20" dirty="0"/>
              <a:t> </a:t>
            </a:r>
            <a:r>
              <a:rPr dirty="0"/>
              <a:t>board,</a:t>
            </a:r>
            <a:r>
              <a:rPr spc="-1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dirty="0"/>
              <a:t>to</a:t>
            </a:r>
            <a:r>
              <a:rPr spc="-15" dirty="0"/>
              <a:t> </a:t>
            </a:r>
            <a:r>
              <a:rPr dirty="0"/>
              <a:t>then</a:t>
            </a:r>
            <a:r>
              <a:rPr spc="-20" dirty="0"/>
              <a:t> </a:t>
            </a:r>
            <a:r>
              <a:rPr dirty="0"/>
              <a:t>use</a:t>
            </a:r>
            <a:r>
              <a:rPr spc="-20" dirty="0"/>
              <a:t> </a:t>
            </a:r>
            <a:r>
              <a:rPr dirty="0"/>
              <a:t>the</a:t>
            </a:r>
            <a:r>
              <a:rPr spc="-15" dirty="0"/>
              <a:t> </a:t>
            </a:r>
            <a:r>
              <a:rPr spc="-10" dirty="0"/>
              <a:t>on-</a:t>
            </a:r>
            <a:r>
              <a:rPr dirty="0"/>
              <a:t>board</a:t>
            </a:r>
            <a:r>
              <a:rPr spc="-20" dirty="0"/>
              <a:t> </a:t>
            </a:r>
            <a:r>
              <a:rPr dirty="0"/>
              <a:t>joystick's</a:t>
            </a:r>
            <a:r>
              <a:rPr spc="-15" dirty="0"/>
              <a:t> </a:t>
            </a:r>
            <a:r>
              <a:rPr spc="-10" dirty="0"/>
              <a:t>center </a:t>
            </a:r>
            <a:r>
              <a:rPr dirty="0"/>
              <a:t>pushbutton</a:t>
            </a:r>
            <a:r>
              <a:rPr spc="-35" dirty="0"/>
              <a:t> </a:t>
            </a:r>
            <a:r>
              <a:rPr dirty="0"/>
              <a:t>to</a:t>
            </a:r>
            <a:r>
              <a:rPr spc="-30" dirty="0"/>
              <a:t> </a:t>
            </a:r>
            <a:r>
              <a:rPr dirty="0"/>
              <a:t>switch</a:t>
            </a:r>
            <a:r>
              <a:rPr spc="-30" dirty="0"/>
              <a:t> </a:t>
            </a:r>
            <a:r>
              <a:rPr dirty="0"/>
              <a:t>between</a:t>
            </a:r>
            <a:r>
              <a:rPr spc="-30" dirty="0"/>
              <a:t> </a:t>
            </a:r>
            <a:r>
              <a:rPr dirty="0"/>
              <a:t>those</a:t>
            </a:r>
            <a:r>
              <a:rPr spc="-30" dirty="0"/>
              <a:t> </a:t>
            </a:r>
            <a:r>
              <a:rPr spc="-10" dirty="0"/>
              <a:t>patterns.</a:t>
            </a:r>
          </a:p>
          <a:p>
            <a:pPr marL="12700">
              <a:lnSpc>
                <a:spcPct val="100000"/>
              </a:lnSpc>
              <a:spcBef>
                <a:spcPts val="1535"/>
              </a:spcBef>
            </a:pPr>
            <a:r>
              <a:rPr sz="1600" b="1" spc="-10" dirty="0">
                <a:solidFill>
                  <a:srgbClr val="006FC0"/>
                </a:solidFill>
                <a:latin typeface="Palatino Linotype"/>
                <a:cs typeface="Palatino Linotype"/>
              </a:rPr>
              <a:t>Preliminary</a:t>
            </a:r>
            <a:r>
              <a:rPr sz="1600" b="1" spc="-35" dirty="0">
                <a:solidFill>
                  <a:srgbClr val="006FC0"/>
                </a:solidFill>
                <a:latin typeface="Palatino Linotype"/>
                <a:cs typeface="Palatino Linotype"/>
              </a:rPr>
              <a:t> </a:t>
            </a:r>
            <a:r>
              <a:rPr sz="1600" b="1" dirty="0">
                <a:solidFill>
                  <a:srgbClr val="006FC0"/>
                </a:solidFill>
                <a:latin typeface="Palatino Linotype"/>
                <a:cs typeface="Palatino Linotype"/>
              </a:rPr>
              <a:t>Hardware</a:t>
            </a:r>
            <a:r>
              <a:rPr sz="1600" b="1" spc="-20" dirty="0">
                <a:solidFill>
                  <a:srgbClr val="006FC0"/>
                </a:solidFill>
                <a:latin typeface="Palatino Linotype"/>
                <a:cs typeface="Palatino Linotype"/>
              </a:rPr>
              <a:t> </a:t>
            </a:r>
            <a:r>
              <a:rPr sz="1600" b="1" spc="-10" dirty="0">
                <a:solidFill>
                  <a:srgbClr val="006FC0"/>
                </a:solidFill>
                <a:latin typeface="Palatino Linotype"/>
                <a:cs typeface="Palatino Linotype"/>
              </a:rPr>
              <a:t>Setup</a:t>
            </a:r>
            <a:endParaRPr sz="1600">
              <a:latin typeface="Palatino Linotype"/>
              <a:cs typeface="Palatino Linotype"/>
            </a:endParaRPr>
          </a:p>
          <a:p>
            <a:pPr marL="12700" marR="80010">
              <a:lnSpc>
                <a:spcPct val="121300"/>
              </a:lnSpc>
              <a:spcBef>
                <a:spcPts val="680"/>
              </a:spcBef>
            </a:pPr>
            <a:r>
              <a:rPr dirty="0"/>
              <a:t>Your</a:t>
            </a:r>
            <a:r>
              <a:rPr spc="-25" dirty="0"/>
              <a:t> </a:t>
            </a:r>
            <a:r>
              <a:rPr dirty="0"/>
              <a:t>ReadyAVR</a:t>
            </a:r>
            <a:r>
              <a:rPr spc="-15" dirty="0"/>
              <a:t> </a:t>
            </a:r>
            <a:r>
              <a:rPr dirty="0"/>
              <a:t>should</a:t>
            </a:r>
            <a:r>
              <a:rPr spc="-30" dirty="0"/>
              <a:t> </a:t>
            </a:r>
            <a:r>
              <a:rPr dirty="0"/>
              <a:t>already</a:t>
            </a:r>
            <a:r>
              <a:rPr spc="-20" dirty="0"/>
              <a:t> </a:t>
            </a:r>
            <a:r>
              <a:rPr dirty="0"/>
              <a:t>have</a:t>
            </a:r>
            <a:r>
              <a:rPr spc="-20" dirty="0"/>
              <a:t> </a:t>
            </a:r>
            <a:r>
              <a:rPr dirty="0"/>
              <a:t>eight</a:t>
            </a:r>
            <a:r>
              <a:rPr spc="-20" dirty="0"/>
              <a:t> </a:t>
            </a:r>
            <a:r>
              <a:rPr dirty="0"/>
              <a:t>LEDs</a:t>
            </a:r>
            <a:r>
              <a:rPr spc="-25" dirty="0"/>
              <a:t> </a:t>
            </a:r>
            <a:r>
              <a:rPr dirty="0"/>
              <a:t>with</a:t>
            </a:r>
            <a:r>
              <a:rPr spc="-25" dirty="0"/>
              <a:t> </a:t>
            </a:r>
            <a:r>
              <a:rPr spc="-10" dirty="0"/>
              <a:t>pull-</a:t>
            </a:r>
            <a:r>
              <a:rPr dirty="0"/>
              <a:t>up</a:t>
            </a:r>
            <a:r>
              <a:rPr spc="-25" dirty="0"/>
              <a:t> </a:t>
            </a:r>
            <a:r>
              <a:rPr dirty="0"/>
              <a:t>resistors</a:t>
            </a:r>
            <a:r>
              <a:rPr spc="-25" dirty="0"/>
              <a:t> </a:t>
            </a:r>
            <a:r>
              <a:rPr dirty="0"/>
              <a:t>and</a:t>
            </a:r>
            <a:r>
              <a:rPr spc="-25" dirty="0"/>
              <a:t> </a:t>
            </a:r>
            <a:r>
              <a:rPr spc="-10" dirty="0"/>
              <a:t>connector </a:t>
            </a:r>
            <a:r>
              <a:rPr dirty="0"/>
              <a:t>pins</a:t>
            </a:r>
            <a:r>
              <a:rPr spc="-25" dirty="0"/>
              <a:t> </a:t>
            </a:r>
            <a:r>
              <a:rPr dirty="0"/>
              <a:t>soldered</a:t>
            </a:r>
            <a:r>
              <a:rPr spc="-20" dirty="0"/>
              <a:t> </a:t>
            </a:r>
            <a:r>
              <a:rPr dirty="0"/>
              <a:t>onto</a:t>
            </a:r>
            <a:r>
              <a:rPr spc="-15" dirty="0"/>
              <a:t> </a:t>
            </a:r>
            <a:r>
              <a:rPr dirty="0"/>
              <a:t>the</a:t>
            </a:r>
            <a:r>
              <a:rPr spc="-30" dirty="0"/>
              <a:t> </a:t>
            </a:r>
            <a:r>
              <a:rPr dirty="0"/>
              <a:t>board’s</a:t>
            </a:r>
            <a:r>
              <a:rPr spc="-25" dirty="0"/>
              <a:t> </a:t>
            </a:r>
            <a:r>
              <a:rPr dirty="0"/>
              <a:t>prototyping</a:t>
            </a:r>
            <a:r>
              <a:rPr spc="-20" dirty="0"/>
              <a:t> </a:t>
            </a:r>
            <a:r>
              <a:rPr dirty="0"/>
              <a:t>area</a:t>
            </a:r>
            <a:r>
              <a:rPr spc="-5" dirty="0"/>
              <a:t> </a:t>
            </a:r>
            <a:r>
              <a:rPr dirty="0"/>
              <a:t>(see</a:t>
            </a:r>
            <a:r>
              <a:rPr spc="-15" dirty="0"/>
              <a:t> </a:t>
            </a:r>
            <a:r>
              <a:rPr dirty="0"/>
              <a:t>Fig.</a:t>
            </a:r>
            <a:r>
              <a:rPr spc="-20" dirty="0"/>
              <a:t> </a:t>
            </a:r>
            <a:r>
              <a:rPr dirty="0"/>
              <a:t>1</a:t>
            </a:r>
            <a:r>
              <a:rPr spc="-20" dirty="0"/>
              <a:t> </a:t>
            </a:r>
            <a:r>
              <a:rPr dirty="0"/>
              <a:t>below).</a:t>
            </a:r>
            <a:r>
              <a:rPr spc="-20" dirty="0"/>
              <a:t> </a:t>
            </a:r>
            <a:r>
              <a:rPr dirty="0"/>
              <a:t>If</a:t>
            </a:r>
            <a:r>
              <a:rPr spc="-20" dirty="0"/>
              <a:t> </a:t>
            </a:r>
            <a:r>
              <a:rPr dirty="0"/>
              <a:t>not,</a:t>
            </a:r>
            <a:r>
              <a:rPr spc="-15" dirty="0"/>
              <a:t> </a:t>
            </a:r>
            <a:r>
              <a:rPr dirty="0"/>
              <a:t>use</a:t>
            </a:r>
            <a:r>
              <a:rPr spc="-20" dirty="0"/>
              <a:t> this </a:t>
            </a:r>
            <a:r>
              <a:rPr dirty="0"/>
              <a:t>section</a:t>
            </a:r>
            <a:r>
              <a:rPr spc="-25" dirty="0"/>
              <a:t> </a:t>
            </a:r>
            <a:r>
              <a:rPr dirty="0"/>
              <a:t>to</a:t>
            </a:r>
            <a:r>
              <a:rPr spc="-20" dirty="0"/>
              <a:t> </a:t>
            </a:r>
            <a:r>
              <a:rPr dirty="0"/>
              <a:t>prepare</a:t>
            </a:r>
            <a:r>
              <a:rPr spc="-20" dirty="0"/>
              <a:t> </a:t>
            </a:r>
            <a:r>
              <a:rPr dirty="0"/>
              <a:t>the</a:t>
            </a:r>
            <a:r>
              <a:rPr spc="-30" dirty="0"/>
              <a:t> </a:t>
            </a:r>
            <a:r>
              <a:rPr spc="-10" dirty="0"/>
              <a:t>board.</a:t>
            </a:r>
          </a:p>
          <a:p>
            <a:pPr marL="12700" marR="196850">
              <a:lnSpc>
                <a:spcPct val="120800"/>
              </a:lnSpc>
              <a:spcBef>
                <a:spcPts val="615"/>
              </a:spcBef>
            </a:pPr>
            <a:r>
              <a:rPr dirty="0"/>
              <a:t>If</a:t>
            </a:r>
            <a:r>
              <a:rPr spc="-15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dirty="0"/>
              <a:t>LEDs</a:t>
            </a:r>
            <a:r>
              <a:rPr spc="-15" dirty="0"/>
              <a:t> </a:t>
            </a:r>
            <a:r>
              <a:rPr dirty="0"/>
              <a:t>are</a:t>
            </a:r>
            <a:r>
              <a:rPr spc="-15" dirty="0"/>
              <a:t> </a:t>
            </a:r>
            <a:r>
              <a:rPr dirty="0"/>
              <a:t>already</a:t>
            </a:r>
            <a:r>
              <a:rPr spc="-15" dirty="0"/>
              <a:t> </a:t>
            </a:r>
            <a:r>
              <a:rPr dirty="0"/>
              <a:t>installed,</a:t>
            </a:r>
            <a:r>
              <a:rPr spc="-15" dirty="0"/>
              <a:t> </a:t>
            </a:r>
            <a:r>
              <a:rPr dirty="0"/>
              <a:t>you</a:t>
            </a:r>
            <a:r>
              <a:rPr spc="-15" dirty="0"/>
              <a:t> </a:t>
            </a:r>
            <a:r>
              <a:rPr dirty="0"/>
              <a:t>will</a:t>
            </a:r>
            <a:r>
              <a:rPr spc="-15" dirty="0"/>
              <a:t> </a:t>
            </a:r>
            <a:r>
              <a:rPr dirty="0"/>
              <a:t>move</a:t>
            </a:r>
            <a:r>
              <a:rPr spc="-15" dirty="0"/>
              <a:t> </a:t>
            </a:r>
            <a:r>
              <a:rPr dirty="0"/>
              <a:t>to</a:t>
            </a:r>
            <a:r>
              <a:rPr spc="-20" dirty="0"/>
              <a:t> </a:t>
            </a:r>
            <a:r>
              <a:rPr dirty="0"/>
              <a:t>the</a:t>
            </a:r>
            <a:r>
              <a:rPr spc="-15" dirty="0"/>
              <a:t> </a:t>
            </a:r>
            <a:r>
              <a:rPr dirty="0"/>
              <a:t>Software</a:t>
            </a:r>
            <a:r>
              <a:rPr spc="-15" dirty="0"/>
              <a:t> </a:t>
            </a:r>
            <a:r>
              <a:rPr spc="-10" dirty="0"/>
              <a:t>Architecture section, </a:t>
            </a:r>
            <a:r>
              <a:rPr dirty="0"/>
              <a:t>but</a:t>
            </a:r>
            <a:r>
              <a:rPr spc="-25" dirty="0"/>
              <a:t> </a:t>
            </a:r>
            <a:r>
              <a:rPr dirty="0"/>
              <a:t>you</a:t>
            </a:r>
            <a:r>
              <a:rPr spc="-25" dirty="0"/>
              <a:t> </a:t>
            </a:r>
            <a:r>
              <a:rPr b="1" dirty="0">
                <a:latin typeface="Palatino Linotype"/>
                <a:cs typeface="Palatino Linotype"/>
              </a:rPr>
              <a:t>MUST</a:t>
            </a:r>
            <a:r>
              <a:rPr b="1" spc="-20" dirty="0">
                <a:latin typeface="Palatino Linotype"/>
                <a:cs typeface="Palatino Linotype"/>
              </a:rPr>
              <a:t> </a:t>
            </a:r>
            <a:r>
              <a:rPr b="1" dirty="0">
                <a:latin typeface="Palatino Linotype"/>
                <a:cs typeface="Palatino Linotype"/>
              </a:rPr>
              <a:t>answer</a:t>
            </a:r>
            <a:r>
              <a:rPr b="1" spc="-20" dirty="0">
                <a:latin typeface="Palatino Linotype"/>
                <a:cs typeface="Palatino Linotype"/>
              </a:rPr>
              <a:t> </a:t>
            </a:r>
            <a:r>
              <a:rPr dirty="0"/>
              <a:t>all</a:t>
            </a:r>
            <a:r>
              <a:rPr spc="-25" dirty="0"/>
              <a:t> </a:t>
            </a:r>
            <a:r>
              <a:rPr dirty="0"/>
              <a:t>questions</a:t>
            </a:r>
            <a:r>
              <a:rPr spc="-30" dirty="0"/>
              <a:t> </a:t>
            </a:r>
            <a:r>
              <a:rPr dirty="0"/>
              <a:t>from</a:t>
            </a:r>
            <a:r>
              <a:rPr spc="-30" dirty="0"/>
              <a:t> </a:t>
            </a:r>
            <a:r>
              <a:rPr dirty="0"/>
              <a:t>this</a:t>
            </a:r>
            <a:r>
              <a:rPr spc="-25" dirty="0"/>
              <a:t> </a:t>
            </a:r>
            <a:r>
              <a:rPr dirty="0"/>
              <a:t>section</a:t>
            </a:r>
            <a:r>
              <a:rPr spc="-20" dirty="0"/>
              <a:t> </a:t>
            </a:r>
            <a:r>
              <a:rPr dirty="0"/>
              <a:t>in</a:t>
            </a:r>
            <a:r>
              <a:rPr spc="-20" dirty="0"/>
              <a:t> </a:t>
            </a:r>
            <a:r>
              <a:rPr dirty="0"/>
              <a:t>your</a:t>
            </a:r>
            <a:r>
              <a:rPr spc="-25" dirty="0"/>
              <a:t> </a:t>
            </a:r>
            <a:r>
              <a:rPr dirty="0"/>
              <a:t>final</a:t>
            </a:r>
            <a:r>
              <a:rPr spc="-20" dirty="0"/>
              <a:t> </a:t>
            </a:r>
            <a:r>
              <a:rPr spc="-10" dirty="0"/>
              <a:t>report.</a:t>
            </a:r>
          </a:p>
          <a:p>
            <a:pPr>
              <a:lnSpc>
                <a:spcPct val="100000"/>
              </a:lnSpc>
              <a:spcBef>
                <a:spcPts val="755"/>
              </a:spcBef>
            </a:pPr>
            <a:endParaRPr spc="-10" dirty="0"/>
          </a:p>
          <a:p>
            <a:pPr marL="4647565" marR="168275" indent="-643255">
              <a:lnSpc>
                <a:spcPct val="121100"/>
              </a:lnSpc>
            </a:pPr>
            <a:r>
              <a:rPr sz="900" b="1" dirty="0">
                <a:latin typeface="Palatino Linotype"/>
                <a:cs typeface="Palatino Linotype"/>
              </a:rPr>
              <a:t>Connector</a:t>
            </a:r>
            <a:r>
              <a:rPr sz="900" b="1" spc="-30" dirty="0">
                <a:latin typeface="Palatino Linotype"/>
                <a:cs typeface="Palatino Linotype"/>
              </a:rPr>
              <a:t> </a:t>
            </a:r>
            <a:r>
              <a:rPr sz="900" b="1" dirty="0">
                <a:latin typeface="Palatino Linotype"/>
                <a:cs typeface="Palatino Linotype"/>
              </a:rPr>
              <a:t>pins</a:t>
            </a:r>
            <a:r>
              <a:rPr sz="900" b="1" spc="-20" dirty="0">
                <a:latin typeface="Palatino Linotype"/>
                <a:cs typeface="Palatino Linotype"/>
              </a:rPr>
              <a:t> </a:t>
            </a:r>
            <a:r>
              <a:rPr sz="900" b="1" dirty="0">
                <a:latin typeface="Palatino Linotype"/>
                <a:cs typeface="Palatino Linotype"/>
              </a:rPr>
              <a:t>connected</a:t>
            </a:r>
            <a:r>
              <a:rPr sz="900" b="1" spc="-25" dirty="0">
                <a:latin typeface="Palatino Linotype"/>
                <a:cs typeface="Palatino Linotype"/>
              </a:rPr>
              <a:t> </a:t>
            </a:r>
            <a:r>
              <a:rPr sz="900" b="1" dirty="0">
                <a:latin typeface="Palatino Linotype"/>
                <a:cs typeface="Palatino Linotype"/>
              </a:rPr>
              <a:t>to</a:t>
            </a:r>
            <a:r>
              <a:rPr sz="900" b="1" spc="-30" dirty="0">
                <a:latin typeface="Palatino Linotype"/>
                <a:cs typeface="Palatino Linotype"/>
              </a:rPr>
              <a:t> </a:t>
            </a:r>
            <a:r>
              <a:rPr sz="900" b="1" spc="-25" dirty="0">
                <a:latin typeface="Palatino Linotype"/>
                <a:cs typeface="Palatino Linotype"/>
              </a:rPr>
              <a:t>LED</a:t>
            </a:r>
            <a:r>
              <a:rPr sz="900" b="1" spc="-10" dirty="0">
                <a:latin typeface="Palatino Linotype"/>
                <a:cs typeface="Palatino Linotype"/>
              </a:rPr>
              <a:t> cathodes</a:t>
            </a:r>
            <a:endParaRPr sz="900">
              <a:latin typeface="Palatino Linotype"/>
              <a:cs typeface="Palatino Linotype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20775" y="6153403"/>
            <a:ext cx="2632075" cy="2170430"/>
          </a:xfrm>
          <a:prstGeom prst="rect">
            <a:avLst/>
          </a:prstGeom>
          <a:ln w="635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4"/>
              </a:spcBef>
            </a:pPr>
            <a:endParaRPr sz="900">
              <a:latin typeface="Times New Roman"/>
              <a:cs typeface="Times New Roman"/>
            </a:endParaRPr>
          </a:p>
          <a:p>
            <a:pPr marR="1794510" algn="ctr">
              <a:lnSpc>
                <a:spcPct val="100000"/>
              </a:lnSpc>
            </a:pPr>
            <a:r>
              <a:rPr sz="900" b="1" spc="-20" dirty="0">
                <a:latin typeface="Palatino Linotype"/>
                <a:cs typeface="Palatino Linotype"/>
              </a:rPr>
              <a:t>LED7</a:t>
            </a:r>
            <a:endParaRPr sz="900">
              <a:latin typeface="Palatino Linotype"/>
              <a:cs typeface="Palatino Linotype"/>
            </a:endParaRPr>
          </a:p>
          <a:p>
            <a:pPr marR="1791335" algn="ctr">
              <a:lnSpc>
                <a:spcPct val="100000"/>
              </a:lnSpc>
              <a:spcBef>
                <a:spcPts val="229"/>
              </a:spcBef>
            </a:pPr>
            <a:r>
              <a:rPr sz="900" b="1" spc="-10" dirty="0">
                <a:latin typeface="Palatino Linotype"/>
                <a:cs typeface="Palatino Linotype"/>
              </a:rPr>
              <a:t>(PortA.7)</a:t>
            </a:r>
            <a:endParaRPr sz="900">
              <a:latin typeface="Palatino Linotype"/>
              <a:cs typeface="Palatino Linotype"/>
            </a:endParaRPr>
          </a:p>
          <a:p>
            <a:pPr>
              <a:lnSpc>
                <a:spcPct val="100000"/>
              </a:lnSpc>
            </a:pPr>
            <a:endParaRPr sz="900">
              <a:latin typeface="Palatino Linotype"/>
              <a:cs typeface="Palatino Linotype"/>
            </a:endParaRPr>
          </a:p>
          <a:p>
            <a:pPr>
              <a:lnSpc>
                <a:spcPct val="100000"/>
              </a:lnSpc>
            </a:pPr>
            <a:endParaRPr sz="900">
              <a:latin typeface="Palatino Linotype"/>
              <a:cs typeface="Palatino Linotype"/>
            </a:endParaRPr>
          </a:p>
          <a:p>
            <a:pPr>
              <a:lnSpc>
                <a:spcPct val="100000"/>
              </a:lnSpc>
            </a:pPr>
            <a:endParaRPr sz="900">
              <a:latin typeface="Palatino Linotype"/>
              <a:cs typeface="Palatino Linotype"/>
            </a:endParaRPr>
          </a:p>
          <a:p>
            <a:pPr>
              <a:lnSpc>
                <a:spcPct val="100000"/>
              </a:lnSpc>
            </a:pPr>
            <a:endParaRPr sz="900">
              <a:latin typeface="Palatino Linotype"/>
              <a:cs typeface="Palatino Linotype"/>
            </a:endParaRPr>
          </a:p>
          <a:p>
            <a:pPr>
              <a:lnSpc>
                <a:spcPct val="100000"/>
              </a:lnSpc>
            </a:pPr>
            <a:endParaRPr sz="900">
              <a:latin typeface="Palatino Linotype"/>
              <a:cs typeface="Palatino Linotype"/>
            </a:endParaRPr>
          </a:p>
          <a:p>
            <a:pPr>
              <a:lnSpc>
                <a:spcPct val="100000"/>
              </a:lnSpc>
              <a:spcBef>
                <a:spcPts val="165"/>
              </a:spcBef>
            </a:pPr>
            <a:endParaRPr sz="900">
              <a:latin typeface="Palatino Linotype"/>
              <a:cs typeface="Palatino Linotype"/>
            </a:endParaRPr>
          </a:p>
          <a:p>
            <a:pPr marR="226060" algn="r">
              <a:lnSpc>
                <a:spcPct val="100000"/>
              </a:lnSpc>
              <a:spcBef>
                <a:spcPts val="5"/>
              </a:spcBef>
            </a:pPr>
            <a:r>
              <a:rPr sz="900" b="1" spc="-20" dirty="0">
                <a:latin typeface="Palatino Linotype"/>
                <a:cs typeface="Palatino Linotype"/>
              </a:rPr>
              <a:t>LED0</a:t>
            </a:r>
            <a:endParaRPr sz="900">
              <a:latin typeface="Palatino Linotype"/>
              <a:cs typeface="Palatino Linotype"/>
            </a:endParaRPr>
          </a:p>
          <a:p>
            <a:pPr marL="2020570">
              <a:lnSpc>
                <a:spcPts val="950"/>
              </a:lnSpc>
              <a:spcBef>
                <a:spcPts val="225"/>
              </a:spcBef>
            </a:pPr>
            <a:r>
              <a:rPr sz="900" b="1" spc="-10" dirty="0">
                <a:latin typeface="Palatino Linotype"/>
                <a:cs typeface="Palatino Linotype"/>
              </a:rPr>
              <a:t>(PortA.0)</a:t>
            </a:r>
            <a:endParaRPr sz="900">
              <a:latin typeface="Palatino Linotype"/>
              <a:cs typeface="Palatino Linotype"/>
            </a:endParaRPr>
          </a:p>
          <a:p>
            <a:pPr marL="90805">
              <a:lnSpc>
                <a:spcPts val="950"/>
              </a:lnSpc>
            </a:pPr>
            <a:r>
              <a:rPr sz="900" b="1" dirty="0">
                <a:latin typeface="Palatino Linotype"/>
                <a:cs typeface="Palatino Linotype"/>
              </a:rPr>
              <a:t>Eight</a:t>
            </a:r>
            <a:r>
              <a:rPr sz="900" b="1" spc="-40" dirty="0">
                <a:latin typeface="Palatino Linotype"/>
                <a:cs typeface="Palatino Linotype"/>
              </a:rPr>
              <a:t> </a:t>
            </a:r>
            <a:r>
              <a:rPr sz="900" b="1" dirty="0">
                <a:latin typeface="Palatino Linotype"/>
                <a:cs typeface="Palatino Linotype"/>
              </a:rPr>
              <a:t>LEDs</a:t>
            </a:r>
            <a:r>
              <a:rPr sz="900" b="1" spc="-40" dirty="0">
                <a:latin typeface="Palatino Linotype"/>
                <a:cs typeface="Palatino Linotype"/>
              </a:rPr>
              <a:t> </a:t>
            </a:r>
            <a:r>
              <a:rPr sz="900" b="1" spc="-20" dirty="0">
                <a:latin typeface="Palatino Linotype"/>
                <a:cs typeface="Palatino Linotype"/>
              </a:rPr>
              <a:t>with</a:t>
            </a:r>
            <a:endParaRPr sz="900">
              <a:latin typeface="Palatino Linotype"/>
              <a:cs typeface="Palatino Linotype"/>
            </a:endParaRPr>
          </a:p>
          <a:p>
            <a:pPr marL="90805">
              <a:lnSpc>
                <a:spcPct val="100000"/>
              </a:lnSpc>
              <a:spcBef>
                <a:spcPts val="229"/>
              </a:spcBef>
            </a:pPr>
            <a:r>
              <a:rPr sz="900" b="1" spc="-10" dirty="0">
                <a:latin typeface="Palatino Linotype"/>
                <a:cs typeface="Palatino Linotype"/>
              </a:rPr>
              <a:t>current-</a:t>
            </a:r>
            <a:r>
              <a:rPr sz="900" b="1" dirty="0">
                <a:latin typeface="Palatino Linotype"/>
                <a:cs typeface="Palatino Linotype"/>
              </a:rPr>
              <a:t>limiting</a:t>
            </a:r>
            <a:r>
              <a:rPr sz="900" b="1" spc="20" dirty="0">
                <a:latin typeface="Palatino Linotype"/>
                <a:cs typeface="Palatino Linotype"/>
              </a:rPr>
              <a:t> </a:t>
            </a:r>
            <a:r>
              <a:rPr sz="900" b="1" spc="-10" dirty="0">
                <a:latin typeface="Palatino Linotype"/>
                <a:cs typeface="Palatino Linotype"/>
              </a:rPr>
              <a:t>resistors</a:t>
            </a:r>
            <a:endParaRPr sz="900">
              <a:latin typeface="Palatino Linotype"/>
              <a:cs typeface="Palatino Linotype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419600" y="5913120"/>
            <a:ext cx="1478280" cy="2500630"/>
          </a:xfrm>
          <a:custGeom>
            <a:avLst/>
            <a:gdLst/>
            <a:ahLst/>
            <a:cxnLst/>
            <a:rect l="l" t="t" r="r" b="b"/>
            <a:pathLst>
              <a:path w="1478279" h="2500629">
                <a:moveTo>
                  <a:pt x="960120" y="533400"/>
                </a:moveTo>
                <a:lnTo>
                  <a:pt x="906779" y="0"/>
                </a:lnTo>
              </a:path>
              <a:path w="1478279" h="2500629">
                <a:moveTo>
                  <a:pt x="1478279" y="944879"/>
                </a:moveTo>
                <a:lnTo>
                  <a:pt x="967739" y="0"/>
                </a:lnTo>
              </a:path>
              <a:path w="1478279" h="2500629">
                <a:moveTo>
                  <a:pt x="0" y="2500248"/>
                </a:moveTo>
                <a:lnTo>
                  <a:pt x="53339" y="2004948"/>
                </a:lnTo>
              </a:path>
              <a:path w="1478279" h="2500629">
                <a:moveTo>
                  <a:pt x="99060" y="2500248"/>
                </a:moveTo>
                <a:lnTo>
                  <a:pt x="510539" y="2332609"/>
                </a:lnTo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816354" y="8376666"/>
            <a:ext cx="5191125" cy="490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85595">
              <a:lnSpc>
                <a:spcPct val="100000"/>
              </a:lnSpc>
              <a:spcBef>
                <a:spcPts val="100"/>
              </a:spcBef>
              <a:tabLst>
                <a:tab pos="3356610" algn="l"/>
              </a:tabLst>
            </a:pPr>
            <a:r>
              <a:rPr sz="900" b="1" dirty="0">
                <a:latin typeface="Palatino Linotype"/>
                <a:cs typeface="Palatino Linotype"/>
              </a:rPr>
              <a:t>Resistor</a:t>
            </a:r>
            <a:r>
              <a:rPr sz="900" b="1" spc="-30" dirty="0">
                <a:latin typeface="Palatino Linotype"/>
                <a:cs typeface="Palatino Linotype"/>
              </a:rPr>
              <a:t> </a:t>
            </a:r>
            <a:r>
              <a:rPr sz="900" b="1" dirty="0">
                <a:latin typeface="Palatino Linotype"/>
                <a:cs typeface="Palatino Linotype"/>
              </a:rPr>
              <a:t>connected</a:t>
            </a:r>
            <a:r>
              <a:rPr sz="900" b="1" spc="-20" dirty="0">
                <a:latin typeface="Palatino Linotype"/>
                <a:cs typeface="Palatino Linotype"/>
              </a:rPr>
              <a:t> </a:t>
            </a:r>
            <a:r>
              <a:rPr sz="900" b="1" dirty="0">
                <a:latin typeface="Palatino Linotype"/>
                <a:cs typeface="Palatino Linotype"/>
              </a:rPr>
              <a:t>to</a:t>
            </a:r>
            <a:r>
              <a:rPr sz="900" b="1" spc="-25" dirty="0">
                <a:latin typeface="Palatino Linotype"/>
                <a:cs typeface="Palatino Linotype"/>
              </a:rPr>
              <a:t> 5V</a:t>
            </a:r>
            <a:r>
              <a:rPr sz="900" b="1" dirty="0">
                <a:latin typeface="Palatino Linotype"/>
                <a:cs typeface="Palatino Linotype"/>
              </a:rPr>
              <a:t>	Resistors</a:t>
            </a:r>
            <a:r>
              <a:rPr sz="900" b="1" spc="-35" dirty="0">
                <a:latin typeface="Palatino Linotype"/>
                <a:cs typeface="Palatino Linotype"/>
              </a:rPr>
              <a:t> </a:t>
            </a:r>
            <a:r>
              <a:rPr sz="900" b="1" dirty="0">
                <a:latin typeface="Palatino Linotype"/>
                <a:cs typeface="Palatino Linotype"/>
              </a:rPr>
              <a:t>connected</a:t>
            </a:r>
            <a:r>
              <a:rPr sz="900" b="1" spc="-25" dirty="0">
                <a:latin typeface="Palatino Linotype"/>
                <a:cs typeface="Palatino Linotype"/>
              </a:rPr>
              <a:t> </a:t>
            </a:r>
            <a:r>
              <a:rPr sz="900" b="1" dirty="0">
                <a:latin typeface="Palatino Linotype"/>
                <a:cs typeface="Palatino Linotype"/>
              </a:rPr>
              <a:t>to</a:t>
            </a:r>
            <a:r>
              <a:rPr sz="900" b="1" spc="-35" dirty="0">
                <a:latin typeface="Palatino Linotype"/>
                <a:cs typeface="Palatino Linotype"/>
              </a:rPr>
              <a:t> </a:t>
            </a:r>
            <a:r>
              <a:rPr sz="900" b="1" dirty="0">
                <a:latin typeface="Palatino Linotype"/>
                <a:cs typeface="Palatino Linotype"/>
              </a:rPr>
              <a:t>LED</a:t>
            </a:r>
            <a:r>
              <a:rPr sz="900" b="1" spc="-30" dirty="0">
                <a:latin typeface="Palatino Linotype"/>
                <a:cs typeface="Palatino Linotype"/>
              </a:rPr>
              <a:t> </a:t>
            </a:r>
            <a:r>
              <a:rPr sz="900" b="1" spc="-10" dirty="0">
                <a:latin typeface="Palatino Linotype"/>
                <a:cs typeface="Palatino Linotype"/>
              </a:rPr>
              <a:t>anodes</a:t>
            </a:r>
            <a:endParaRPr sz="90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1140"/>
              </a:spcBef>
            </a:pPr>
            <a:r>
              <a:rPr sz="1200" dirty="0">
                <a:latin typeface="Palatino Linotype"/>
                <a:cs typeface="Palatino Linotype"/>
              </a:rPr>
              <a:t>ReadyAVR</a:t>
            </a:r>
            <a:r>
              <a:rPr sz="1200" spc="-1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with</a:t>
            </a:r>
            <a:r>
              <a:rPr sz="1200" spc="-10" dirty="0">
                <a:latin typeface="Palatino Linotype"/>
                <a:cs typeface="Palatino Linotype"/>
              </a:rPr>
              <a:t> active-</a:t>
            </a:r>
            <a:r>
              <a:rPr sz="1200" dirty="0">
                <a:latin typeface="Palatino Linotype"/>
                <a:cs typeface="Palatino Linotype"/>
              </a:rPr>
              <a:t>low</a:t>
            </a:r>
            <a:r>
              <a:rPr sz="1200" spc="-1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LEDs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and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220Ω</a:t>
            </a:r>
            <a:r>
              <a:rPr sz="1200" spc="-10" dirty="0">
                <a:latin typeface="Palatino Linotype"/>
                <a:cs typeface="Palatino Linotype"/>
              </a:rPr>
              <a:t> current-</a:t>
            </a:r>
            <a:r>
              <a:rPr sz="1200" dirty="0">
                <a:latin typeface="Palatino Linotype"/>
                <a:cs typeface="Palatino Linotype"/>
              </a:rPr>
              <a:t>limiting</a:t>
            </a:r>
            <a:r>
              <a:rPr sz="1200" spc="-5" dirty="0">
                <a:latin typeface="Palatino Linotype"/>
                <a:cs typeface="Palatino Linotype"/>
              </a:rPr>
              <a:t> </a:t>
            </a:r>
            <a:r>
              <a:rPr sz="1200" spc="-10" dirty="0">
                <a:latin typeface="Palatino Linotype"/>
                <a:cs typeface="Palatino Linotype"/>
              </a:rPr>
              <a:t>resistors.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846320" y="7559929"/>
            <a:ext cx="594360" cy="861060"/>
          </a:xfrm>
          <a:custGeom>
            <a:avLst/>
            <a:gdLst/>
            <a:ahLst/>
            <a:cxnLst/>
            <a:rect l="l" t="t" r="r" b="b"/>
            <a:pathLst>
              <a:path w="594360" h="861059">
                <a:moveTo>
                  <a:pt x="556259" y="861060"/>
                </a:moveTo>
                <a:lnTo>
                  <a:pt x="0" y="0"/>
                </a:lnTo>
              </a:path>
              <a:path w="594360" h="861059">
                <a:moveTo>
                  <a:pt x="594359" y="845820"/>
                </a:moveTo>
                <a:lnTo>
                  <a:pt x="479425" y="396240"/>
                </a:lnTo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577339" y="6795389"/>
            <a:ext cx="112395" cy="160020"/>
          </a:xfrm>
          <a:custGeom>
            <a:avLst/>
            <a:gdLst/>
            <a:ahLst/>
            <a:cxnLst/>
            <a:rect l="l" t="t" r="r" b="b"/>
            <a:pathLst>
              <a:path w="112394" h="160020">
                <a:moveTo>
                  <a:pt x="112395" y="160020"/>
                </a:moveTo>
                <a:lnTo>
                  <a:pt x="0" y="0"/>
                </a:lnTo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20"/>
              </a:lnSpc>
            </a:pPr>
            <a:r>
              <a:rPr spc="-10" dirty="0"/>
              <a:t>-</a:t>
            </a:r>
            <a:fld id="{81D60167-4931-47E6-BA6A-407CBD079E47}" type="slidenum">
              <a:rPr spc="-25" dirty="0"/>
              <a:t>1</a:t>
            </a:fld>
            <a:r>
              <a:rPr spc="-25" dirty="0"/>
              <a:t>-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04875"/>
            <a:ext cx="5971540" cy="5582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414645" algn="l"/>
              </a:tabLst>
            </a:pPr>
            <a:r>
              <a:rPr sz="1100" b="1" dirty="0">
                <a:latin typeface="Palatino Linotype"/>
                <a:cs typeface="Palatino Linotype"/>
              </a:rPr>
              <a:t>EECE</a:t>
            </a:r>
            <a:r>
              <a:rPr sz="1100" b="1" spc="-15" dirty="0">
                <a:latin typeface="Palatino Linotype"/>
                <a:cs typeface="Palatino Linotype"/>
              </a:rPr>
              <a:t> </a:t>
            </a:r>
            <a:r>
              <a:rPr sz="1100" b="1" dirty="0">
                <a:latin typeface="Palatino Linotype"/>
                <a:cs typeface="Palatino Linotype"/>
              </a:rPr>
              <a:t>3624:</a:t>
            </a:r>
            <a:r>
              <a:rPr sz="1100" b="1" spc="-15" dirty="0">
                <a:latin typeface="Palatino Linotype"/>
                <a:cs typeface="Palatino Linotype"/>
              </a:rPr>
              <a:t> </a:t>
            </a:r>
            <a:r>
              <a:rPr sz="1100" b="1" spc="-10" dirty="0">
                <a:latin typeface="Palatino Linotype"/>
                <a:cs typeface="Palatino Linotype"/>
              </a:rPr>
              <a:t>Microprocessors</a:t>
            </a:r>
            <a:r>
              <a:rPr sz="1100" b="1" dirty="0">
                <a:latin typeface="Palatino Linotype"/>
                <a:cs typeface="Palatino Linotype"/>
              </a:rPr>
              <a:t>	</a:t>
            </a:r>
            <a:r>
              <a:rPr sz="1100" dirty="0">
                <a:latin typeface="Palatino Linotype"/>
                <a:cs typeface="Palatino Linotype"/>
              </a:rPr>
              <a:t>Fall</a:t>
            </a:r>
            <a:r>
              <a:rPr sz="1100" spc="-20" dirty="0">
                <a:latin typeface="Palatino Linotype"/>
                <a:cs typeface="Palatino Linotype"/>
              </a:rPr>
              <a:t> 2023</a:t>
            </a:r>
            <a:endParaRPr sz="1100">
              <a:latin typeface="Palatino Linotype"/>
              <a:cs typeface="Palatino Linotype"/>
            </a:endParaRPr>
          </a:p>
          <a:p>
            <a:pPr marL="12700" marR="40640">
              <a:lnSpc>
                <a:spcPct val="121300"/>
              </a:lnSpc>
              <a:spcBef>
                <a:spcPts val="905"/>
              </a:spcBef>
            </a:pPr>
            <a:r>
              <a:rPr sz="1200" dirty="0">
                <a:latin typeface="Palatino Linotype"/>
                <a:cs typeface="Palatino Linotype"/>
              </a:rPr>
              <a:t>You’ll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be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using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the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spc="-10" dirty="0">
                <a:latin typeface="Palatino Linotype"/>
                <a:cs typeface="Palatino Linotype"/>
              </a:rPr>
              <a:t>ATmega128A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to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drive</a:t>
            </a:r>
            <a:r>
              <a:rPr sz="1200" spc="-1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eight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LEDs.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When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powering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an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LED,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spc="-25" dirty="0">
                <a:latin typeface="Palatino Linotype"/>
                <a:cs typeface="Palatino Linotype"/>
              </a:rPr>
              <a:t>you </a:t>
            </a:r>
            <a:r>
              <a:rPr sz="1200" dirty="0">
                <a:latin typeface="Palatino Linotype"/>
                <a:cs typeface="Palatino Linotype"/>
              </a:rPr>
              <a:t>must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provide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enough</a:t>
            </a:r>
            <a:r>
              <a:rPr sz="1200" spc="-3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current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to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turn</a:t>
            </a:r>
            <a:r>
              <a:rPr sz="1200" spc="-1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it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on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but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not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so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much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that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you</a:t>
            </a:r>
            <a:r>
              <a:rPr sz="1200" spc="-4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damage</a:t>
            </a:r>
            <a:r>
              <a:rPr sz="1200" spc="-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the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LED</a:t>
            </a:r>
            <a:r>
              <a:rPr sz="1200" spc="-25" dirty="0">
                <a:latin typeface="Palatino Linotype"/>
                <a:cs typeface="Palatino Linotype"/>
              </a:rPr>
              <a:t> or </a:t>
            </a:r>
            <a:r>
              <a:rPr sz="1200" dirty="0">
                <a:latin typeface="Palatino Linotype"/>
                <a:cs typeface="Palatino Linotype"/>
              </a:rPr>
              <a:t>the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ATmega128A.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You</a:t>
            </a:r>
            <a:r>
              <a:rPr sz="1200" spc="-3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do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this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by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adding</a:t>
            </a:r>
            <a:r>
              <a:rPr sz="1200" spc="-1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a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i="1" spc="-10" dirty="0">
                <a:latin typeface="Palatino Linotype"/>
                <a:cs typeface="Palatino Linotype"/>
              </a:rPr>
              <a:t>current-</a:t>
            </a:r>
            <a:r>
              <a:rPr sz="1200" i="1" dirty="0">
                <a:latin typeface="Palatino Linotype"/>
                <a:cs typeface="Palatino Linotype"/>
              </a:rPr>
              <a:t>limiting</a:t>
            </a:r>
            <a:r>
              <a:rPr sz="1200" i="1" spc="-20" dirty="0">
                <a:latin typeface="Palatino Linotype"/>
                <a:cs typeface="Palatino Linotype"/>
              </a:rPr>
              <a:t> </a:t>
            </a:r>
            <a:r>
              <a:rPr sz="1200" i="1" dirty="0">
                <a:latin typeface="Palatino Linotype"/>
                <a:cs typeface="Palatino Linotype"/>
              </a:rPr>
              <a:t>resistor</a:t>
            </a:r>
            <a:r>
              <a:rPr sz="1200" i="1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in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series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with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spc="-25" dirty="0">
                <a:latin typeface="Palatino Linotype"/>
                <a:cs typeface="Palatino Linotype"/>
              </a:rPr>
              <a:t>the</a:t>
            </a:r>
            <a:r>
              <a:rPr sz="1200" spc="50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LED.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For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the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purposes</a:t>
            </a:r>
            <a:r>
              <a:rPr sz="1200" spc="-3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of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this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lab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b="1" dirty="0">
                <a:latin typeface="Palatino Linotype"/>
                <a:cs typeface="Palatino Linotype"/>
              </a:rPr>
              <a:t>assume</a:t>
            </a:r>
            <a:r>
              <a:rPr sz="1200" b="1" spc="-20" dirty="0">
                <a:latin typeface="Palatino Linotype"/>
                <a:cs typeface="Palatino Linotype"/>
              </a:rPr>
              <a:t> </a:t>
            </a:r>
            <a:r>
              <a:rPr sz="1200" b="1" dirty="0">
                <a:latin typeface="Palatino Linotype"/>
                <a:cs typeface="Palatino Linotype"/>
              </a:rPr>
              <a:t>a</a:t>
            </a:r>
            <a:r>
              <a:rPr sz="1200" b="1" spc="-15" dirty="0">
                <a:latin typeface="Palatino Linotype"/>
                <a:cs typeface="Palatino Linotype"/>
              </a:rPr>
              <a:t> </a:t>
            </a:r>
            <a:r>
              <a:rPr sz="1200" b="1" dirty="0">
                <a:latin typeface="Palatino Linotype"/>
                <a:cs typeface="Palatino Linotype"/>
              </a:rPr>
              <a:t>safe</a:t>
            </a:r>
            <a:r>
              <a:rPr sz="1200" b="1" spc="-20" dirty="0">
                <a:latin typeface="Palatino Linotype"/>
                <a:cs typeface="Palatino Linotype"/>
              </a:rPr>
              <a:t> </a:t>
            </a:r>
            <a:r>
              <a:rPr sz="1200" b="1" dirty="0">
                <a:latin typeface="Palatino Linotype"/>
                <a:cs typeface="Palatino Linotype"/>
              </a:rPr>
              <a:t>LED</a:t>
            </a:r>
            <a:r>
              <a:rPr sz="1200" b="1" spc="-20" dirty="0">
                <a:latin typeface="Palatino Linotype"/>
                <a:cs typeface="Palatino Linotype"/>
              </a:rPr>
              <a:t> </a:t>
            </a:r>
            <a:r>
              <a:rPr sz="1200" b="1" dirty="0">
                <a:latin typeface="Palatino Linotype"/>
                <a:cs typeface="Palatino Linotype"/>
              </a:rPr>
              <a:t>operating</a:t>
            </a:r>
            <a:r>
              <a:rPr sz="1200" b="1" spc="-20" dirty="0">
                <a:latin typeface="Palatino Linotype"/>
                <a:cs typeface="Palatino Linotype"/>
              </a:rPr>
              <a:t> </a:t>
            </a:r>
            <a:r>
              <a:rPr sz="1200" b="1" dirty="0">
                <a:latin typeface="Palatino Linotype"/>
                <a:cs typeface="Palatino Linotype"/>
              </a:rPr>
              <a:t>current</a:t>
            </a:r>
            <a:r>
              <a:rPr sz="1200" b="1" spc="-15" dirty="0">
                <a:latin typeface="Palatino Linotype"/>
                <a:cs typeface="Palatino Linotype"/>
              </a:rPr>
              <a:t> </a:t>
            </a:r>
            <a:r>
              <a:rPr sz="1200" b="1" dirty="0">
                <a:latin typeface="Palatino Linotype"/>
                <a:cs typeface="Palatino Linotype"/>
              </a:rPr>
              <a:t>of</a:t>
            </a:r>
            <a:r>
              <a:rPr sz="1200" b="1" spc="-20" dirty="0">
                <a:latin typeface="Palatino Linotype"/>
                <a:cs typeface="Palatino Linotype"/>
              </a:rPr>
              <a:t> </a:t>
            </a:r>
            <a:r>
              <a:rPr sz="1200" b="1" dirty="0">
                <a:latin typeface="Palatino Linotype"/>
                <a:cs typeface="Palatino Linotype"/>
              </a:rPr>
              <a:t>2.0mA</a:t>
            </a:r>
            <a:r>
              <a:rPr sz="1200" b="1" spc="-15" dirty="0">
                <a:latin typeface="Palatino Linotype"/>
                <a:cs typeface="Palatino Linotype"/>
              </a:rPr>
              <a:t> </a:t>
            </a:r>
            <a:r>
              <a:rPr sz="1200" b="1" spc="-25" dirty="0">
                <a:latin typeface="Palatino Linotype"/>
                <a:cs typeface="Palatino Linotype"/>
              </a:rPr>
              <a:t>to </a:t>
            </a:r>
            <a:r>
              <a:rPr sz="1200" b="1" spc="-10" dirty="0">
                <a:latin typeface="Palatino Linotype"/>
                <a:cs typeface="Palatino Linotype"/>
              </a:rPr>
              <a:t>20.0mA</a:t>
            </a:r>
            <a:r>
              <a:rPr sz="1200" spc="-10" dirty="0">
                <a:latin typeface="Palatino Linotype"/>
                <a:cs typeface="Palatino Linotype"/>
              </a:rPr>
              <a:t>.</a:t>
            </a:r>
            <a:endParaRPr sz="120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910"/>
              </a:spcBef>
            </a:pPr>
            <a:r>
              <a:rPr sz="1200" dirty="0">
                <a:latin typeface="Palatino Linotype"/>
                <a:cs typeface="Palatino Linotype"/>
              </a:rPr>
              <a:t>Begin</a:t>
            </a:r>
            <a:r>
              <a:rPr sz="1200" spc="-4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by</a:t>
            </a:r>
            <a:r>
              <a:rPr sz="1200" spc="-3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opening</a:t>
            </a:r>
            <a:r>
              <a:rPr sz="1200" spc="-3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the</a:t>
            </a:r>
            <a:r>
              <a:rPr sz="1200" spc="-40" dirty="0">
                <a:latin typeface="Palatino Linotype"/>
                <a:cs typeface="Palatino Linotype"/>
              </a:rPr>
              <a:t> </a:t>
            </a:r>
            <a:r>
              <a:rPr sz="1200" b="1" dirty="0">
                <a:latin typeface="Palatino Linotype"/>
                <a:cs typeface="Palatino Linotype"/>
              </a:rPr>
              <a:t>ATmega128A</a:t>
            </a:r>
            <a:r>
              <a:rPr sz="1200" b="1" spc="-35" dirty="0">
                <a:latin typeface="Palatino Linotype"/>
                <a:cs typeface="Palatino Linotype"/>
              </a:rPr>
              <a:t> </a:t>
            </a:r>
            <a:r>
              <a:rPr sz="1200" b="1" dirty="0">
                <a:latin typeface="Palatino Linotype"/>
                <a:cs typeface="Palatino Linotype"/>
              </a:rPr>
              <a:t>Datasheet</a:t>
            </a:r>
            <a:r>
              <a:rPr sz="1200" b="1" spc="-3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(Canvas</a:t>
            </a:r>
            <a:r>
              <a:rPr sz="1200" spc="-3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Files&gt;Docs)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and</a:t>
            </a:r>
            <a:r>
              <a:rPr sz="1200" spc="-3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determine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spc="-25" dirty="0">
                <a:latin typeface="Palatino Linotype"/>
                <a:cs typeface="Palatino Linotype"/>
              </a:rPr>
              <a:t>the</a:t>
            </a:r>
            <a:endParaRPr sz="120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200" dirty="0">
                <a:latin typeface="Palatino Linotype"/>
                <a:cs typeface="Palatino Linotype"/>
              </a:rPr>
              <a:t>max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current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available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from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the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processor’s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I/O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pins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(Hint: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this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can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be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found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in</a:t>
            </a:r>
            <a:r>
              <a:rPr sz="1200" spc="-35" dirty="0">
                <a:latin typeface="Palatino Linotype"/>
                <a:cs typeface="Palatino Linotype"/>
              </a:rPr>
              <a:t> </a:t>
            </a:r>
            <a:r>
              <a:rPr sz="1200" spc="-25" dirty="0">
                <a:latin typeface="Palatino Linotype"/>
                <a:cs typeface="Palatino Linotype"/>
              </a:rPr>
              <a:t>the</a:t>
            </a:r>
            <a:endParaRPr sz="120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1200" dirty="0">
                <a:latin typeface="Palatino Linotype"/>
                <a:cs typeface="Palatino Linotype"/>
              </a:rPr>
              <a:t>“Electrical</a:t>
            </a:r>
            <a:r>
              <a:rPr sz="1200" spc="-10" dirty="0">
                <a:latin typeface="Palatino Linotype"/>
                <a:cs typeface="Palatino Linotype"/>
              </a:rPr>
              <a:t> Characteristics”</a:t>
            </a:r>
            <a:r>
              <a:rPr sz="1200" spc="-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section</a:t>
            </a:r>
            <a:r>
              <a:rPr sz="1200" spc="-1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of</a:t>
            </a:r>
            <a:r>
              <a:rPr sz="1200" spc="-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the</a:t>
            </a:r>
            <a:r>
              <a:rPr sz="1200" spc="-5" dirty="0">
                <a:latin typeface="Palatino Linotype"/>
                <a:cs typeface="Palatino Linotype"/>
              </a:rPr>
              <a:t> </a:t>
            </a:r>
            <a:r>
              <a:rPr sz="1200" spc="-10" dirty="0">
                <a:latin typeface="Palatino Linotype"/>
                <a:cs typeface="Palatino Linotype"/>
              </a:rPr>
              <a:t>datasheet).</a:t>
            </a:r>
            <a:endParaRPr sz="120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1115"/>
              </a:spcBef>
            </a:pPr>
            <a:r>
              <a:rPr sz="1200" b="1" dirty="0">
                <a:latin typeface="Arial"/>
                <a:cs typeface="Arial"/>
              </a:rPr>
              <a:t>Question</a:t>
            </a:r>
            <a:r>
              <a:rPr sz="1200" b="1" spc="-3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1:</a:t>
            </a:r>
            <a:r>
              <a:rPr sz="1200" b="1" spc="210" dirty="0">
                <a:latin typeface="Arial"/>
                <a:cs typeface="Arial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What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is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the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max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current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available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from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a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u="sng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single</a:t>
            </a:r>
            <a:r>
              <a:rPr sz="1200" u="none" spc="-20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ATmega128A</a:t>
            </a:r>
            <a:r>
              <a:rPr sz="1200" u="none" spc="-20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I/O</a:t>
            </a:r>
            <a:r>
              <a:rPr sz="1200" u="none" spc="-25" dirty="0">
                <a:latin typeface="Palatino Linotype"/>
                <a:cs typeface="Palatino Linotype"/>
              </a:rPr>
              <a:t> </a:t>
            </a:r>
            <a:r>
              <a:rPr sz="1200" u="none" spc="-20" dirty="0">
                <a:latin typeface="Palatino Linotype"/>
                <a:cs typeface="Palatino Linotype"/>
              </a:rPr>
              <a:t>pin?</a:t>
            </a:r>
            <a:endParaRPr sz="1200">
              <a:latin typeface="Palatino Linotype"/>
              <a:cs typeface="Palatino Linotype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1200">
              <a:latin typeface="Palatino Linotype"/>
              <a:cs typeface="Palatino Linotype"/>
            </a:endParaRPr>
          </a:p>
          <a:p>
            <a:pPr marL="12700" marR="76200">
              <a:lnSpc>
                <a:spcPct val="121100"/>
              </a:lnSpc>
            </a:pPr>
            <a:r>
              <a:rPr sz="1200" dirty="0">
                <a:latin typeface="Palatino Linotype"/>
                <a:cs typeface="Palatino Linotype"/>
              </a:rPr>
              <a:t>Next,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use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this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max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current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rating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along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with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a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V</a:t>
            </a:r>
            <a:r>
              <a:rPr sz="700" dirty="0">
                <a:latin typeface="Palatino Linotype"/>
                <a:cs typeface="Palatino Linotype"/>
              </a:rPr>
              <a:t>CC</a:t>
            </a:r>
            <a:r>
              <a:rPr sz="700" spc="10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supply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voltage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of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5.0V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and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an</a:t>
            </a:r>
            <a:r>
              <a:rPr sz="1200" spc="-25" dirty="0">
                <a:latin typeface="Palatino Linotype"/>
                <a:cs typeface="Palatino Linotype"/>
              </a:rPr>
              <a:t> LED </a:t>
            </a:r>
            <a:r>
              <a:rPr sz="1200" dirty="0">
                <a:latin typeface="Palatino Linotype"/>
                <a:cs typeface="Palatino Linotype"/>
              </a:rPr>
              <a:t>voltage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drop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of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2.0V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to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b="1" dirty="0">
                <a:latin typeface="Palatino Linotype"/>
                <a:cs typeface="Palatino Linotype"/>
              </a:rPr>
              <a:t>prove</a:t>
            </a:r>
            <a:r>
              <a:rPr sz="1200" b="1" spc="-15" dirty="0">
                <a:latin typeface="Palatino Linotype"/>
                <a:cs typeface="Palatino Linotype"/>
              </a:rPr>
              <a:t> </a:t>
            </a:r>
            <a:r>
              <a:rPr sz="1200" b="1" dirty="0">
                <a:latin typeface="Palatino Linotype"/>
                <a:cs typeface="Palatino Linotype"/>
              </a:rPr>
              <a:t>that</a:t>
            </a:r>
            <a:r>
              <a:rPr sz="1200" b="1" spc="-15" dirty="0">
                <a:latin typeface="Palatino Linotype"/>
                <a:cs typeface="Palatino Linotype"/>
              </a:rPr>
              <a:t> </a:t>
            </a:r>
            <a:r>
              <a:rPr sz="1200" b="1" dirty="0">
                <a:latin typeface="Palatino Linotype"/>
                <a:cs typeface="Palatino Linotype"/>
              </a:rPr>
              <a:t>it</a:t>
            </a:r>
            <a:r>
              <a:rPr sz="1200" b="1" spc="-15" dirty="0">
                <a:latin typeface="Palatino Linotype"/>
                <a:cs typeface="Palatino Linotype"/>
              </a:rPr>
              <a:t> </a:t>
            </a:r>
            <a:r>
              <a:rPr sz="1200" b="1" dirty="0">
                <a:latin typeface="Palatino Linotype"/>
                <a:cs typeface="Palatino Linotype"/>
              </a:rPr>
              <a:t>is</a:t>
            </a:r>
            <a:r>
              <a:rPr sz="1200" b="1" spc="-15" dirty="0">
                <a:latin typeface="Palatino Linotype"/>
                <a:cs typeface="Palatino Linotype"/>
              </a:rPr>
              <a:t> </a:t>
            </a:r>
            <a:r>
              <a:rPr sz="1200" b="1" dirty="0">
                <a:latin typeface="Palatino Linotype"/>
                <a:cs typeface="Palatino Linotype"/>
              </a:rPr>
              <a:t>safe</a:t>
            </a:r>
            <a:r>
              <a:rPr sz="1200" b="1" spc="-15" dirty="0">
                <a:latin typeface="Palatino Linotype"/>
                <a:cs typeface="Palatino Linotype"/>
              </a:rPr>
              <a:t> </a:t>
            </a:r>
            <a:r>
              <a:rPr sz="1200" b="1" dirty="0">
                <a:latin typeface="Palatino Linotype"/>
                <a:cs typeface="Palatino Linotype"/>
              </a:rPr>
              <a:t>to</a:t>
            </a:r>
            <a:r>
              <a:rPr sz="1200" b="1" spc="-20" dirty="0">
                <a:latin typeface="Palatino Linotype"/>
                <a:cs typeface="Palatino Linotype"/>
              </a:rPr>
              <a:t> </a:t>
            </a:r>
            <a:r>
              <a:rPr sz="1200" b="1" dirty="0">
                <a:latin typeface="Palatino Linotype"/>
                <a:cs typeface="Palatino Linotype"/>
              </a:rPr>
              <a:t>operate</a:t>
            </a:r>
            <a:r>
              <a:rPr sz="1200" b="1" spc="-10" dirty="0">
                <a:latin typeface="Palatino Linotype"/>
                <a:cs typeface="Palatino Linotype"/>
              </a:rPr>
              <a:t> </a:t>
            </a:r>
            <a:r>
              <a:rPr sz="1200" b="1" dirty="0">
                <a:latin typeface="Palatino Linotype"/>
                <a:cs typeface="Palatino Linotype"/>
              </a:rPr>
              <a:t>each</a:t>
            </a:r>
            <a:r>
              <a:rPr sz="1200" b="1" spc="-20" dirty="0">
                <a:latin typeface="Palatino Linotype"/>
                <a:cs typeface="Palatino Linotype"/>
              </a:rPr>
              <a:t> </a:t>
            </a:r>
            <a:r>
              <a:rPr sz="1200" b="1" dirty="0">
                <a:latin typeface="Palatino Linotype"/>
                <a:cs typeface="Palatino Linotype"/>
              </a:rPr>
              <a:t>LED</a:t>
            </a:r>
            <a:r>
              <a:rPr sz="1200" b="1" spc="-20" dirty="0">
                <a:latin typeface="Palatino Linotype"/>
                <a:cs typeface="Palatino Linotype"/>
              </a:rPr>
              <a:t> </a:t>
            </a:r>
            <a:r>
              <a:rPr sz="1200" b="1" dirty="0">
                <a:latin typeface="Palatino Linotype"/>
                <a:cs typeface="Palatino Linotype"/>
              </a:rPr>
              <a:t>using</a:t>
            </a:r>
            <a:r>
              <a:rPr sz="1200" b="1" spc="-15" dirty="0">
                <a:latin typeface="Palatino Linotype"/>
                <a:cs typeface="Palatino Linotype"/>
              </a:rPr>
              <a:t> </a:t>
            </a:r>
            <a:r>
              <a:rPr sz="1200" b="1" dirty="0">
                <a:latin typeface="Palatino Linotype"/>
                <a:cs typeface="Palatino Linotype"/>
              </a:rPr>
              <a:t>a</a:t>
            </a:r>
            <a:r>
              <a:rPr sz="1200" b="1" spc="-15" dirty="0">
                <a:latin typeface="Palatino Linotype"/>
                <a:cs typeface="Palatino Linotype"/>
              </a:rPr>
              <a:t> </a:t>
            </a:r>
            <a:r>
              <a:rPr sz="1200" b="1" dirty="0">
                <a:latin typeface="Palatino Linotype"/>
                <a:cs typeface="Palatino Linotype"/>
              </a:rPr>
              <a:t>220Ω</a:t>
            </a:r>
            <a:r>
              <a:rPr sz="1200" b="1" spc="-20" dirty="0">
                <a:latin typeface="Palatino Linotype"/>
                <a:cs typeface="Palatino Linotype"/>
              </a:rPr>
              <a:t> </a:t>
            </a:r>
            <a:r>
              <a:rPr sz="1200" b="1" spc="-10" dirty="0">
                <a:latin typeface="Palatino Linotype"/>
                <a:cs typeface="Palatino Linotype"/>
              </a:rPr>
              <a:t>current </a:t>
            </a:r>
            <a:r>
              <a:rPr sz="1200" b="1" dirty="0">
                <a:latin typeface="Palatino Linotype"/>
                <a:cs typeface="Palatino Linotype"/>
              </a:rPr>
              <a:t>limiting</a:t>
            </a:r>
            <a:r>
              <a:rPr sz="1200" b="1" spc="-25" dirty="0">
                <a:latin typeface="Palatino Linotype"/>
                <a:cs typeface="Palatino Linotype"/>
              </a:rPr>
              <a:t> </a:t>
            </a:r>
            <a:r>
              <a:rPr sz="1200" b="1" dirty="0">
                <a:latin typeface="Palatino Linotype"/>
                <a:cs typeface="Palatino Linotype"/>
              </a:rPr>
              <a:t>resistor</a:t>
            </a:r>
            <a:r>
              <a:rPr sz="1200" dirty="0">
                <a:latin typeface="Palatino Linotype"/>
                <a:cs typeface="Palatino Linotype"/>
              </a:rPr>
              <a:t>.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Draw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a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b="1" dirty="0">
                <a:latin typeface="Palatino Linotype"/>
                <a:cs typeface="Palatino Linotype"/>
              </a:rPr>
              <a:t>simple</a:t>
            </a:r>
            <a:r>
              <a:rPr sz="1200" b="1" spc="-15" dirty="0">
                <a:latin typeface="Palatino Linotype"/>
                <a:cs typeface="Palatino Linotype"/>
              </a:rPr>
              <a:t> </a:t>
            </a:r>
            <a:r>
              <a:rPr sz="1200" b="1" dirty="0">
                <a:latin typeface="Palatino Linotype"/>
                <a:cs typeface="Palatino Linotype"/>
              </a:rPr>
              <a:t>schematic</a:t>
            </a:r>
            <a:r>
              <a:rPr sz="1200" b="1" spc="-15" dirty="0">
                <a:latin typeface="Palatino Linotype"/>
                <a:cs typeface="Palatino Linotype"/>
              </a:rPr>
              <a:t> </a:t>
            </a:r>
            <a:r>
              <a:rPr sz="1200" b="1" dirty="0">
                <a:latin typeface="Palatino Linotype"/>
                <a:cs typeface="Palatino Linotype"/>
              </a:rPr>
              <a:t>of</a:t>
            </a:r>
            <a:r>
              <a:rPr sz="1200" b="1" spc="-20" dirty="0">
                <a:latin typeface="Palatino Linotype"/>
                <a:cs typeface="Palatino Linotype"/>
              </a:rPr>
              <a:t> </a:t>
            </a:r>
            <a:r>
              <a:rPr sz="1200" b="1" dirty="0">
                <a:latin typeface="Palatino Linotype"/>
                <a:cs typeface="Palatino Linotype"/>
              </a:rPr>
              <a:t>a</a:t>
            </a:r>
            <a:r>
              <a:rPr sz="1200" b="1" spc="-20" dirty="0">
                <a:latin typeface="Palatino Linotype"/>
                <a:cs typeface="Palatino Linotype"/>
              </a:rPr>
              <a:t> </a:t>
            </a:r>
            <a:r>
              <a:rPr sz="1200" b="1" dirty="0">
                <a:latin typeface="Palatino Linotype"/>
                <a:cs typeface="Palatino Linotype"/>
              </a:rPr>
              <a:t>single</a:t>
            </a:r>
            <a:r>
              <a:rPr sz="1200" b="1" spc="-25" dirty="0">
                <a:latin typeface="Palatino Linotype"/>
                <a:cs typeface="Palatino Linotype"/>
              </a:rPr>
              <a:t> </a:t>
            </a:r>
            <a:r>
              <a:rPr sz="1200" b="1" dirty="0">
                <a:latin typeface="Palatino Linotype"/>
                <a:cs typeface="Palatino Linotype"/>
              </a:rPr>
              <a:t>LED</a:t>
            </a:r>
            <a:r>
              <a:rPr sz="1200" b="1" spc="-25" dirty="0">
                <a:latin typeface="Palatino Linotype"/>
                <a:cs typeface="Palatino Linotype"/>
              </a:rPr>
              <a:t> </a:t>
            </a:r>
            <a:r>
              <a:rPr sz="1200" b="1" dirty="0">
                <a:latin typeface="Palatino Linotype"/>
                <a:cs typeface="Palatino Linotype"/>
              </a:rPr>
              <a:t>circuit</a:t>
            </a:r>
            <a:r>
              <a:rPr sz="1200" b="1" spc="-1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and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show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it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to</a:t>
            </a:r>
            <a:r>
              <a:rPr sz="1200" spc="-20" dirty="0">
                <a:latin typeface="Palatino Linotype"/>
                <a:cs typeface="Palatino Linotype"/>
              </a:rPr>
              <a:t> your </a:t>
            </a:r>
            <a:r>
              <a:rPr sz="1200" dirty="0">
                <a:latin typeface="Palatino Linotype"/>
                <a:cs typeface="Palatino Linotype"/>
              </a:rPr>
              <a:t>instructor.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Also,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b="1" u="sng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include</a:t>
            </a:r>
            <a:r>
              <a:rPr sz="1200" b="1" u="sng" spc="-20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 </a:t>
            </a:r>
            <a:r>
              <a:rPr sz="1200" b="1" u="sng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the</a:t>
            </a:r>
            <a:r>
              <a:rPr sz="1200" b="1" u="sng" spc="-20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 </a:t>
            </a:r>
            <a:r>
              <a:rPr sz="1200" b="1" u="sng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design</a:t>
            </a:r>
            <a:r>
              <a:rPr sz="1200" b="1" u="sng" spc="-20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 </a:t>
            </a:r>
            <a:r>
              <a:rPr sz="1200" b="1" u="sng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and</a:t>
            </a:r>
            <a:r>
              <a:rPr sz="1200" b="1" u="sng" spc="-15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 </a:t>
            </a:r>
            <a:r>
              <a:rPr sz="1200" b="1" u="sng" spc="-10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calculations</a:t>
            </a:r>
            <a:r>
              <a:rPr sz="1200" b="1" u="sng" spc="-30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 </a:t>
            </a:r>
            <a:r>
              <a:rPr sz="1200" b="1" u="sng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in</a:t>
            </a:r>
            <a:r>
              <a:rPr sz="1200" b="1" u="sng" spc="-25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 </a:t>
            </a:r>
            <a:r>
              <a:rPr sz="1200" b="1" u="sng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your</a:t>
            </a:r>
            <a:r>
              <a:rPr sz="1200" b="1" u="sng" spc="-25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 </a:t>
            </a:r>
            <a:r>
              <a:rPr sz="1200" b="1" u="sng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final</a:t>
            </a:r>
            <a:r>
              <a:rPr sz="1200" b="1" u="sng" spc="-15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 </a:t>
            </a:r>
            <a:r>
              <a:rPr sz="1200" b="1" u="sng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lab</a:t>
            </a:r>
            <a:r>
              <a:rPr sz="1200" b="1" u="sng" spc="-25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 </a:t>
            </a:r>
            <a:r>
              <a:rPr sz="1200" b="1" u="sng" spc="-10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report</a:t>
            </a:r>
            <a:r>
              <a:rPr sz="1200" u="none" spc="-10" dirty="0">
                <a:latin typeface="Palatino Linotype"/>
                <a:cs typeface="Palatino Linotype"/>
              </a:rPr>
              <a:t>.</a:t>
            </a:r>
            <a:endParaRPr sz="120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1115"/>
              </a:spcBef>
            </a:pPr>
            <a:r>
              <a:rPr sz="1200" b="1" dirty="0">
                <a:latin typeface="Arial"/>
                <a:cs typeface="Arial"/>
              </a:rPr>
              <a:t>Question</a:t>
            </a:r>
            <a:r>
              <a:rPr sz="1200" b="1" spc="-2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2:</a:t>
            </a:r>
            <a:r>
              <a:rPr sz="1200" b="1" spc="220" dirty="0">
                <a:latin typeface="Arial"/>
                <a:cs typeface="Arial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What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is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the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simple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LED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circuit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and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is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it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spc="-10" dirty="0">
                <a:latin typeface="Palatino Linotype"/>
                <a:cs typeface="Palatino Linotype"/>
              </a:rPr>
              <a:t>safe?</a:t>
            </a:r>
            <a:endParaRPr sz="1200">
              <a:latin typeface="Palatino Linotype"/>
              <a:cs typeface="Palatino Linotype"/>
            </a:endParaRPr>
          </a:p>
          <a:p>
            <a:pPr>
              <a:lnSpc>
                <a:spcPct val="100000"/>
              </a:lnSpc>
              <a:spcBef>
                <a:spcPts val="1050"/>
              </a:spcBef>
            </a:pPr>
            <a:endParaRPr sz="120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</a:pPr>
            <a:r>
              <a:rPr sz="1400" b="1" dirty="0">
                <a:solidFill>
                  <a:srgbClr val="006FC0"/>
                </a:solidFill>
                <a:latin typeface="Palatino Linotype"/>
                <a:cs typeface="Palatino Linotype"/>
              </a:rPr>
              <a:t>Board</a:t>
            </a:r>
            <a:r>
              <a:rPr sz="1400" b="1" spc="-30" dirty="0">
                <a:solidFill>
                  <a:srgbClr val="006FC0"/>
                </a:solidFill>
                <a:latin typeface="Palatino Linotype"/>
                <a:cs typeface="Palatino Linotype"/>
              </a:rPr>
              <a:t> </a:t>
            </a:r>
            <a:r>
              <a:rPr sz="1400" b="1" dirty="0">
                <a:solidFill>
                  <a:srgbClr val="006FC0"/>
                </a:solidFill>
                <a:latin typeface="Palatino Linotype"/>
                <a:cs typeface="Palatino Linotype"/>
              </a:rPr>
              <a:t>Soldering</a:t>
            </a:r>
            <a:r>
              <a:rPr sz="1400" b="1" spc="-20" dirty="0">
                <a:solidFill>
                  <a:srgbClr val="006FC0"/>
                </a:solidFill>
                <a:latin typeface="Palatino Linotype"/>
                <a:cs typeface="Palatino Linotype"/>
              </a:rPr>
              <a:t> </a:t>
            </a:r>
            <a:r>
              <a:rPr sz="1400" b="1" dirty="0">
                <a:solidFill>
                  <a:srgbClr val="006FC0"/>
                </a:solidFill>
                <a:latin typeface="Palatino Linotype"/>
                <a:cs typeface="Palatino Linotype"/>
              </a:rPr>
              <a:t>(should</a:t>
            </a:r>
            <a:r>
              <a:rPr sz="1400" b="1" spc="-30" dirty="0">
                <a:solidFill>
                  <a:srgbClr val="006FC0"/>
                </a:solidFill>
                <a:latin typeface="Palatino Linotype"/>
                <a:cs typeface="Palatino Linotype"/>
              </a:rPr>
              <a:t> </a:t>
            </a:r>
            <a:r>
              <a:rPr sz="1400" b="1" dirty="0">
                <a:solidFill>
                  <a:srgbClr val="006FC0"/>
                </a:solidFill>
                <a:latin typeface="Palatino Linotype"/>
                <a:cs typeface="Palatino Linotype"/>
              </a:rPr>
              <a:t>not</a:t>
            </a:r>
            <a:r>
              <a:rPr sz="1400" b="1" spc="-35" dirty="0">
                <a:solidFill>
                  <a:srgbClr val="006FC0"/>
                </a:solidFill>
                <a:latin typeface="Palatino Linotype"/>
                <a:cs typeface="Palatino Linotype"/>
              </a:rPr>
              <a:t> </a:t>
            </a:r>
            <a:r>
              <a:rPr sz="1400" b="1" dirty="0">
                <a:solidFill>
                  <a:srgbClr val="006FC0"/>
                </a:solidFill>
                <a:latin typeface="Palatino Linotype"/>
                <a:cs typeface="Palatino Linotype"/>
              </a:rPr>
              <a:t>be</a:t>
            </a:r>
            <a:r>
              <a:rPr sz="1400" b="1" spc="-35" dirty="0">
                <a:solidFill>
                  <a:srgbClr val="006FC0"/>
                </a:solidFill>
                <a:latin typeface="Palatino Linotype"/>
                <a:cs typeface="Palatino Linotype"/>
              </a:rPr>
              <a:t> </a:t>
            </a:r>
            <a:r>
              <a:rPr sz="1400" b="1" spc="-10" dirty="0">
                <a:solidFill>
                  <a:srgbClr val="006FC0"/>
                </a:solidFill>
                <a:latin typeface="Palatino Linotype"/>
                <a:cs typeface="Palatino Linotype"/>
              </a:rPr>
              <a:t>required)</a:t>
            </a:r>
            <a:endParaRPr sz="1400">
              <a:latin typeface="Palatino Linotype"/>
              <a:cs typeface="Palatino Linotype"/>
            </a:endParaRPr>
          </a:p>
          <a:p>
            <a:pPr marL="12700" marR="54610">
              <a:lnSpc>
                <a:spcPct val="120800"/>
              </a:lnSpc>
              <a:spcBef>
                <a:spcPts val="50"/>
              </a:spcBef>
            </a:pPr>
            <a:r>
              <a:rPr sz="1200" dirty="0">
                <a:latin typeface="Palatino Linotype"/>
                <a:cs typeface="Palatino Linotype"/>
              </a:rPr>
              <a:t>Once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you’ve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proved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the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circuit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is</a:t>
            </a:r>
            <a:r>
              <a:rPr sz="1200" spc="-3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safe,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solder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eight</a:t>
            </a:r>
            <a:r>
              <a:rPr sz="1200" spc="-3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LEDs,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current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limiting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resistors,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spc="-25" dirty="0">
                <a:latin typeface="Palatino Linotype"/>
                <a:cs typeface="Palatino Linotype"/>
              </a:rPr>
              <a:t>and </a:t>
            </a:r>
            <a:r>
              <a:rPr sz="1200" dirty="0">
                <a:latin typeface="Palatino Linotype"/>
                <a:cs typeface="Palatino Linotype"/>
              </a:rPr>
              <a:t>connector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pins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to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the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ReadyAVR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board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in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a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manner</a:t>
            </a:r>
            <a:r>
              <a:rPr sz="1200" spc="-1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similar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to</a:t>
            </a:r>
            <a:r>
              <a:rPr sz="1200" spc="-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that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shown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in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  <a:hlinkClick r:id="rId3" action="ppaction://hlinksldjump"/>
              </a:rPr>
              <a:t>Figure</a:t>
            </a:r>
            <a:r>
              <a:rPr sz="1200" spc="-20" dirty="0">
                <a:latin typeface="Palatino Linotype"/>
                <a:cs typeface="Palatino Linotype"/>
                <a:hlinkClick r:id="rId3" action="ppaction://hlinksldjump"/>
              </a:rPr>
              <a:t> </a:t>
            </a:r>
            <a:r>
              <a:rPr sz="1200" spc="-25" dirty="0">
                <a:latin typeface="Palatino Linotype"/>
                <a:cs typeface="Palatino Linotype"/>
                <a:hlinkClick r:id="rId3" action="ppaction://hlinksldjump"/>
              </a:rPr>
              <a:t>1</a:t>
            </a:r>
            <a:r>
              <a:rPr sz="1200" spc="-25" dirty="0">
                <a:latin typeface="Palatino Linotype"/>
                <a:cs typeface="Palatino Linotype"/>
              </a:rPr>
              <a:t>.</a:t>
            </a:r>
            <a:endParaRPr sz="1200">
              <a:latin typeface="Palatino Linotype"/>
              <a:cs typeface="Palatino Linotype"/>
            </a:endParaRPr>
          </a:p>
          <a:p>
            <a:pPr marL="12700" marR="224154">
              <a:lnSpc>
                <a:spcPct val="121300"/>
              </a:lnSpc>
              <a:spcBef>
                <a:spcPts val="5"/>
              </a:spcBef>
            </a:pPr>
            <a:r>
              <a:rPr sz="1200" b="1" dirty="0">
                <a:latin typeface="Palatino Linotype"/>
                <a:cs typeface="Palatino Linotype"/>
              </a:rPr>
              <a:t>Ensure</a:t>
            </a:r>
            <a:r>
              <a:rPr sz="1200" b="1" spc="-15" dirty="0">
                <a:latin typeface="Palatino Linotype"/>
                <a:cs typeface="Palatino Linotype"/>
              </a:rPr>
              <a:t> </a:t>
            </a:r>
            <a:r>
              <a:rPr sz="1200" b="1" dirty="0">
                <a:latin typeface="Palatino Linotype"/>
                <a:cs typeface="Palatino Linotype"/>
              </a:rPr>
              <a:t>proper</a:t>
            </a:r>
            <a:r>
              <a:rPr sz="1200" b="1" spc="-20" dirty="0">
                <a:latin typeface="Palatino Linotype"/>
                <a:cs typeface="Palatino Linotype"/>
              </a:rPr>
              <a:t> </a:t>
            </a:r>
            <a:r>
              <a:rPr sz="1200" b="1" dirty="0">
                <a:latin typeface="Palatino Linotype"/>
                <a:cs typeface="Palatino Linotype"/>
              </a:rPr>
              <a:t>LED</a:t>
            </a:r>
            <a:r>
              <a:rPr sz="1200" b="1" spc="-20" dirty="0">
                <a:latin typeface="Palatino Linotype"/>
                <a:cs typeface="Palatino Linotype"/>
              </a:rPr>
              <a:t> </a:t>
            </a:r>
            <a:r>
              <a:rPr sz="1200" b="1" dirty="0">
                <a:latin typeface="Palatino Linotype"/>
                <a:cs typeface="Palatino Linotype"/>
              </a:rPr>
              <a:t>polarity.</a:t>
            </a:r>
            <a:r>
              <a:rPr sz="1200" b="1" spc="27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  <a:hlinkClick r:id="rId4" action="ppaction://hlinksldjump"/>
              </a:rPr>
              <a:t>Figure</a:t>
            </a:r>
            <a:r>
              <a:rPr sz="1200" spc="-15" dirty="0">
                <a:latin typeface="Palatino Linotype"/>
                <a:cs typeface="Palatino Linotype"/>
                <a:hlinkClick r:id="rId4" action="ppaction://hlinksldjump"/>
              </a:rPr>
              <a:t> </a:t>
            </a:r>
            <a:r>
              <a:rPr sz="1200" dirty="0">
                <a:latin typeface="Palatino Linotype"/>
                <a:cs typeface="Palatino Linotype"/>
                <a:hlinkClick r:id="rId4" action="ppaction://hlinksldjump"/>
              </a:rPr>
              <a:t>2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shows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the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backside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of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the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board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with</a:t>
            </a:r>
            <a:r>
              <a:rPr sz="1200" spc="-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how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spc="-25" dirty="0">
                <a:latin typeface="Palatino Linotype"/>
                <a:cs typeface="Palatino Linotype"/>
              </a:rPr>
              <a:t>the </a:t>
            </a:r>
            <a:r>
              <a:rPr sz="1200" dirty="0">
                <a:latin typeface="Palatino Linotype"/>
                <a:cs typeface="Palatino Linotype"/>
              </a:rPr>
              <a:t>5V</a:t>
            </a:r>
            <a:r>
              <a:rPr sz="1200" spc="-3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power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source,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220Ω</a:t>
            </a:r>
            <a:r>
              <a:rPr sz="1200" spc="-35" dirty="0">
                <a:latin typeface="Palatino Linotype"/>
                <a:cs typeface="Palatino Linotype"/>
              </a:rPr>
              <a:t> </a:t>
            </a:r>
            <a:r>
              <a:rPr sz="1200" spc="-10" dirty="0">
                <a:latin typeface="Palatino Linotype"/>
                <a:cs typeface="Palatino Linotype"/>
              </a:rPr>
              <a:t>current-</a:t>
            </a:r>
            <a:r>
              <a:rPr sz="1200" dirty="0">
                <a:latin typeface="Palatino Linotype"/>
                <a:cs typeface="Palatino Linotype"/>
              </a:rPr>
              <a:t>limiting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resistors,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LEDs,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and</a:t>
            </a:r>
            <a:r>
              <a:rPr sz="1200" spc="-3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connector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pins</a:t>
            </a:r>
            <a:r>
              <a:rPr sz="1200" spc="-35" dirty="0">
                <a:latin typeface="Palatino Linotype"/>
                <a:cs typeface="Palatino Linotype"/>
              </a:rPr>
              <a:t> </a:t>
            </a:r>
            <a:r>
              <a:rPr sz="1200" spc="-25" dirty="0">
                <a:latin typeface="Palatino Linotype"/>
                <a:cs typeface="Palatino Linotype"/>
              </a:rPr>
              <a:t>are </a:t>
            </a:r>
            <a:r>
              <a:rPr sz="1200" spc="-10" dirty="0">
                <a:latin typeface="Palatino Linotype"/>
                <a:cs typeface="Palatino Linotype"/>
              </a:rPr>
              <a:t>attached.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9065767"/>
            <a:ext cx="6191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"/>
                <a:cs typeface="Arial"/>
              </a:rPr>
              <a:t>Figure</a:t>
            </a:r>
            <a:r>
              <a:rPr sz="1200" b="1" spc="-65" dirty="0">
                <a:latin typeface="Arial"/>
                <a:cs typeface="Arial"/>
              </a:rPr>
              <a:t> </a:t>
            </a:r>
            <a:r>
              <a:rPr sz="1200" b="1" spc="-50" dirty="0">
                <a:latin typeface="Arial"/>
                <a:cs typeface="Arial"/>
              </a:rPr>
              <a:t>2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16354" y="9065767"/>
            <a:ext cx="40195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Palatino Linotype"/>
                <a:cs typeface="Palatino Linotype"/>
              </a:rPr>
              <a:t>The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backside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of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the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ReadyAVR</a:t>
            </a:r>
            <a:r>
              <a:rPr sz="1200" spc="-1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board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showing</a:t>
            </a:r>
            <a:r>
              <a:rPr sz="1200" spc="-10" dirty="0">
                <a:latin typeface="Palatino Linotype"/>
                <a:cs typeface="Palatino Linotype"/>
              </a:rPr>
              <a:t> connections</a:t>
            </a:r>
            <a:endParaRPr sz="1200">
              <a:latin typeface="Palatino Linotype"/>
              <a:cs typeface="Palatino Linotype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955800" y="6094412"/>
            <a:ext cx="4012565" cy="2871470"/>
            <a:chOff x="1955800" y="6094412"/>
            <a:chExt cx="4012565" cy="2871470"/>
          </a:xfrm>
        </p:grpSpPr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62150" y="6100762"/>
              <a:ext cx="3851910" cy="285851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958975" y="6097587"/>
              <a:ext cx="3858260" cy="2865120"/>
            </a:xfrm>
            <a:custGeom>
              <a:avLst/>
              <a:gdLst/>
              <a:ahLst/>
              <a:cxnLst/>
              <a:rect l="l" t="t" r="r" b="b"/>
              <a:pathLst>
                <a:path w="3858260" h="2865120">
                  <a:moveTo>
                    <a:pt x="0" y="2864866"/>
                  </a:moveTo>
                  <a:lnTo>
                    <a:pt x="3858260" y="2864866"/>
                  </a:lnTo>
                  <a:lnTo>
                    <a:pt x="3858260" y="0"/>
                  </a:lnTo>
                  <a:lnTo>
                    <a:pt x="0" y="0"/>
                  </a:lnTo>
                  <a:lnTo>
                    <a:pt x="0" y="2864866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244339" y="6996175"/>
              <a:ext cx="1714500" cy="358140"/>
            </a:xfrm>
            <a:custGeom>
              <a:avLst/>
              <a:gdLst/>
              <a:ahLst/>
              <a:cxnLst/>
              <a:rect l="l" t="t" r="r" b="b"/>
              <a:pathLst>
                <a:path w="1714500" h="358140">
                  <a:moveTo>
                    <a:pt x="1714500" y="0"/>
                  </a:moveTo>
                  <a:lnTo>
                    <a:pt x="0" y="358140"/>
                  </a:lnTo>
                </a:path>
              </a:pathLst>
            </a:custGeom>
            <a:ln w="190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049832" y="7184897"/>
            <a:ext cx="656590" cy="6934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1270" algn="ctr">
              <a:lnSpc>
                <a:spcPct val="121500"/>
              </a:lnSpc>
              <a:spcBef>
                <a:spcPts val="105"/>
              </a:spcBef>
            </a:pPr>
            <a:r>
              <a:rPr sz="900" b="1" dirty="0">
                <a:latin typeface="Palatino Linotype"/>
                <a:cs typeface="Palatino Linotype"/>
              </a:rPr>
              <a:t>5V </a:t>
            </a:r>
            <a:r>
              <a:rPr sz="900" b="1" spc="-20" dirty="0">
                <a:latin typeface="Palatino Linotype"/>
                <a:cs typeface="Palatino Linotype"/>
              </a:rPr>
              <a:t>“bus” </a:t>
            </a:r>
            <a:r>
              <a:rPr sz="900" b="1" dirty="0">
                <a:latin typeface="Palatino Linotype"/>
                <a:cs typeface="Palatino Linotype"/>
              </a:rPr>
              <a:t>made</a:t>
            </a:r>
            <a:r>
              <a:rPr sz="900" b="1" spc="-10" dirty="0">
                <a:latin typeface="Palatino Linotype"/>
                <a:cs typeface="Palatino Linotype"/>
              </a:rPr>
              <a:t> </a:t>
            </a:r>
            <a:r>
              <a:rPr sz="900" b="1" spc="-25" dirty="0">
                <a:latin typeface="Palatino Linotype"/>
                <a:cs typeface="Palatino Linotype"/>
              </a:rPr>
              <a:t>by</a:t>
            </a:r>
            <a:r>
              <a:rPr sz="900" b="1" dirty="0">
                <a:latin typeface="Palatino Linotype"/>
                <a:cs typeface="Palatino Linotype"/>
              </a:rPr>
              <a:t> bending</a:t>
            </a:r>
            <a:r>
              <a:rPr sz="900" b="1" spc="-35" dirty="0">
                <a:latin typeface="Palatino Linotype"/>
                <a:cs typeface="Palatino Linotype"/>
              </a:rPr>
              <a:t> </a:t>
            </a:r>
            <a:r>
              <a:rPr sz="900" b="1" spc="-25" dirty="0">
                <a:latin typeface="Palatino Linotype"/>
                <a:cs typeface="Palatino Linotype"/>
              </a:rPr>
              <a:t>the</a:t>
            </a:r>
            <a:r>
              <a:rPr sz="900" b="1" dirty="0">
                <a:latin typeface="Palatino Linotype"/>
                <a:cs typeface="Palatino Linotype"/>
              </a:rPr>
              <a:t> leads</a:t>
            </a:r>
            <a:r>
              <a:rPr sz="900" b="1" spc="-5" dirty="0">
                <a:latin typeface="Palatino Linotype"/>
                <a:cs typeface="Palatino Linotype"/>
              </a:rPr>
              <a:t> </a:t>
            </a:r>
            <a:r>
              <a:rPr sz="900" b="1" dirty="0">
                <a:latin typeface="Palatino Linotype"/>
                <a:cs typeface="Palatino Linotype"/>
              </a:rPr>
              <a:t>of</a:t>
            </a:r>
            <a:r>
              <a:rPr sz="900" b="1" spc="-20" dirty="0">
                <a:latin typeface="Palatino Linotype"/>
                <a:cs typeface="Palatino Linotype"/>
              </a:rPr>
              <a:t> </a:t>
            </a:r>
            <a:r>
              <a:rPr sz="900" b="1" spc="-25" dirty="0">
                <a:latin typeface="Palatino Linotype"/>
                <a:cs typeface="Palatino Linotype"/>
              </a:rPr>
              <a:t>the</a:t>
            </a:r>
            <a:endParaRPr sz="900">
              <a:latin typeface="Palatino Linotype"/>
              <a:cs typeface="Palatino Linotyp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977890" y="6779514"/>
            <a:ext cx="566420" cy="358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1130" marR="5080" indent="-139065">
              <a:lnSpc>
                <a:spcPct val="121100"/>
              </a:lnSpc>
              <a:spcBef>
                <a:spcPts val="100"/>
              </a:spcBef>
            </a:pPr>
            <a:r>
              <a:rPr sz="900" b="1" spc="-10" dirty="0">
                <a:latin typeface="Palatino Linotype"/>
                <a:cs typeface="Palatino Linotype"/>
              </a:rPr>
              <a:t>Connector </a:t>
            </a:r>
            <a:r>
              <a:rPr sz="900" b="1" dirty="0">
                <a:latin typeface="Palatino Linotype"/>
                <a:cs typeface="Palatino Linotype"/>
              </a:rPr>
              <a:t>pin</a:t>
            </a:r>
            <a:r>
              <a:rPr sz="900" b="1" spc="-10" dirty="0">
                <a:latin typeface="Palatino Linotype"/>
                <a:cs typeface="Palatino Linotype"/>
              </a:rPr>
              <a:t> </a:t>
            </a:r>
            <a:r>
              <a:rPr sz="900" b="1" spc="-50" dirty="0">
                <a:latin typeface="Palatino Linotype"/>
                <a:cs typeface="Palatino Linotype"/>
              </a:rPr>
              <a:t>7</a:t>
            </a:r>
            <a:endParaRPr sz="900">
              <a:latin typeface="Palatino Linotype"/>
              <a:cs typeface="Palatino Linotype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750695" y="6441906"/>
            <a:ext cx="4255770" cy="2413635"/>
            <a:chOff x="1750695" y="6441906"/>
            <a:chExt cx="4255770" cy="2413635"/>
          </a:xfrm>
        </p:grpSpPr>
        <p:sp>
          <p:nvSpPr>
            <p:cNvPr id="12" name="object 12"/>
            <p:cNvSpPr/>
            <p:nvPr/>
          </p:nvSpPr>
          <p:spPr>
            <a:xfrm>
              <a:off x="2102364" y="6454606"/>
              <a:ext cx="1384935" cy="2388235"/>
            </a:xfrm>
            <a:custGeom>
              <a:avLst/>
              <a:gdLst/>
              <a:ahLst/>
              <a:cxnLst/>
              <a:rect l="l" t="t" r="r" b="b"/>
              <a:pathLst>
                <a:path w="1384935" h="2388234">
                  <a:moveTo>
                    <a:pt x="486403" y="1308522"/>
                  </a:moveTo>
                  <a:lnTo>
                    <a:pt x="450447" y="1243136"/>
                  </a:lnTo>
                  <a:lnTo>
                    <a:pt x="415601" y="1178337"/>
                  </a:lnTo>
                  <a:lnTo>
                    <a:pt x="381899" y="1114225"/>
                  </a:lnTo>
                  <a:lnTo>
                    <a:pt x="349376" y="1050898"/>
                  </a:lnTo>
                  <a:lnTo>
                    <a:pt x="318068" y="988456"/>
                  </a:lnTo>
                  <a:lnTo>
                    <a:pt x="288008" y="926998"/>
                  </a:lnTo>
                  <a:lnTo>
                    <a:pt x="259232" y="866624"/>
                  </a:lnTo>
                  <a:lnTo>
                    <a:pt x="231773" y="807432"/>
                  </a:lnTo>
                  <a:lnTo>
                    <a:pt x="205668" y="749523"/>
                  </a:lnTo>
                  <a:lnTo>
                    <a:pt x="180950" y="692995"/>
                  </a:lnTo>
                  <a:lnTo>
                    <a:pt x="157654" y="637949"/>
                  </a:lnTo>
                  <a:lnTo>
                    <a:pt x="135814" y="584482"/>
                  </a:lnTo>
                  <a:lnTo>
                    <a:pt x="115467" y="532695"/>
                  </a:lnTo>
                  <a:lnTo>
                    <a:pt x="96645" y="482686"/>
                  </a:lnTo>
                  <a:lnTo>
                    <a:pt x="79384" y="434556"/>
                  </a:lnTo>
                  <a:lnTo>
                    <a:pt x="63719" y="388403"/>
                  </a:lnTo>
                  <a:lnTo>
                    <a:pt x="49684" y="344326"/>
                  </a:lnTo>
                  <a:lnTo>
                    <a:pt x="37314" y="302426"/>
                  </a:lnTo>
                  <a:lnTo>
                    <a:pt x="26644" y="262801"/>
                  </a:lnTo>
                  <a:lnTo>
                    <a:pt x="17708" y="225551"/>
                  </a:lnTo>
                  <a:lnTo>
                    <a:pt x="5177" y="158571"/>
                  </a:lnTo>
                  <a:lnTo>
                    <a:pt x="0" y="102282"/>
                  </a:lnTo>
                  <a:lnTo>
                    <a:pt x="255" y="78395"/>
                  </a:lnTo>
                  <a:lnTo>
                    <a:pt x="6628" y="39631"/>
                  </a:lnTo>
                  <a:lnTo>
                    <a:pt x="31362" y="5502"/>
                  </a:lnTo>
                  <a:lnTo>
                    <a:pt x="57689" y="0"/>
                  </a:lnTo>
                  <a:lnTo>
                    <a:pt x="73429" y="2485"/>
                  </a:lnTo>
                  <a:lnTo>
                    <a:pt x="109732" y="17521"/>
                  </a:lnTo>
                  <a:lnTo>
                    <a:pt x="152026" y="45430"/>
                  </a:lnTo>
                  <a:lnTo>
                    <a:pt x="199783" y="85555"/>
                  </a:lnTo>
                  <a:lnTo>
                    <a:pt x="252475" y="137243"/>
                  </a:lnTo>
                  <a:lnTo>
                    <a:pt x="280506" y="167217"/>
                  </a:lnTo>
                  <a:lnTo>
                    <a:pt x="309572" y="199835"/>
                  </a:lnTo>
                  <a:lnTo>
                    <a:pt x="339608" y="235017"/>
                  </a:lnTo>
                  <a:lnTo>
                    <a:pt x="370548" y="272678"/>
                  </a:lnTo>
                  <a:lnTo>
                    <a:pt x="402324" y="312739"/>
                  </a:lnTo>
                  <a:lnTo>
                    <a:pt x="434872" y="355116"/>
                  </a:lnTo>
                  <a:lnTo>
                    <a:pt x="468126" y="399727"/>
                  </a:lnTo>
                  <a:lnTo>
                    <a:pt x="502018" y="446492"/>
                  </a:lnTo>
                  <a:lnTo>
                    <a:pt x="536484" y="495327"/>
                  </a:lnTo>
                  <a:lnTo>
                    <a:pt x="571457" y="546151"/>
                  </a:lnTo>
                  <a:lnTo>
                    <a:pt x="606871" y="598882"/>
                  </a:lnTo>
                  <a:lnTo>
                    <a:pt x="642660" y="653438"/>
                  </a:lnTo>
                  <a:lnTo>
                    <a:pt x="678758" y="709736"/>
                  </a:lnTo>
                  <a:lnTo>
                    <a:pt x="715099" y="767696"/>
                  </a:lnTo>
                  <a:lnTo>
                    <a:pt x="751617" y="827235"/>
                  </a:lnTo>
                  <a:lnTo>
                    <a:pt x="788246" y="888271"/>
                  </a:lnTo>
                  <a:lnTo>
                    <a:pt x="824919" y="950722"/>
                  </a:lnTo>
                  <a:lnTo>
                    <a:pt x="861572" y="1014506"/>
                  </a:lnTo>
                  <a:lnTo>
                    <a:pt x="898137" y="1079541"/>
                  </a:lnTo>
                  <a:lnTo>
                    <a:pt x="934094" y="1144915"/>
                  </a:lnTo>
                  <a:lnTo>
                    <a:pt x="968940" y="1209704"/>
                  </a:lnTo>
                  <a:lnTo>
                    <a:pt x="1002642" y="1273808"/>
                  </a:lnTo>
                  <a:lnTo>
                    <a:pt x="1035164" y="1337127"/>
                  </a:lnTo>
                  <a:lnTo>
                    <a:pt x="1066473" y="1399563"/>
                  </a:lnTo>
                  <a:lnTo>
                    <a:pt x="1096533" y="1461016"/>
                  </a:lnTo>
                  <a:lnTo>
                    <a:pt x="1125309" y="1521386"/>
                  </a:lnTo>
                  <a:lnTo>
                    <a:pt x="1152767" y="1580575"/>
                  </a:lnTo>
                  <a:lnTo>
                    <a:pt x="1178873" y="1638482"/>
                  </a:lnTo>
                  <a:lnTo>
                    <a:pt x="1203591" y="1695008"/>
                  </a:lnTo>
                  <a:lnTo>
                    <a:pt x="1226887" y="1750055"/>
                  </a:lnTo>
                  <a:lnTo>
                    <a:pt x="1248726" y="1803522"/>
                  </a:lnTo>
                  <a:lnTo>
                    <a:pt x="1269074" y="1855309"/>
                  </a:lnTo>
                  <a:lnTo>
                    <a:pt x="1287896" y="1905319"/>
                  </a:lnTo>
                  <a:lnTo>
                    <a:pt x="1305157" y="1953450"/>
                  </a:lnTo>
                  <a:lnTo>
                    <a:pt x="1320822" y="1999605"/>
                  </a:lnTo>
                  <a:lnTo>
                    <a:pt x="1334857" y="2043682"/>
                  </a:lnTo>
                  <a:lnTo>
                    <a:pt x="1347227" y="2085584"/>
                  </a:lnTo>
                  <a:lnTo>
                    <a:pt x="1357897" y="2125210"/>
                  </a:lnTo>
                  <a:lnTo>
                    <a:pt x="1366833" y="2162462"/>
                  </a:lnTo>
                  <a:lnTo>
                    <a:pt x="1379364" y="2229442"/>
                  </a:lnTo>
                  <a:lnTo>
                    <a:pt x="1384541" y="2285730"/>
                  </a:lnTo>
                  <a:lnTo>
                    <a:pt x="1384286" y="2309615"/>
                  </a:lnTo>
                  <a:lnTo>
                    <a:pt x="1377913" y="2348373"/>
                  </a:lnTo>
                  <a:lnTo>
                    <a:pt x="1353178" y="2382485"/>
                  </a:lnTo>
                  <a:lnTo>
                    <a:pt x="1326852" y="2387986"/>
                  </a:lnTo>
                  <a:lnTo>
                    <a:pt x="1311112" y="2385501"/>
                  </a:lnTo>
                  <a:lnTo>
                    <a:pt x="1274809" y="2370467"/>
                  </a:lnTo>
                  <a:lnTo>
                    <a:pt x="1232514" y="2342562"/>
                  </a:lnTo>
                  <a:lnTo>
                    <a:pt x="1184757" y="2302442"/>
                  </a:lnTo>
                  <a:lnTo>
                    <a:pt x="1132066" y="2250762"/>
                  </a:lnTo>
                  <a:lnTo>
                    <a:pt x="1104035" y="2220791"/>
                  </a:lnTo>
                  <a:lnTo>
                    <a:pt x="1074968" y="2188177"/>
                  </a:lnTo>
                  <a:lnTo>
                    <a:pt x="1044932" y="2153000"/>
                  </a:lnTo>
                  <a:lnTo>
                    <a:pt x="1013993" y="2115342"/>
                  </a:lnTo>
                  <a:lnTo>
                    <a:pt x="982216" y="2075286"/>
                  </a:lnTo>
                  <a:lnTo>
                    <a:pt x="949669" y="2032913"/>
                  </a:lnTo>
                  <a:lnTo>
                    <a:pt x="916415" y="1988305"/>
                  </a:lnTo>
                  <a:lnTo>
                    <a:pt x="882523" y="1941545"/>
                  </a:lnTo>
                  <a:lnTo>
                    <a:pt x="848057" y="1892714"/>
                  </a:lnTo>
                  <a:lnTo>
                    <a:pt x="813084" y="1841893"/>
                  </a:lnTo>
                  <a:lnTo>
                    <a:pt x="777670" y="1789166"/>
                  </a:lnTo>
                  <a:lnTo>
                    <a:pt x="741881" y="1734613"/>
                  </a:lnTo>
                  <a:lnTo>
                    <a:pt x="705783" y="1678318"/>
                  </a:lnTo>
                  <a:lnTo>
                    <a:pt x="669442" y="1620360"/>
                  </a:lnTo>
                  <a:lnTo>
                    <a:pt x="632924" y="1560824"/>
                  </a:lnTo>
                  <a:lnTo>
                    <a:pt x="596295" y="1499790"/>
                  </a:lnTo>
                  <a:lnTo>
                    <a:pt x="559621" y="1437340"/>
                  </a:lnTo>
                  <a:lnTo>
                    <a:pt x="522969" y="1373557"/>
                  </a:lnTo>
                  <a:lnTo>
                    <a:pt x="486403" y="1308522"/>
                  </a:lnTo>
                  <a:close/>
                </a:path>
              </a:pathLst>
            </a:custGeom>
            <a:ln w="254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760220" y="7438135"/>
              <a:ext cx="4236720" cy="1226820"/>
            </a:xfrm>
            <a:custGeom>
              <a:avLst/>
              <a:gdLst/>
              <a:ahLst/>
              <a:cxnLst/>
              <a:rect l="l" t="t" r="r" b="b"/>
              <a:pathLst>
                <a:path w="4236720" h="1226820">
                  <a:moveTo>
                    <a:pt x="4236720" y="609599"/>
                  </a:moveTo>
                  <a:lnTo>
                    <a:pt x="1920240" y="297179"/>
                  </a:lnTo>
                </a:path>
                <a:path w="4236720" h="1226820">
                  <a:moveTo>
                    <a:pt x="4236720" y="98424"/>
                  </a:moveTo>
                  <a:lnTo>
                    <a:pt x="2171700" y="53339"/>
                  </a:lnTo>
                </a:path>
                <a:path w="4236720" h="1226820">
                  <a:moveTo>
                    <a:pt x="655319" y="0"/>
                  </a:moveTo>
                  <a:lnTo>
                    <a:pt x="0" y="99059"/>
                  </a:lnTo>
                </a:path>
                <a:path w="4236720" h="1226820">
                  <a:moveTo>
                    <a:pt x="1619250" y="1226819"/>
                  </a:moveTo>
                  <a:lnTo>
                    <a:pt x="15240" y="998219"/>
                  </a:lnTo>
                </a:path>
                <a:path w="4236720" h="1226820">
                  <a:moveTo>
                    <a:pt x="4236720" y="1054099"/>
                  </a:moveTo>
                  <a:lnTo>
                    <a:pt x="1691640" y="410844"/>
                  </a:lnTo>
                </a:path>
                <a:path w="4236720" h="1226820">
                  <a:moveTo>
                    <a:pt x="4221480" y="1054099"/>
                  </a:moveTo>
                  <a:lnTo>
                    <a:pt x="1272540" y="563244"/>
                  </a:lnTo>
                </a:path>
              </a:pathLst>
            </a:custGeom>
            <a:ln w="190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029705" y="7366254"/>
            <a:ext cx="463550" cy="35814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71755">
              <a:lnSpc>
                <a:spcPct val="100000"/>
              </a:lnSpc>
              <a:spcBef>
                <a:spcPts val="325"/>
              </a:spcBef>
            </a:pPr>
            <a:r>
              <a:rPr sz="900" b="1" dirty="0">
                <a:latin typeface="Palatino Linotype"/>
                <a:cs typeface="Palatino Linotype"/>
              </a:rPr>
              <a:t>LED</a:t>
            </a:r>
            <a:r>
              <a:rPr sz="900" b="1" spc="-45" dirty="0">
                <a:latin typeface="Palatino Linotype"/>
                <a:cs typeface="Palatino Linotype"/>
              </a:rPr>
              <a:t> </a:t>
            </a:r>
            <a:r>
              <a:rPr sz="900" b="1" spc="-50" dirty="0">
                <a:latin typeface="Palatino Linotype"/>
                <a:cs typeface="Palatino Linotype"/>
              </a:rPr>
              <a:t>7</a:t>
            </a:r>
            <a:endParaRPr sz="90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900" b="1" spc="-10" dirty="0">
                <a:latin typeface="Palatino Linotype"/>
                <a:cs typeface="Palatino Linotype"/>
              </a:rPr>
              <a:t>Cathode</a:t>
            </a:r>
            <a:endParaRPr sz="900">
              <a:latin typeface="Palatino Linotype"/>
              <a:cs typeface="Palatino Linotype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20"/>
              </a:lnSpc>
            </a:pPr>
            <a:r>
              <a:rPr spc="-10" dirty="0"/>
              <a:t>-</a:t>
            </a:r>
            <a:fld id="{81D60167-4931-47E6-BA6A-407CBD079E47}" type="slidenum">
              <a:rPr spc="-25" dirty="0"/>
              <a:t>2</a:t>
            </a:fld>
            <a:r>
              <a:rPr spc="-25" dirty="0"/>
              <a:t>-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052565" y="7863078"/>
            <a:ext cx="374650" cy="35814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27305">
              <a:lnSpc>
                <a:spcPct val="100000"/>
              </a:lnSpc>
              <a:spcBef>
                <a:spcPts val="325"/>
              </a:spcBef>
            </a:pPr>
            <a:r>
              <a:rPr sz="900" b="1" dirty="0">
                <a:latin typeface="Palatino Linotype"/>
                <a:cs typeface="Palatino Linotype"/>
              </a:rPr>
              <a:t>LED</a:t>
            </a:r>
            <a:r>
              <a:rPr sz="900" b="1" spc="-45" dirty="0">
                <a:latin typeface="Palatino Linotype"/>
                <a:cs typeface="Palatino Linotype"/>
              </a:rPr>
              <a:t> </a:t>
            </a:r>
            <a:r>
              <a:rPr sz="900" b="1" spc="-50" dirty="0">
                <a:latin typeface="Palatino Linotype"/>
                <a:cs typeface="Palatino Linotype"/>
              </a:rPr>
              <a:t>7</a:t>
            </a:r>
            <a:endParaRPr sz="90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900" b="1" spc="-20" dirty="0">
                <a:latin typeface="Palatino Linotype"/>
                <a:cs typeface="Palatino Linotype"/>
              </a:rPr>
              <a:t>Anode</a:t>
            </a:r>
            <a:endParaRPr sz="900">
              <a:latin typeface="Palatino Linotype"/>
              <a:cs typeface="Palatino Linotype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39748" y="8099297"/>
            <a:ext cx="572135" cy="5270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17780" algn="just">
              <a:lnSpc>
                <a:spcPct val="121700"/>
              </a:lnSpc>
              <a:spcBef>
                <a:spcPts val="105"/>
              </a:spcBef>
            </a:pPr>
            <a:r>
              <a:rPr sz="900" b="1" dirty="0">
                <a:latin typeface="Palatino Linotype"/>
                <a:cs typeface="Palatino Linotype"/>
              </a:rPr>
              <a:t>5V </a:t>
            </a:r>
            <a:r>
              <a:rPr sz="900" b="1" spc="-10" dirty="0">
                <a:latin typeface="Palatino Linotype"/>
                <a:cs typeface="Palatino Linotype"/>
              </a:rPr>
              <a:t>source </a:t>
            </a:r>
            <a:r>
              <a:rPr sz="900" b="1" dirty="0">
                <a:latin typeface="Palatino Linotype"/>
                <a:cs typeface="Palatino Linotype"/>
              </a:rPr>
              <a:t>(see</a:t>
            </a:r>
            <a:r>
              <a:rPr sz="900" b="1" spc="-5" dirty="0">
                <a:latin typeface="Palatino Linotype"/>
                <a:cs typeface="Palatino Linotype"/>
              </a:rPr>
              <a:t> </a:t>
            </a:r>
            <a:r>
              <a:rPr sz="900" b="1" spc="-10" dirty="0">
                <a:latin typeface="Palatino Linotype"/>
                <a:cs typeface="Palatino Linotype"/>
              </a:rPr>
              <a:t>front </a:t>
            </a:r>
            <a:r>
              <a:rPr sz="900" b="1" dirty="0">
                <a:latin typeface="Palatino Linotype"/>
                <a:cs typeface="Palatino Linotype"/>
              </a:rPr>
              <a:t>side</a:t>
            </a:r>
            <a:r>
              <a:rPr sz="900" b="1" spc="-10" dirty="0">
                <a:latin typeface="Palatino Linotype"/>
                <a:cs typeface="Palatino Linotype"/>
              </a:rPr>
              <a:t> </a:t>
            </a:r>
            <a:r>
              <a:rPr sz="900" b="1" dirty="0">
                <a:latin typeface="Palatino Linotype"/>
                <a:cs typeface="Palatino Linotype"/>
              </a:rPr>
              <a:t>of</a:t>
            </a:r>
            <a:r>
              <a:rPr sz="900" b="1" spc="-10" dirty="0">
                <a:latin typeface="Palatino Linotype"/>
                <a:cs typeface="Palatino Linotype"/>
              </a:rPr>
              <a:t> </a:t>
            </a:r>
            <a:r>
              <a:rPr sz="900" b="1" spc="-25" dirty="0">
                <a:latin typeface="Palatino Linotype"/>
                <a:cs typeface="Palatino Linotype"/>
              </a:rPr>
              <a:t>the</a:t>
            </a:r>
            <a:endParaRPr sz="900">
              <a:latin typeface="Palatino Linotype"/>
              <a:cs typeface="Palatino Linotype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043421" y="8326373"/>
            <a:ext cx="412750" cy="523875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74930">
              <a:lnSpc>
                <a:spcPct val="100000"/>
              </a:lnSpc>
              <a:spcBef>
                <a:spcPts val="325"/>
              </a:spcBef>
            </a:pPr>
            <a:r>
              <a:rPr sz="900" b="1" spc="-20" dirty="0">
                <a:latin typeface="Palatino Linotype"/>
                <a:cs typeface="Palatino Linotype"/>
              </a:rPr>
              <a:t>220</a:t>
            </a:r>
            <a:r>
              <a:rPr sz="900" spc="-20" dirty="0">
                <a:latin typeface="Palatino Linotype"/>
                <a:cs typeface="Palatino Linotype"/>
              </a:rPr>
              <a:t>Ω</a:t>
            </a:r>
            <a:endParaRPr sz="900">
              <a:latin typeface="Palatino Linotype"/>
              <a:cs typeface="Palatino Linotype"/>
            </a:endParaRPr>
          </a:p>
          <a:p>
            <a:pPr marL="68580" marR="5080" indent="-56515">
              <a:lnSpc>
                <a:spcPct val="121100"/>
              </a:lnSpc>
            </a:pPr>
            <a:r>
              <a:rPr sz="900" b="1" spc="-10" dirty="0">
                <a:latin typeface="Palatino Linotype"/>
                <a:cs typeface="Palatino Linotype"/>
              </a:rPr>
              <a:t>resistor leads</a:t>
            </a:r>
            <a:endParaRPr sz="90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20"/>
              </a:lnSpc>
            </a:pPr>
            <a:r>
              <a:rPr spc="-10" dirty="0"/>
              <a:t>-</a:t>
            </a:r>
            <a:fld id="{81D60167-4931-47E6-BA6A-407CBD079E47}" type="slidenum">
              <a:rPr spc="-25" dirty="0"/>
              <a:t>3</a:t>
            </a:fld>
            <a:r>
              <a:rPr spc="-25" dirty="0"/>
              <a:t>-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902004" y="404875"/>
            <a:ext cx="5971540" cy="5758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414645" algn="l"/>
              </a:tabLst>
            </a:pPr>
            <a:r>
              <a:rPr sz="1100" b="1" dirty="0">
                <a:latin typeface="Palatino Linotype"/>
                <a:cs typeface="Palatino Linotype"/>
              </a:rPr>
              <a:t>EECE</a:t>
            </a:r>
            <a:r>
              <a:rPr sz="1100" b="1" spc="-15" dirty="0">
                <a:latin typeface="Palatino Linotype"/>
                <a:cs typeface="Palatino Linotype"/>
              </a:rPr>
              <a:t> </a:t>
            </a:r>
            <a:r>
              <a:rPr sz="1100" b="1" dirty="0">
                <a:latin typeface="Palatino Linotype"/>
                <a:cs typeface="Palatino Linotype"/>
              </a:rPr>
              <a:t>3624:</a:t>
            </a:r>
            <a:r>
              <a:rPr sz="1100" b="1" spc="-15" dirty="0">
                <a:latin typeface="Palatino Linotype"/>
                <a:cs typeface="Palatino Linotype"/>
              </a:rPr>
              <a:t> </a:t>
            </a:r>
            <a:r>
              <a:rPr sz="1100" b="1" spc="-10" dirty="0">
                <a:latin typeface="Palatino Linotype"/>
                <a:cs typeface="Palatino Linotype"/>
              </a:rPr>
              <a:t>Microprocessors</a:t>
            </a:r>
            <a:r>
              <a:rPr sz="1100" b="1" dirty="0">
                <a:latin typeface="Palatino Linotype"/>
                <a:cs typeface="Palatino Linotype"/>
              </a:rPr>
              <a:t>	</a:t>
            </a:r>
            <a:r>
              <a:rPr sz="1100" dirty="0">
                <a:latin typeface="Palatino Linotype"/>
                <a:cs typeface="Palatino Linotype"/>
              </a:rPr>
              <a:t>Fall</a:t>
            </a:r>
            <a:r>
              <a:rPr sz="1100" spc="-20" dirty="0">
                <a:latin typeface="Palatino Linotype"/>
                <a:cs typeface="Palatino Linotype"/>
              </a:rPr>
              <a:t> 2023</a:t>
            </a:r>
            <a:endParaRPr sz="1100">
              <a:latin typeface="Palatino Linotype"/>
              <a:cs typeface="Palatino Linotype"/>
            </a:endParaRPr>
          </a:p>
          <a:p>
            <a:pPr marL="12700" marR="334010">
              <a:lnSpc>
                <a:spcPct val="121800"/>
              </a:lnSpc>
              <a:spcBef>
                <a:spcPts val="894"/>
              </a:spcBef>
            </a:pPr>
            <a:r>
              <a:rPr sz="1200" dirty="0">
                <a:latin typeface="Palatino Linotype"/>
                <a:cs typeface="Palatino Linotype"/>
              </a:rPr>
              <a:t>If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you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had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to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add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resistors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to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your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board,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show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your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work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to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your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instructor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spc="-10" dirty="0">
                <a:latin typeface="Palatino Linotype"/>
                <a:cs typeface="Palatino Linotype"/>
              </a:rPr>
              <a:t>before continuing.</a:t>
            </a:r>
            <a:endParaRPr sz="120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1520"/>
              </a:spcBef>
            </a:pPr>
            <a:r>
              <a:rPr sz="1600" b="1" dirty="0">
                <a:solidFill>
                  <a:srgbClr val="006FC0"/>
                </a:solidFill>
                <a:latin typeface="Palatino Linotype"/>
                <a:cs typeface="Palatino Linotype"/>
              </a:rPr>
              <a:t>Software</a:t>
            </a:r>
            <a:r>
              <a:rPr sz="1600" b="1" spc="-65" dirty="0">
                <a:solidFill>
                  <a:srgbClr val="006FC0"/>
                </a:solidFill>
                <a:latin typeface="Palatino Linotype"/>
                <a:cs typeface="Palatino Linotype"/>
              </a:rPr>
              <a:t> </a:t>
            </a:r>
            <a:r>
              <a:rPr sz="1600" b="1" spc="-10" dirty="0">
                <a:solidFill>
                  <a:srgbClr val="006FC0"/>
                </a:solidFill>
                <a:latin typeface="Palatino Linotype"/>
                <a:cs typeface="Palatino Linotype"/>
              </a:rPr>
              <a:t>Architecture</a:t>
            </a:r>
            <a:endParaRPr sz="1600">
              <a:latin typeface="Palatino Linotype"/>
              <a:cs typeface="Palatino Linotype"/>
            </a:endParaRPr>
          </a:p>
          <a:p>
            <a:pPr marL="12700" marR="7620">
              <a:lnSpc>
                <a:spcPct val="121400"/>
              </a:lnSpc>
              <a:spcBef>
                <a:spcPts val="680"/>
              </a:spcBef>
            </a:pPr>
            <a:r>
              <a:rPr sz="1200" dirty="0">
                <a:latin typeface="Palatino Linotype"/>
                <a:cs typeface="Palatino Linotype"/>
              </a:rPr>
              <a:t>You’ll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be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using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the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ReadyAVR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b="1" dirty="0">
                <a:latin typeface="Palatino Linotype"/>
                <a:cs typeface="Palatino Linotype"/>
              </a:rPr>
              <a:t>joystick</a:t>
            </a:r>
            <a:r>
              <a:rPr sz="1200" b="1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again,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but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instead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of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controlling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the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blink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rate</a:t>
            </a:r>
            <a:r>
              <a:rPr sz="1200" spc="-25" dirty="0">
                <a:latin typeface="Palatino Linotype"/>
                <a:cs typeface="Palatino Linotype"/>
              </a:rPr>
              <a:t> of </a:t>
            </a:r>
            <a:r>
              <a:rPr sz="1200" dirty="0">
                <a:latin typeface="Palatino Linotype"/>
                <a:cs typeface="Palatino Linotype"/>
              </a:rPr>
              <a:t>an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LED,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you’ll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use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the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joystick’s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b="1" dirty="0">
                <a:latin typeface="Palatino Linotype"/>
                <a:cs typeface="Palatino Linotype"/>
              </a:rPr>
              <a:t>center</a:t>
            </a:r>
            <a:r>
              <a:rPr sz="1200" b="1" spc="-25" dirty="0">
                <a:latin typeface="Palatino Linotype"/>
                <a:cs typeface="Palatino Linotype"/>
              </a:rPr>
              <a:t> </a:t>
            </a:r>
            <a:r>
              <a:rPr sz="1200" b="1" dirty="0">
                <a:latin typeface="Palatino Linotype"/>
                <a:cs typeface="Palatino Linotype"/>
              </a:rPr>
              <a:t>switch</a:t>
            </a:r>
            <a:r>
              <a:rPr sz="1200" b="1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to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change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between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four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spc="-10" dirty="0">
                <a:latin typeface="Palatino Linotype"/>
                <a:cs typeface="Palatino Linotype"/>
              </a:rPr>
              <a:t>predefined </a:t>
            </a:r>
            <a:r>
              <a:rPr sz="1200" dirty="0">
                <a:latin typeface="Palatino Linotype"/>
                <a:cs typeface="Palatino Linotype"/>
              </a:rPr>
              <a:t>flashing</a:t>
            </a:r>
            <a:r>
              <a:rPr sz="1200" spc="-3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patterns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for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the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eight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LEDs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externally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connected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to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b="1" dirty="0">
                <a:latin typeface="Palatino Linotype"/>
                <a:cs typeface="Palatino Linotype"/>
              </a:rPr>
              <a:t>PORTA</a:t>
            </a:r>
            <a:r>
              <a:rPr sz="1200" b="1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of</a:t>
            </a:r>
            <a:r>
              <a:rPr sz="1200" spc="-25" dirty="0">
                <a:latin typeface="Palatino Linotype"/>
                <a:cs typeface="Palatino Linotype"/>
              </a:rPr>
              <a:t> the</a:t>
            </a:r>
            <a:r>
              <a:rPr sz="1200" spc="500" dirty="0">
                <a:latin typeface="Palatino Linotype"/>
                <a:cs typeface="Palatino Linotype"/>
              </a:rPr>
              <a:t> </a:t>
            </a:r>
            <a:r>
              <a:rPr sz="1200" spc="-10" dirty="0">
                <a:latin typeface="Palatino Linotype"/>
                <a:cs typeface="Palatino Linotype"/>
              </a:rPr>
              <a:t>ATmega128A.</a:t>
            </a:r>
            <a:endParaRPr sz="120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915"/>
              </a:spcBef>
            </a:pPr>
            <a:r>
              <a:rPr sz="1200" dirty="0">
                <a:latin typeface="Palatino Linotype"/>
                <a:cs typeface="Palatino Linotype"/>
              </a:rPr>
              <a:t>The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patterns</a:t>
            </a:r>
            <a:r>
              <a:rPr sz="1200" spc="-35" dirty="0">
                <a:latin typeface="Palatino Linotype"/>
                <a:cs typeface="Palatino Linotype"/>
              </a:rPr>
              <a:t> </a:t>
            </a:r>
            <a:r>
              <a:rPr sz="1200" spc="-20" dirty="0">
                <a:latin typeface="Palatino Linotype"/>
                <a:cs typeface="Palatino Linotype"/>
              </a:rPr>
              <a:t>are:</a:t>
            </a:r>
            <a:endParaRPr sz="1200">
              <a:latin typeface="Palatino Linotype"/>
              <a:cs typeface="Palatino Linotype"/>
            </a:endParaRPr>
          </a:p>
          <a:p>
            <a:pPr marL="469265" indent="-227965">
              <a:lnSpc>
                <a:spcPct val="100000"/>
              </a:lnSpc>
              <a:spcBef>
                <a:spcPts val="900"/>
              </a:spcBef>
              <a:buAutoNum type="arabicPeriod"/>
              <a:tabLst>
                <a:tab pos="469265" algn="l"/>
              </a:tabLst>
            </a:pPr>
            <a:r>
              <a:rPr sz="1200" dirty="0">
                <a:latin typeface="Palatino Linotype"/>
                <a:cs typeface="Palatino Linotype"/>
              </a:rPr>
              <a:t>Low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to</a:t>
            </a:r>
            <a:r>
              <a:rPr sz="1200" spc="-1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high</a:t>
            </a:r>
            <a:r>
              <a:rPr sz="1200" spc="-1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(A0</a:t>
            </a:r>
            <a:r>
              <a:rPr sz="1200" spc="-1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to</a:t>
            </a:r>
            <a:r>
              <a:rPr sz="1200" spc="-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A7,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with</a:t>
            </a:r>
            <a:r>
              <a:rPr sz="1200" spc="-1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only</a:t>
            </a:r>
            <a:r>
              <a:rPr sz="1200" spc="-1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one</a:t>
            </a:r>
            <a:r>
              <a:rPr sz="1200" spc="-1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LED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on</a:t>
            </a:r>
            <a:r>
              <a:rPr sz="1200" spc="-1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at</a:t>
            </a:r>
            <a:r>
              <a:rPr sz="1200" spc="-1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a</a:t>
            </a:r>
            <a:r>
              <a:rPr sz="1200" spc="-10" dirty="0">
                <a:latin typeface="Palatino Linotype"/>
                <a:cs typeface="Palatino Linotype"/>
              </a:rPr>
              <a:t> time).</a:t>
            </a:r>
            <a:endParaRPr sz="1200">
              <a:latin typeface="Palatino Linotype"/>
              <a:cs typeface="Palatino Linotype"/>
            </a:endParaRPr>
          </a:p>
          <a:p>
            <a:pPr marL="469265" indent="-227965">
              <a:lnSpc>
                <a:spcPct val="100000"/>
              </a:lnSpc>
              <a:spcBef>
                <a:spcPts val="315"/>
              </a:spcBef>
              <a:buAutoNum type="arabicPeriod"/>
              <a:tabLst>
                <a:tab pos="469265" algn="l"/>
              </a:tabLst>
            </a:pPr>
            <a:r>
              <a:rPr sz="1200" dirty="0">
                <a:latin typeface="Palatino Linotype"/>
                <a:cs typeface="Palatino Linotype"/>
              </a:rPr>
              <a:t>High</a:t>
            </a:r>
            <a:r>
              <a:rPr sz="1200" spc="-1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to</a:t>
            </a:r>
            <a:r>
              <a:rPr sz="1200" spc="-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low</a:t>
            </a:r>
            <a:r>
              <a:rPr sz="1200" spc="-1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(A7</a:t>
            </a:r>
            <a:r>
              <a:rPr sz="1200" spc="-1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to</a:t>
            </a:r>
            <a:r>
              <a:rPr sz="1200" spc="-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A0,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with</a:t>
            </a:r>
            <a:r>
              <a:rPr sz="1200" spc="-1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only</a:t>
            </a:r>
            <a:r>
              <a:rPr sz="1200" spc="-1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one</a:t>
            </a:r>
            <a:r>
              <a:rPr sz="1200" spc="-1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LED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on</a:t>
            </a:r>
            <a:r>
              <a:rPr sz="1200" spc="-1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at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a</a:t>
            </a:r>
            <a:r>
              <a:rPr sz="1200" spc="-10" dirty="0">
                <a:latin typeface="Palatino Linotype"/>
                <a:cs typeface="Palatino Linotype"/>
              </a:rPr>
              <a:t> time).</a:t>
            </a:r>
            <a:endParaRPr sz="1200">
              <a:latin typeface="Palatino Linotype"/>
              <a:cs typeface="Palatino Linotype"/>
            </a:endParaRPr>
          </a:p>
          <a:p>
            <a:pPr marL="469265" marR="182880" indent="-228600">
              <a:lnSpc>
                <a:spcPts val="1750"/>
              </a:lnSpc>
              <a:spcBef>
                <a:spcPts val="100"/>
              </a:spcBef>
              <a:buAutoNum type="arabicPeriod"/>
              <a:tabLst>
                <a:tab pos="469265" algn="l"/>
              </a:tabLst>
            </a:pPr>
            <a:r>
              <a:rPr sz="1200" dirty="0">
                <a:latin typeface="Palatino Linotype"/>
                <a:cs typeface="Palatino Linotype"/>
              </a:rPr>
              <a:t>Back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and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forth</a:t>
            </a:r>
            <a:r>
              <a:rPr sz="1200" spc="-1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(A0</a:t>
            </a:r>
            <a:r>
              <a:rPr sz="1200" spc="-1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to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A7</a:t>
            </a:r>
            <a:r>
              <a:rPr sz="1200" spc="-1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to</a:t>
            </a:r>
            <a:r>
              <a:rPr sz="1200" spc="-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A0,</a:t>
            </a:r>
            <a:r>
              <a:rPr sz="1200" spc="-1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with</a:t>
            </a:r>
            <a:r>
              <a:rPr sz="1200" spc="-1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only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one</a:t>
            </a:r>
            <a:r>
              <a:rPr sz="1200" spc="-1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LED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on</a:t>
            </a:r>
            <a:r>
              <a:rPr sz="1200" spc="-1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at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a</a:t>
            </a:r>
            <a:r>
              <a:rPr sz="1200" spc="-1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time).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Do</a:t>
            </a:r>
            <a:r>
              <a:rPr sz="1200" spc="-5" dirty="0">
                <a:latin typeface="Palatino Linotype"/>
                <a:cs typeface="Palatino Linotype"/>
              </a:rPr>
              <a:t> </a:t>
            </a:r>
            <a:r>
              <a:rPr sz="1200" b="1" u="sng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not</a:t>
            </a:r>
            <a:r>
              <a:rPr sz="1200" b="1" u="none" spc="-15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let</a:t>
            </a:r>
            <a:r>
              <a:rPr sz="1200" u="none" spc="-10" dirty="0">
                <a:latin typeface="Palatino Linotype"/>
                <a:cs typeface="Palatino Linotype"/>
              </a:rPr>
              <a:t> </a:t>
            </a:r>
            <a:r>
              <a:rPr sz="1200" u="none" spc="-25" dirty="0">
                <a:latin typeface="Palatino Linotype"/>
                <a:cs typeface="Palatino Linotype"/>
              </a:rPr>
              <a:t>the </a:t>
            </a:r>
            <a:r>
              <a:rPr sz="1200" u="none" dirty="0">
                <a:latin typeface="Palatino Linotype"/>
                <a:cs typeface="Palatino Linotype"/>
              </a:rPr>
              <a:t>LEDs</a:t>
            </a:r>
            <a:r>
              <a:rPr sz="1200" u="none" spc="-30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on</a:t>
            </a:r>
            <a:r>
              <a:rPr sz="1200" u="none" spc="-20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each</a:t>
            </a:r>
            <a:r>
              <a:rPr sz="1200" u="none" spc="-20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end</a:t>
            </a:r>
            <a:r>
              <a:rPr sz="1200" u="none" spc="-15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stay</a:t>
            </a:r>
            <a:r>
              <a:rPr sz="1200" u="none" spc="-25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on</a:t>
            </a:r>
            <a:r>
              <a:rPr sz="1200" u="none" spc="-20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for</a:t>
            </a:r>
            <a:r>
              <a:rPr sz="1200" u="none" spc="-20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double</a:t>
            </a:r>
            <a:r>
              <a:rPr sz="1200" u="none" spc="-20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the</a:t>
            </a:r>
            <a:r>
              <a:rPr sz="1200" u="none" spc="-20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amount</a:t>
            </a:r>
            <a:r>
              <a:rPr sz="1200" u="none" spc="-25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of</a:t>
            </a:r>
            <a:r>
              <a:rPr sz="1200" u="none" spc="-20" dirty="0">
                <a:latin typeface="Palatino Linotype"/>
                <a:cs typeface="Palatino Linotype"/>
              </a:rPr>
              <a:t> </a:t>
            </a:r>
            <a:r>
              <a:rPr sz="1200" u="none" spc="-10" dirty="0">
                <a:latin typeface="Palatino Linotype"/>
                <a:cs typeface="Palatino Linotype"/>
              </a:rPr>
              <a:t>time!</a:t>
            </a:r>
            <a:endParaRPr sz="1200">
              <a:latin typeface="Palatino Linotype"/>
              <a:cs typeface="Palatino Linotype"/>
            </a:endParaRPr>
          </a:p>
          <a:p>
            <a:pPr marL="469265" marR="132080" indent="-228600">
              <a:lnSpc>
                <a:spcPts val="1739"/>
              </a:lnSpc>
              <a:spcBef>
                <a:spcPts val="10"/>
              </a:spcBef>
              <a:buAutoNum type="arabicPeriod"/>
              <a:tabLst>
                <a:tab pos="469265" algn="l"/>
              </a:tabLst>
            </a:pPr>
            <a:r>
              <a:rPr sz="1200" dirty="0">
                <a:latin typeface="Palatino Linotype"/>
                <a:cs typeface="Palatino Linotype"/>
              </a:rPr>
              <a:t>Your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choice.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Make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it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spc="-10" dirty="0">
                <a:latin typeface="Palatino Linotype"/>
                <a:cs typeface="Palatino Linotype"/>
              </a:rPr>
              <a:t>interesting!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Your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instructor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will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show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you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some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spc="-10" dirty="0">
                <a:latin typeface="Palatino Linotype"/>
                <a:cs typeface="Palatino Linotype"/>
              </a:rPr>
              <a:t>examples. </a:t>
            </a:r>
            <a:r>
              <a:rPr sz="1200" dirty="0">
                <a:latin typeface="Palatino Linotype"/>
                <a:cs typeface="Palatino Linotype"/>
              </a:rPr>
              <a:t>Do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more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than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one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for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some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extra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spc="-10" dirty="0">
                <a:latin typeface="Palatino Linotype"/>
                <a:cs typeface="Palatino Linotype"/>
              </a:rPr>
              <a:t>credit—</a:t>
            </a:r>
            <a:r>
              <a:rPr sz="1200" dirty="0">
                <a:latin typeface="Palatino Linotype"/>
                <a:cs typeface="Palatino Linotype"/>
              </a:rPr>
              <a:t>see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the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Report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section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below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for</a:t>
            </a:r>
            <a:r>
              <a:rPr sz="1200" spc="-10" dirty="0">
                <a:latin typeface="Palatino Linotype"/>
                <a:cs typeface="Palatino Linotype"/>
              </a:rPr>
              <a:t> </a:t>
            </a:r>
            <a:r>
              <a:rPr sz="1200" spc="-20" dirty="0">
                <a:latin typeface="Palatino Linotype"/>
                <a:cs typeface="Palatino Linotype"/>
              </a:rPr>
              <a:t>more</a:t>
            </a:r>
            <a:endParaRPr sz="1200">
              <a:latin typeface="Palatino Linotype"/>
              <a:cs typeface="Palatino Linotype"/>
            </a:endParaRPr>
          </a:p>
          <a:p>
            <a:pPr marL="469265">
              <a:lnSpc>
                <a:spcPct val="100000"/>
              </a:lnSpc>
              <a:spcBef>
                <a:spcPts val="204"/>
              </a:spcBef>
            </a:pPr>
            <a:r>
              <a:rPr sz="1200" spc="-10" dirty="0">
                <a:latin typeface="Palatino Linotype"/>
                <a:cs typeface="Palatino Linotype"/>
              </a:rPr>
              <a:t>info.</a:t>
            </a:r>
            <a:endParaRPr sz="120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915"/>
              </a:spcBef>
            </a:pPr>
            <a:r>
              <a:rPr sz="1400" b="1" dirty="0">
                <a:solidFill>
                  <a:srgbClr val="006FC0"/>
                </a:solidFill>
                <a:latin typeface="Palatino Linotype"/>
                <a:cs typeface="Palatino Linotype"/>
              </a:rPr>
              <a:t>Important</a:t>
            </a:r>
            <a:r>
              <a:rPr sz="1400" b="1" spc="-50" dirty="0">
                <a:solidFill>
                  <a:srgbClr val="006FC0"/>
                </a:solidFill>
                <a:latin typeface="Palatino Linotype"/>
                <a:cs typeface="Palatino Linotype"/>
              </a:rPr>
              <a:t> </a:t>
            </a:r>
            <a:r>
              <a:rPr sz="1400" b="1" dirty="0">
                <a:solidFill>
                  <a:srgbClr val="006FC0"/>
                </a:solidFill>
                <a:latin typeface="Palatino Linotype"/>
                <a:cs typeface="Palatino Linotype"/>
              </a:rPr>
              <a:t>Code</a:t>
            </a:r>
            <a:r>
              <a:rPr sz="1400" b="1" spc="-30" dirty="0">
                <a:solidFill>
                  <a:srgbClr val="006FC0"/>
                </a:solidFill>
                <a:latin typeface="Palatino Linotype"/>
                <a:cs typeface="Palatino Linotype"/>
              </a:rPr>
              <a:t> </a:t>
            </a:r>
            <a:r>
              <a:rPr sz="1400" b="1" dirty="0">
                <a:solidFill>
                  <a:srgbClr val="006FC0"/>
                </a:solidFill>
                <a:latin typeface="Palatino Linotype"/>
                <a:cs typeface="Palatino Linotype"/>
              </a:rPr>
              <a:t>Design</a:t>
            </a:r>
            <a:r>
              <a:rPr sz="1400" b="1" spc="-25" dirty="0">
                <a:solidFill>
                  <a:srgbClr val="006FC0"/>
                </a:solidFill>
                <a:latin typeface="Palatino Linotype"/>
                <a:cs typeface="Palatino Linotype"/>
              </a:rPr>
              <a:t> </a:t>
            </a:r>
            <a:r>
              <a:rPr sz="1400" b="1" spc="-10" dirty="0">
                <a:solidFill>
                  <a:srgbClr val="006FC0"/>
                </a:solidFill>
                <a:latin typeface="Palatino Linotype"/>
                <a:cs typeface="Palatino Linotype"/>
              </a:rPr>
              <a:t>Information</a:t>
            </a:r>
            <a:endParaRPr sz="1400">
              <a:latin typeface="Palatino Linotype"/>
              <a:cs typeface="Palatino Linotype"/>
            </a:endParaRPr>
          </a:p>
          <a:p>
            <a:pPr marL="12700" marR="78105">
              <a:lnSpc>
                <a:spcPct val="121300"/>
              </a:lnSpc>
              <a:spcBef>
                <a:spcPts val="40"/>
              </a:spcBef>
            </a:pPr>
            <a:r>
              <a:rPr sz="1200" dirty="0">
                <a:latin typeface="Palatino Linotype"/>
                <a:cs typeface="Palatino Linotype"/>
              </a:rPr>
              <a:t>The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code</a:t>
            </a:r>
            <a:r>
              <a:rPr sz="1200" spc="-1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to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flash</a:t>
            </a:r>
            <a:r>
              <a:rPr sz="1200" spc="-1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the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LEDs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must</a:t>
            </a:r>
            <a:r>
              <a:rPr sz="1200" spc="-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be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in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your</a:t>
            </a:r>
            <a:r>
              <a:rPr sz="1200" spc="335" dirty="0">
                <a:latin typeface="Palatino Linotype"/>
                <a:cs typeface="Palatino Linotype"/>
              </a:rPr>
              <a:t> </a:t>
            </a:r>
            <a:r>
              <a:rPr sz="1200" spc="-10" dirty="0">
                <a:latin typeface="Consolas"/>
                <a:cs typeface="Consolas"/>
              </a:rPr>
              <a:t>main()</a:t>
            </a:r>
            <a:r>
              <a:rPr sz="1200" spc="-360" dirty="0">
                <a:latin typeface="Consolas"/>
                <a:cs typeface="Consolas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routine,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and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an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ISR,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triggered</a:t>
            </a:r>
            <a:r>
              <a:rPr sz="1200" spc="-10" dirty="0">
                <a:latin typeface="Palatino Linotype"/>
                <a:cs typeface="Palatino Linotype"/>
              </a:rPr>
              <a:t> </a:t>
            </a:r>
            <a:r>
              <a:rPr sz="1200" spc="-25" dirty="0">
                <a:latin typeface="Palatino Linotype"/>
                <a:cs typeface="Palatino Linotype"/>
              </a:rPr>
              <a:t>by </a:t>
            </a:r>
            <a:r>
              <a:rPr sz="1200" dirty="0">
                <a:latin typeface="Palatino Linotype"/>
                <a:cs typeface="Palatino Linotype"/>
              </a:rPr>
              <a:t>pressing</a:t>
            </a:r>
            <a:r>
              <a:rPr sz="1200" spc="-4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the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joystick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button,</a:t>
            </a:r>
            <a:r>
              <a:rPr sz="1200" spc="-1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should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change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a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b="1" dirty="0">
                <a:latin typeface="Palatino Linotype"/>
                <a:cs typeface="Palatino Linotype"/>
              </a:rPr>
              <a:t>state</a:t>
            </a:r>
            <a:r>
              <a:rPr sz="1200" b="1" spc="-20" dirty="0">
                <a:latin typeface="Palatino Linotype"/>
                <a:cs typeface="Palatino Linotype"/>
              </a:rPr>
              <a:t> </a:t>
            </a:r>
            <a:r>
              <a:rPr sz="1200" b="1" dirty="0">
                <a:latin typeface="Palatino Linotype"/>
                <a:cs typeface="Palatino Linotype"/>
              </a:rPr>
              <a:t>variable</a:t>
            </a:r>
            <a:r>
              <a:rPr sz="1200" b="1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that</a:t>
            </a:r>
            <a:r>
              <a:rPr sz="1200" spc="320" dirty="0">
                <a:latin typeface="Palatino Linotype"/>
                <a:cs typeface="Palatino Linotype"/>
              </a:rPr>
              <a:t> </a:t>
            </a:r>
            <a:r>
              <a:rPr sz="1200" spc="-10" dirty="0">
                <a:latin typeface="Consolas"/>
                <a:cs typeface="Consolas"/>
              </a:rPr>
              <a:t>main()</a:t>
            </a:r>
            <a:r>
              <a:rPr sz="1200" spc="-360" dirty="0">
                <a:latin typeface="Consolas"/>
                <a:cs typeface="Consolas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uses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to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spc="-10" dirty="0">
                <a:latin typeface="Palatino Linotype"/>
                <a:cs typeface="Palatino Linotype"/>
              </a:rPr>
              <a:t>decide </a:t>
            </a:r>
            <a:r>
              <a:rPr sz="1200" dirty="0">
                <a:latin typeface="Palatino Linotype"/>
                <a:cs typeface="Palatino Linotype"/>
              </a:rPr>
              <a:t>which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pattern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to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display.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This</a:t>
            </a:r>
            <a:r>
              <a:rPr sz="1200" spc="-3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design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pattern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is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called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the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i="1" dirty="0">
                <a:latin typeface="Palatino Linotype"/>
                <a:cs typeface="Palatino Linotype"/>
              </a:rPr>
              <a:t>reactor</a:t>
            </a:r>
            <a:r>
              <a:rPr sz="1200" i="1" spc="-25" dirty="0">
                <a:latin typeface="Palatino Linotype"/>
                <a:cs typeface="Palatino Linotype"/>
              </a:rPr>
              <a:t> </a:t>
            </a:r>
            <a:r>
              <a:rPr sz="1200" i="1" dirty="0">
                <a:latin typeface="Palatino Linotype"/>
                <a:cs typeface="Palatino Linotype"/>
              </a:rPr>
              <a:t>pattern</a:t>
            </a:r>
            <a:r>
              <a:rPr sz="1200" i="1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and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should</a:t>
            </a:r>
            <a:r>
              <a:rPr sz="1200" spc="-25" dirty="0">
                <a:latin typeface="Palatino Linotype"/>
                <a:cs typeface="Palatino Linotype"/>
              </a:rPr>
              <a:t> be </a:t>
            </a:r>
            <a:r>
              <a:rPr sz="1200" dirty="0">
                <a:latin typeface="Palatino Linotype"/>
                <a:cs typeface="Palatino Linotype"/>
              </a:rPr>
              <a:t>familiar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to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you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from</a:t>
            </a:r>
            <a:r>
              <a:rPr sz="1200" spc="-4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your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programming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classes.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A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second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ISR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must</a:t>
            </a:r>
            <a:r>
              <a:rPr sz="1200" spc="-1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be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used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to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u="sng" spc="-20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keep</a:t>
            </a:r>
            <a:r>
              <a:rPr sz="1200" u="none" spc="-20" dirty="0">
                <a:latin typeface="Palatino Linotype"/>
                <a:cs typeface="Palatino Linotype"/>
              </a:rPr>
              <a:t> </a:t>
            </a:r>
            <a:r>
              <a:rPr sz="1200" u="sng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track</a:t>
            </a:r>
            <a:r>
              <a:rPr sz="1200" u="sng" spc="-25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 </a:t>
            </a:r>
            <a:r>
              <a:rPr sz="1200" u="sng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of</a:t>
            </a:r>
            <a:r>
              <a:rPr sz="1200" u="sng" spc="-20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 </a:t>
            </a:r>
            <a:r>
              <a:rPr sz="1200" u="sng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time</a:t>
            </a:r>
            <a:r>
              <a:rPr sz="1200" u="sng" spc="-20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 </a:t>
            </a:r>
            <a:r>
              <a:rPr sz="1200" u="sng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in</a:t>
            </a:r>
            <a:r>
              <a:rPr sz="1200" u="sng" spc="-30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 </a:t>
            </a:r>
            <a:r>
              <a:rPr sz="1200" u="sng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1mS</a:t>
            </a:r>
            <a:r>
              <a:rPr sz="1200" u="sng" spc="-15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 </a:t>
            </a:r>
            <a:r>
              <a:rPr sz="1200" u="sng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intervals</a:t>
            </a:r>
            <a:r>
              <a:rPr sz="1200" u="sng" spc="-30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 </a:t>
            </a:r>
            <a:r>
              <a:rPr sz="1200" u="sng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or</a:t>
            </a:r>
            <a:r>
              <a:rPr sz="1200" u="sng" spc="-15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 </a:t>
            </a:r>
            <a:r>
              <a:rPr sz="1200" u="sng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“Ticks.”</a:t>
            </a:r>
            <a:r>
              <a:rPr sz="1200" u="none" spc="260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Use</a:t>
            </a:r>
            <a:r>
              <a:rPr sz="1200" u="none" spc="-25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this</a:t>
            </a:r>
            <a:r>
              <a:rPr sz="1200" u="none" spc="-25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“Tick”</a:t>
            </a:r>
            <a:r>
              <a:rPr sz="1200" u="none" spc="-20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counter</a:t>
            </a:r>
            <a:r>
              <a:rPr sz="1200" u="none" spc="-20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to</a:t>
            </a:r>
            <a:r>
              <a:rPr sz="1200" u="none" spc="-25" dirty="0">
                <a:latin typeface="Palatino Linotype"/>
                <a:cs typeface="Palatino Linotype"/>
              </a:rPr>
              <a:t> </a:t>
            </a:r>
            <a:r>
              <a:rPr sz="1200" b="1" u="none" dirty="0">
                <a:latin typeface="Palatino Linotype"/>
                <a:cs typeface="Palatino Linotype"/>
              </a:rPr>
              <a:t>ensure</a:t>
            </a:r>
            <a:r>
              <a:rPr sz="1200" b="1" u="none" spc="-20" dirty="0">
                <a:latin typeface="Palatino Linotype"/>
                <a:cs typeface="Palatino Linotype"/>
              </a:rPr>
              <a:t> </a:t>
            </a:r>
            <a:r>
              <a:rPr sz="1200" b="1" u="none" dirty="0">
                <a:latin typeface="Palatino Linotype"/>
                <a:cs typeface="Palatino Linotype"/>
              </a:rPr>
              <a:t>that</a:t>
            </a:r>
            <a:r>
              <a:rPr sz="1200" b="1" u="none" spc="-25" dirty="0">
                <a:latin typeface="Palatino Linotype"/>
                <a:cs typeface="Palatino Linotype"/>
              </a:rPr>
              <a:t> </a:t>
            </a:r>
            <a:r>
              <a:rPr sz="1200" b="1" u="none" spc="-20" dirty="0">
                <a:latin typeface="Palatino Linotype"/>
                <a:cs typeface="Palatino Linotype"/>
              </a:rPr>
              <a:t>LEDs </a:t>
            </a:r>
            <a:r>
              <a:rPr sz="1200" b="1" u="none" dirty="0">
                <a:latin typeface="Palatino Linotype"/>
                <a:cs typeface="Palatino Linotype"/>
              </a:rPr>
              <a:t>stay</a:t>
            </a:r>
            <a:r>
              <a:rPr sz="1200" b="1" u="none" spc="-25" dirty="0">
                <a:latin typeface="Palatino Linotype"/>
                <a:cs typeface="Palatino Linotype"/>
              </a:rPr>
              <a:t> </a:t>
            </a:r>
            <a:r>
              <a:rPr sz="1200" b="1" u="none" dirty="0">
                <a:latin typeface="Palatino Linotype"/>
                <a:cs typeface="Palatino Linotype"/>
              </a:rPr>
              <a:t>on</a:t>
            </a:r>
            <a:r>
              <a:rPr sz="1200" b="1" u="none" spc="-15" dirty="0">
                <a:latin typeface="Palatino Linotype"/>
                <a:cs typeface="Palatino Linotype"/>
              </a:rPr>
              <a:t> </a:t>
            </a:r>
            <a:r>
              <a:rPr sz="1200" b="1" u="none" dirty="0">
                <a:latin typeface="Palatino Linotype"/>
                <a:cs typeface="Palatino Linotype"/>
              </a:rPr>
              <a:t>for</a:t>
            </a:r>
            <a:r>
              <a:rPr sz="1200" b="1" u="none" spc="-20" dirty="0">
                <a:latin typeface="Palatino Linotype"/>
                <a:cs typeface="Palatino Linotype"/>
              </a:rPr>
              <a:t> </a:t>
            </a:r>
            <a:r>
              <a:rPr sz="1200" b="1" u="none" dirty="0">
                <a:latin typeface="Palatino Linotype"/>
                <a:cs typeface="Palatino Linotype"/>
              </a:rPr>
              <a:t>50mS</a:t>
            </a:r>
            <a:r>
              <a:rPr sz="1200" u="none" dirty="0">
                <a:latin typeface="Palatino Linotype"/>
                <a:cs typeface="Palatino Linotype"/>
              </a:rPr>
              <a:t>.</a:t>
            </a:r>
            <a:r>
              <a:rPr sz="1200" u="none" spc="-20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Study</a:t>
            </a:r>
            <a:r>
              <a:rPr sz="1200" u="none" spc="-10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  <a:hlinkClick r:id="rId3" action="ppaction://hlinksldjump"/>
              </a:rPr>
              <a:t>Figure</a:t>
            </a:r>
            <a:r>
              <a:rPr sz="1200" u="none" spc="-20" dirty="0">
                <a:latin typeface="Palatino Linotype"/>
                <a:cs typeface="Palatino Linotype"/>
                <a:hlinkClick r:id="rId3" action="ppaction://hlinksldjump"/>
              </a:rPr>
              <a:t> </a:t>
            </a:r>
            <a:r>
              <a:rPr sz="1200" u="none" dirty="0">
                <a:latin typeface="Palatino Linotype"/>
                <a:cs typeface="Palatino Linotype"/>
                <a:hlinkClick r:id="rId3" action="ppaction://hlinksldjump"/>
              </a:rPr>
              <a:t>3</a:t>
            </a:r>
            <a:r>
              <a:rPr sz="1200" u="none" spc="-15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for</a:t>
            </a:r>
            <a:r>
              <a:rPr sz="1200" u="none" spc="-15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more</a:t>
            </a:r>
            <a:r>
              <a:rPr sz="1200" u="none" spc="-20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details</a:t>
            </a:r>
            <a:r>
              <a:rPr sz="1200" u="none" spc="-20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on</a:t>
            </a:r>
            <a:r>
              <a:rPr sz="1200" u="none" spc="-15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how</a:t>
            </a:r>
            <a:r>
              <a:rPr sz="1200" u="none" spc="-25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this</a:t>
            </a:r>
            <a:r>
              <a:rPr sz="1200" u="none" spc="-20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should</a:t>
            </a:r>
            <a:r>
              <a:rPr sz="1200" u="none" spc="-15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be</a:t>
            </a:r>
            <a:r>
              <a:rPr sz="1200" u="none" spc="-20" dirty="0">
                <a:latin typeface="Palatino Linotype"/>
                <a:cs typeface="Palatino Linotype"/>
              </a:rPr>
              <a:t> </a:t>
            </a:r>
            <a:r>
              <a:rPr sz="1200" u="none" spc="-10" dirty="0">
                <a:latin typeface="Palatino Linotype"/>
                <a:cs typeface="Palatino Linotype"/>
              </a:rPr>
              <a:t>implemented.</a:t>
            </a:r>
            <a:endParaRPr sz="120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04875"/>
            <a:ext cx="1812289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Palatino Linotype"/>
                <a:cs typeface="Palatino Linotype"/>
              </a:rPr>
              <a:t>EECE</a:t>
            </a:r>
            <a:r>
              <a:rPr sz="1100" b="1" spc="-15" dirty="0">
                <a:latin typeface="Palatino Linotype"/>
                <a:cs typeface="Palatino Linotype"/>
              </a:rPr>
              <a:t> </a:t>
            </a:r>
            <a:r>
              <a:rPr sz="1100" b="1" dirty="0">
                <a:latin typeface="Palatino Linotype"/>
                <a:cs typeface="Palatino Linotype"/>
              </a:rPr>
              <a:t>3624:</a:t>
            </a:r>
            <a:r>
              <a:rPr sz="1100" b="1" spc="-15" dirty="0">
                <a:latin typeface="Palatino Linotype"/>
                <a:cs typeface="Palatino Linotype"/>
              </a:rPr>
              <a:t> </a:t>
            </a:r>
            <a:r>
              <a:rPr sz="1100" b="1" spc="-10" dirty="0">
                <a:latin typeface="Palatino Linotype"/>
                <a:cs typeface="Palatino Linotype"/>
              </a:rPr>
              <a:t>Microprocessors</a:t>
            </a:r>
            <a:endParaRPr sz="1100">
              <a:latin typeface="Palatino Linotype"/>
              <a:cs typeface="Palatino Linotype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304026" y="404875"/>
            <a:ext cx="56959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Palatino Linotype"/>
                <a:cs typeface="Palatino Linotype"/>
              </a:rPr>
              <a:t>Fall</a:t>
            </a:r>
            <a:r>
              <a:rPr sz="1100" spc="-20" dirty="0">
                <a:latin typeface="Palatino Linotype"/>
                <a:cs typeface="Palatino Linotype"/>
              </a:rPr>
              <a:t> 2023</a:t>
            </a:r>
            <a:endParaRPr sz="1100">
              <a:latin typeface="Palatino Linotype"/>
              <a:cs typeface="Palatino Linotyp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16354" y="4011295"/>
            <a:ext cx="50438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Palatino Linotype"/>
                <a:cs typeface="Palatino Linotype"/>
              </a:rPr>
              <a:t>StateChart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spc="-10" dirty="0">
                <a:latin typeface="Palatino Linotype"/>
                <a:cs typeface="Palatino Linotype"/>
              </a:rPr>
              <a:t>representation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of</a:t>
            </a:r>
            <a:r>
              <a:rPr sz="1200" spc="-1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the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program’s</a:t>
            </a:r>
            <a:r>
              <a:rPr sz="1200" spc="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logic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showing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three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spc="-10" dirty="0">
                <a:latin typeface="Palatino Linotype"/>
                <a:cs typeface="Palatino Linotype"/>
              </a:rPr>
              <a:t>concurrent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2004" y="3971671"/>
            <a:ext cx="934085" cy="470534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1200" b="1" dirty="0">
                <a:latin typeface="Arial"/>
                <a:cs typeface="Arial"/>
              </a:rPr>
              <a:t>Figure</a:t>
            </a:r>
            <a:r>
              <a:rPr sz="1200" b="1" spc="-65" dirty="0">
                <a:latin typeface="Arial"/>
                <a:cs typeface="Arial"/>
              </a:rPr>
              <a:t> </a:t>
            </a:r>
            <a:r>
              <a:rPr sz="1200" b="1" spc="-50" dirty="0">
                <a:latin typeface="Arial"/>
                <a:cs typeface="Arial"/>
              </a:rPr>
              <a:t>3</a:t>
            </a:r>
            <a:endParaRPr sz="120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310"/>
              </a:spcBef>
            </a:pPr>
            <a:r>
              <a:rPr sz="1200" spc="-10" dirty="0">
                <a:latin typeface="Palatino Linotype"/>
                <a:cs typeface="Palatino Linotype"/>
              </a:rPr>
              <a:t>processes.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02004" y="4610227"/>
            <a:ext cx="15297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6FC0"/>
                </a:solidFill>
                <a:latin typeface="Palatino Linotype"/>
                <a:cs typeface="Palatino Linotype"/>
              </a:rPr>
              <a:t>Lab</a:t>
            </a:r>
            <a:r>
              <a:rPr sz="1800" b="1" spc="-15" dirty="0">
                <a:solidFill>
                  <a:srgbClr val="006FC0"/>
                </a:solidFill>
                <a:latin typeface="Palatino Linotype"/>
                <a:cs typeface="Palatino Linotype"/>
              </a:rPr>
              <a:t> </a:t>
            </a:r>
            <a:r>
              <a:rPr sz="1800" b="1" spc="-10" dirty="0">
                <a:solidFill>
                  <a:srgbClr val="006FC0"/>
                </a:solidFill>
                <a:latin typeface="Palatino Linotype"/>
                <a:cs typeface="Palatino Linotype"/>
              </a:rPr>
              <a:t>Procedure</a:t>
            </a:r>
            <a:endParaRPr sz="1800">
              <a:latin typeface="Palatino Linotype"/>
              <a:cs typeface="Palatino Linotype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96416" y="4956937"/>
            <a:ext cx="5981065" cy="6350"/>
          </a:xfrm>
          <a:custGeom>
            <a:avLst/>
            <a:gdLst/>
            <a:ahLst/>
            <a:cxnLst/>
            <a:rect l="l" t="t" r="r" b="b"/>
            <a:pathLst>
              <a:path w="5981065" h="6350">
                <a:moveTo>
                  <a:pt x="5981065" y="0"/>
                </a:moveTo>
                <a:lnTo>
                  <a:pt x="0" y="0"/>
                </a:lnTo>
                <a:lnTo>
                  <a:pt x="0" y="6095"/>
                </a:lnTo>
                <a:lnTo>
                  <a:pt x="5981065" y="6095"/>
                </a:lnTo>
                <a:lnTo>
                  <a:pt x="5981065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02004" y="4996053"/>
            <a:ext cx="5965825" cy="4180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67665">
              <a:lnSpc>
                <a:spcPct val="121700"/>
              </a:lnSpc>
              <a:spcBef>
                <a:spcPts val="100"/>
              </a:spcBef>
            </a:pPr>
            <a:r>
              <a:rPr sz="1200" dirty="0">
                <a:latin typeface="Palatino Linotype"/>
                <a:cs typeface="Palatino Linotype"/>
              </a:rPr>
              <a:t>Start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by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opening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GitHub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Classroom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link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and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clone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this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repo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to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your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local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spc="-10" dirty="0">
                <a:latin typeface="Palatino Linotype"/>
                <a:cs typeface="Palatino Linotype"/>
              </a:rPr>
              <a:t>machine. </a:t>
            </a:r>
            <a:r>
              <a:rPr sz="1200" dirty="0">
                <a:latin typeface="Palatino Linotype"/>
                <a:cs typeface="Palatino Linotype"/>
              </a:rPr>
              <a:t>Open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spc="-25" dirty="0">
                <a:latin typeface="Palatino Linotype"/>
                <a:cs typeface="Palatino Linotype"/>
              </a:rPr>
              <a:t>the</a:t>
            </a:r>
            <a:endParaRPr sz="1200">
              <a:latin typeface="Palatino Linotype"/>
              <a:cs typeface="Palatino Linotype"/>
            </a:endParaRPr>
          </a:p>
          <a:p>
            <a:pPr marL="12700" marR="66040">
              <a:lnSpc>
                <a:spcPct val="121700"/>
              </a:lnSpc>
              <a:spcBef>
                <a:spcPts val="585"/>
              </a:spcBef>
            </a:pPr>
            <a:r>
              <a:rPr sz="1200" dirty="0">
                <a:latin typeface="Palatino Linotype"/>
                <a:cs typeface="Palatino Linotype"/>
              </a:rPr>
              <a:t>In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Microchip</a:t>
            </a:r>
            <a:r>
              <a:rPr sz="1200" spc="-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Studio,</a:t>
            </a:r>
            <a:r>
              <a:rPr sz="1200" spc="-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open up</a:t>
            </a:r>
            <a:r>
              <a:rPr sz="1200" spc="-1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the</a:t>
            </a:r>
            <a:r>
              <a:rPr sz="1200" spc="-5" dirty="0">
                <a:latin typeface="Palatino Linotype"/>
                <a:cs typeface="Palatino Linotype"/>
              </a:rPr>
              <a:t> </a:t>
            </a:r>
            <a:r>
              <a:rPr sz="1200" spc="-20" dirty="0">
                <a:latin typeface="Courier New"/>
                <a:cs typeface="Courier New"/>
              </a:rPr>
              <a:t>Lab06.cproj</a:t>
            </a:r>
            <a:r>
              <a:rPr sz="1200" spc="-420" dirty="0">
                <a:latin typeface="Courier New"/>
                <a:cs typeface="Courier New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and</a:t>
            </a:r>
            <a:r>
              <a:rPr sz="1200" spc="-1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you</a:t>
            </a:r>
            <a:r>
              <a:rPr sz="1200" spc="-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will</a:t>
            </a:r>
            <a:r>
              <a:rPr sz="1200" spc="-1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have a</a:t>
            </a:r>
            <a:r>
              <a:rPr sz="1200" spc="-5" dirty="0">
                <a:latin typeface="Palatino Linotype"/>
                <a:cs typeface="Palatino Linotype"/>
              </a:rPr>
              <a:t> </a:t>
            </a:r>
            <a:r>
              <a:rPr sz="1200" spc="-20" dirty="0">
                <a:latin typeface="Courier New"/>
                <a:cs typeface="Courier New"/>
              </a:rPr>
              <a:t>Lab06.c</a:t>
            </a:r>
            <a:r>
              <a:rPr sz="1200" spc="-420" dirty="0">
                <a:latin typeface="Courier New"/>
                <a:cs typeface="Courier New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file</a:t>
            </a:r>
            <a:r>
              <a:rPr sz="1200" spc="-5" dirty="0">
                <a:latin typeface="Palatino Linotype"/>
                <a:cs typeface="Palatino Linotype"/>
              </a:rPr>
              <a:t> </a:t>
            </a:r>
            <a:r>
              <a:rPr sz="1200" spc="-20" dirty="0">
                <a:latin typeface="Palatino Linotype"/>
                <a:cs typeface="Palatino Linotype"/>
              </a:rPr>
              <a:t>that </a:t>
            </a:r>
            <a:r>
              <a:rPr sz="1200" dirty="0">
                <a:latin typeface="Palatino Linotype"/>
                <a:cs typeface="Palatino Linotype"/>
              </a:rPr>
              <a:t>is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your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starter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file.</a:t>
            </a:r>
            <a:r>
              <a:rPr sz="1200" spc="27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Your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professor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will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walk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you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through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the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file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at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the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start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of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spc="-20" dirty="0">
                <a:latin typeface="Palatino Linotype"/>
                <a:cs typeface="Palatino Linotype"/>
              </a:rPr>
              <a:t>lab.</a:t>
            </a:r>
            <a:endParaRPr sz="120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200" dirty="0">
                <a:latin typeface="Palatino Linotype"/>
                <a:cs typeface="Palatino Linotype"/>
              </a:rPr>
              <a:t>Note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that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the</a:t>
            </a:r>
            <a:r>
              <a:rPr sz="1200" spc="-5" dirty="0">
                <a:latin typeface="Palatino Linotype"/>
                <a:cs typeface="Palatino Linotype"/>
              </a:rPr>
              <a:t> </a:t>
            </a:r>
            <a:r>
              <a:rPr sz="1200" spc="-20" dirty="0">
                <a:latin typeface="Courier New"/>
                <a:cs typeface="Courier New"/>
              </a:rPr>
              <a:t>#include</a:t>
            </a:r>
            <a:r>
              <a:rPr sz="1200" spc="-420" dirty="0">
                <a:latin typeface="Courier New"/>
                <a:cs typeface="Courier New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files</a:t>
            </a:r>
            <a:r>
              <a:rPr sz="1200" spc="-1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are</a:t>
            </a:r>
            <a:r>
              <a:rPr sz="1200" spc="-1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required</a:t>
            </a:r>
            <a:r>
              <a:rPr sz="1200" spc="-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to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have</a:t>
            </a:r>
            <a:r>
              <a:rPr sz="1200" spc="-1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this</a:t>
            </a:r>
            <a:r>
              <a:rPr sz="1200" spc="-1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code</a:t>
            </a:r>
            <a:r>
              <a:rPr sz="1200" spc="-10" dirty="0">
                <a:latin typeface="Palatino Linotype"/>
                <a:cs typeface="Palatino Linotype"/>
              </a:rPr>
              <a:t> work.</a:t>
            </a:r>
            <a:endParaRPr sz="1200">
              <a:latin typeface="Palatino Linotype"/>
              <a:cs typeface="Palatino Linotype"/>
            </a:endParaRPr>
          </a:p>
          <a:p>
            <a:pPr marL="469265" marR="5080">
              <a:lnSpc>
                <a:spcPct val="121700"/>
              </a:lnSpc>
              <a:spcBef>
                <a:spcPts val="585"/>
              </a:spcBef>
            </a:pPr>
            <a:r>
              <a:rPr sz="1200" i="1" dirty="0">
                <a:latin typeface="Palatino Linotype"/>
                <a:cs typeface="Palatino Linotype"/>
              </a:rPr>
              <a:t>Professor</a:t>
            </a:r>
            <a:r>
              <a:rPr sz="1200" i="1" spc="-25" dirty="0">
                <a:latin typeface="Palatino Linotype"/>
                <a:cs typeface="Palatino Linotype"/>
              </a:rPr>
              <a:t> </a:t>
            </a:r>
            <a:r>
              <a:rPr sz="1200" i="1" dirty="0">
                <a:latin typeface="Palatino Linotype"/>
                <a:cs typeface="Palatino Linotype"/>
              </a:rPr>
              <a:t>Note:</a:t>
            </a:r>
            <a:r>
              <a:rPr sz="1200" i="1" spc="260" dirty="0">
                <a:latin typeface="Palatino Linotype"/>
                <a:cs typeface="Palatino Linotype"/>
              </a:rPr>
              <a:t> </a:t>
            </a:r>
            <a:r>
              <a:rPr sz="1200" i="1" dirty="0">
                <a:latin typeface="Palatino Linotype"/>
                <a:cs typeface="Palatino Linotype"/>
              </a:rPr>
              <a:t>Your</a:t>
            </a:r>
            <a:r>
              <a:rPr sz="1200" i="1" spc="-25" dirty="0">
                <a:latin typeface="Palatino Linotype"/>
                <a:cs typeface="Palatino Linotype"/>
              </a:rPr>
              <a:t> </a:t>
            </a:r>
            <a:r>
              <a:rPr sz="1200" i="1" dirty="0">
                <a:latin typeface="Palatino Linotype"/>
                <a:cs typeface="Palatino Linotype"/>
              </a:rPr>
              <a:t>text</a:t>
            </a:r>
            <a:r>
              <a:rPr sz="1200" i="1" spc="-20" dirty="0">
                <a:latin typeface="Palatino Linotype"/>
                <a:cs typeface="Palatino Linotype"/>
              </a:rPr>
              <a:t> </a:t>
            </a:r>
            <a:r>
              <a:rPr sz="1200" i="1" dirty="0">
                <a:latin typeface="Palatino Linotype"/>
                <a:cs typeface="Palatino Linotype"/>
              </a:rPr>
              <a:t>book</a:t>
            </a:r>
            <a:r>
              <a:rPr sz="1200" i="1" spc="-25" dirty="0">
                <a:latin typeface="Palatino Linotype"/>
                <a:cs typeface="Palatino Linotype"/>
              </a:rPr>
              <a:t> </a:t>
            </a:r>
            <a:r>
              <a:rPr sz="1200" i="1" dirty="0">
                <a:latin typeface="Palatino Linotype"/>
                <a:cs typeface="Palatino Linotype"/>
              </a:rPr>
              <a:t>is</a:t>
            </a:r>
            <a:r>
              <a:rPr sz="1200" i="1" spc="-25" dirty="0">
                <a:latin typeface="Palatino Linotype"/>
                <a:cs typeface="Palatino Linotype"/>
              </a:rPr>
              <a:t> </a:t>
            </a:r>
            <a:r>
              <a:rPr sz="1200" i="1" dirty="0">
                <a:latin typeface="Palatino Linotype"/>
                <a:cs typeface="Palatino Linotype"/>
              </a:rPr>
              <a:t>NOT</a:t>
            </a:r>
            <a:r>
              <a:rPr sz="1200" i="1" spc="-20" dirty="0">
                <a:latin typeface="Palatino Linotype"/>
                <a:cs typeface="Palatino Linotype"/>
              </a:rPr>
              <a:t> </a:t>
            </a:r>
            <a:r>
              <a:rPr sz="1200" i="1" dirty="0">
                <a:latin typeface="Palatino Linotype"/>
                <a:cs typeface="Palatino Linotype"/>
              </a:rPr>
              <a:t>specific</a:t>
            </a:r>
            <a:r>
              <a:rPr sz="1200" i="1" spc="-20" dirty="0">
                <a:latin typeface="Palatino Linotype"/>
                <a:cs typeface="Palatino Linotype"/>
              </a:rPr>
              <a:t> </a:t>
            </a:r>
            <a:r>
              <a:rPr sz="1200" i="1" dirty="0">
                <a:latin typeface="Palatino Linotype"/>
                <a:cs typeface="Palatino Linotype"/>
              </a:rPr>
              <a:t>to</a:t>
            </a:r>
            <a:r>
              <a:rPr sz="1200" i="1" spc="-40" dirty="0">
                <a:latin typeface="Palatino Linotype"/>
                <a:cs typeface="Palatino Linotype"/>
              </a:rPr>
              <a:t> </a:t>
            </a:r>
            <a:r>
              <a:rPr sz="1200" i="1" dirty="0">
                <a:latin typeface="Palatino Linotype"/>
                <a:cs typeface="Palatino Linotype"/>
              </a:rPr>
              <a:t>the</a:t>
            </a:r>
            <a:r>
              <a:rPr sz="1200" i="1" spc="-25" dirty="0">
                <a:latin typeface="Palatino Linotype"/>
                <a:cs typeface="Palatino Linotype"/>
              </a:rPr>
              <a:t> </a:t>
            </a:r>
            <a:r>
              <a:rPr sz="1200" i="1" dirty="0">
                <a:latin typeface="Palatino Linotype"/>
                <a:cs typeface="Palatino Linotype"/>
              </a:rPr>
              <a:t>ATMega128A,</a:t>
            </a:r>
            <a:r>
              <a:rPr sz="1200" i="1" spc="-20" dirty="0">
                <a:latin typeface="Palatino Linotype"/>
                <a:cs typeface="Palatino Linotype"/>
              </a:rPr>
              <a:t> </a:t>
            </a:r>
            <a:r>
              <a:rPr sz="1200" i="1" dirty="0">
                <a:latin typeface="Palatino Linotype"/>
                <a:cs typeface="Palatino Linotype"/>
              </a:rPr>
              <a:t>so</a:t>
            </a:r>
            <a:r>
              <a:rPr sz="1200" i="1" spc="-25" dirty="0">
                <a:latin typeface="Palatino Linotype"/>
                <a:cs typeface="Palatino Linotype"/>
              </a:rPr>
              <a:t> </a:t>
            </a:r>
            <a:r>
              <a:rPr sz="1200" i="1" dirty="0">
                <a:latin typeface="Palatino Linotype"/>
                <a:cs typeface="Palatino Linotype"/>
              </a:rPr>
              <a:t>the</a:t>
            </a:r>
            <a:r>
              <a:rPr sz="1200" i="1" spc="-15" dirty="0">
                <a:latin typeface="Palatino Linotype"/>
                <a:cs typeface="Palatino Linotype"/>
              </a:rPr>
              <a:t> </a:t>
            </a:r>
            <a:r>
              <a:rPr sz="1200" i="1" dirty="0">
                <a:latin typeface="Palatino Linotype"/>
                <a:cs typeface="Palatino Linotype"/>
              </a:rPr>
              <a:t>example</a:t>
            </a:r>
            <a:r>
              <a:rPr sz="1200" i="1" spc="-25" dirty="0">
                <a:latin typeface="Palatino Linotype"/>
                <a:cs typeface="Palatino Linotype"/>
              </a:rPr>
              <a:t> </a:t>
            </a:r>
            <a:r>
              <a:rPr sz="1200" i="1" spc="-20" dirty="0">
                <a:latin typeface="Palatino Linotype"/>
                <a:cs typeface="Palatino Linotype"/>
              </a:rPr>
              <a:t>code </a:t>
            </a:r>
            <a:r>
              <a:rPr sz="1200" i="1" dirty="0">
                <a:latin typeface="Palatino Linotype"/>
                <a:cs typeface="Palatino Linotype"/>
              </a:rPr>
              <a:t>has</a:t>
            </a:r>
            <a:r>
              <a:rPr sz="1200" i="1" spc="-20" dirty="0">
                <a:latin typeface="Palatino Linotype"/>
                <a:cs typeface="Palatino Linotype"/>
              </a:rPr>
              <a:t> </a:t>
            </a:r>
            <a:r>
              <a:rPr sz="1200" i="1" dirty="0">
                <a:latin typeface="Palatino Linotype"/>
                <a:cs typeface="Palatino Linotype"/>
              </a:rPr>
              <a:t>fewer</a:t>
            </a:r>
            <a:r>
              <a:rPr sz="1200" i="1" spc="-20" dirty="0">
                <a:latin typeface="Palatino Linotype"/>
                <a:cs typeface="Palatino Linotype"/>
              </a:rPr>
              <a:t> </a:t>
            </a:r>
            <a:r>
              <a:rPr sz="1200" i="1" dirty="0">
                <a:latin typeface="Palatino Linotype"/>
                <a:cs typeface="Palatino Linotype"/>
              </a:rPr>
              <a:t>interrupts</a:t>
            </a:r>
            <a:r>
              <a:rPr sz="1200" i="1" spc="-20" dirty="0">
                <a:latin typeface="Palatino Linotype"/>
                <a:cs typeface="Palatino Linotype"/>
              </a:rPr>
              <a:t> </a:t>
            </a:r>
            <a:r>
              <a:rPr sz="1200" i="1" dirty="0">
                <a:latin typeface="Palatino Linotype"/>
                <a:cs typeface="Palatino Linotype"/>
              </a:rPr>
              <a:t>and</a:t>
            </a:r>
            <a:r>
              <a:rPr sz="1200" i="1" spc="-25" dirty="0">
                <a:latin typeface="Palatino Linotype"/>
                <a:cs typeface="Palatino Linotype"/>
              </a:rPr>
              <a:t> </a:t>
            </a:r>
            <a:r>
              <a:rPr sz="1200" i="1" dirty="0">
                <a:latin typeface="Palatino Linotype"/>
                <a:cs typeface="Palatino Linotype"/>
              </a:rPr>
              <a:t>slightly</a:t>
            </a:r>
            <a:r>
              <a:rPr sz="1200" i="1" spc="-15" dirty="0">
                <a:latin typeface="Palatino Linotype"/>
                <a:cs typeface="Palatino Linotype"/>
              </a:rPr>
              <a:t> </a:t>
            </a:r>
            <a:r>
              <a:rPr sz="1200" i="1" dirty="0">
                <a:latin typeface="Palatino Linotype"/>
                <a:cs typeface="Palatino Linotype"/>
              </a:rPr>
              <a:t>different</a:t>
            </a:r>
            <a:r>
              <a:rPr sz="1200" i="1" spc="-15" dirty="0">
                <a:latin typeface="Palatino Linotype"/>
                <a:cs typeface="Palatino Linotype"/>
              </a:rPr>
              <a:t> </a:t>
            </a:r>
            <a:r>
              <a:rPr sz="1200" i="1" spc="-10" dirty="0">
                <a:latin typeface="Palatino Linotype"/>
                <a:cs typeface="Palatino Linotype"/>
              </a:rPr>
              <a:t>configurations</a:t>
            </a:r>
            <a:r>
              <a:rPr sz="1200" i="1" spc="-20" dirty="0">
                <a:latin typeface="Palatino Linotype"/>
                <a:cs typeface="Palatino Linotype"/>
              </a:rPr>
              <a:t> </a:t>
            </a:r>
            <a:r>
              <a:rPr sz="1200" i="1" dirty="0">
                <a:latin typeface="Palatino Linotype"/>
                <a:cs typeface="Palatino Linotype"/>
              </a:rPr>
              <a:t>than</a:t>
            </a:r>
            <a:r>
              <a:rPr sz="1200" i="1" spc="-15" dirty="0">
                <a:latin typeface="Palatino Linotype"/>
                <a:cs typeface="Palatino Linotype"/>
              </a:rPr>
              <a:t> </a:t>
            </a:r>
            <a:r>
              <a:rPr sz="1200" i="1" dirty="0">
                <a:latin typeface="Palatino Linotype"/>
                <a:cs typeface="Palatino Linotype"/>
              </a:rPr>
              <a:t>you</a:t>
            </a:r>
            <a:r>
              <a:rPr sz="1200" i="1" spc="-15" dirty="0">
                <a:latin typeface="Palatino Linotype"/>
                <a:cs typeface="Palatino Linotype"/>
              </a:rPr>
              <a:t> </a:t>
            </a:r>
            <a:r>
              <a:rPr sz="1200" i="1" dirty="0">
                <a:latin typeface="Palatino Linotype"/>
                <a:cs typeface="Palatino Linotype"/>
              </a:rPr>
              <a:t>need</a:t>
            </a:r>
            <a:r>
              <a:rPr sz="1200" i="1" spc="-10" dirty="0">
                <a:latin typeface="Palatino Linotype"/>
                <a:cs typeface="Palatino Linotype"/>
              </a:rPr>
              <a:t> </a:t>
            </a:r>
            <a:r>
              <a:rPr sz="1200" i="1" dirty="0">
                <a:latin typeface="Palatino Linotype"/>
                <a:cs typeface="Palatino Linotype"/>
              </a:rPr>
              <a:t>for</a:t>
            </a:r>
            <a:r>
              <a:rPr sz="1200" i="1" spc="-20" dirty="0">
                <a:latin typeface="Palatino Linotype"/>
                <a:cs typeface="Palatino Linotype"/>
              </a:rPr>
              <a:t> </a:t>
            </a:r>
            <a:r>
              <a:rPr sz="1200" i="1" dirty="0">
                <a:latin typeface="Palatino Linotype"/>
                <a:cs typeface="Palatino Linotype"/>
              </a:rPr>
              <a:t>your</a:t>
            </a:r>
            <a:r>
              <a:rPr sz="1200" i="1" spc="-20" dirty="0">
                <a:latin typeface="Palatino Linotype"/>
                <a:cs typeface="Palatino Linotype"/>
              </a:rPr>
              <a:t> </a:t>
            </a:r>
            <a:r>
              <a:rPr sz="1200" i="1" spc="-10" dirty="0">
                <a:latin typeface="Palatino Linotype"/>
                <a:cs typeface="Palatino Linotype"/>
              </a:rPr>
              <a:t>part.</a:t>
            </a:r>
            <a:endParaRPr sz="1200">
              <a:latin typeface="Palatino Linotype"/>
              <a:cs typeface="Palatino Linotype"/>
            </a:endParaRPr>
          </a:p>
          <a:p>
            <a:pPr marL="469265">
              <a:lnSpc>
                <a:spcPct val="100000"/>
              </a:lnSpc>
              <a:spcBef>
                <a:spcPts val="305"/>
              </a:spcBef>
            </a:pPr>
            <a:r>
              <a:rPr sz="1200" i="1" dirty="0">
                <a:latin typeface="Palatino Linotype"/>
                <a:cs typeface="Palatino Linotype"/>
              </a:rPr>
              <a:t>Cross</a:t>
            </a:r>
            <a:r>
              <a:rPr sz="1200" i="1" spc="-20" dirty="0">
                <a:latin typeface="Palatino Linotype"/>
                <a:cs typeface="Palatino Linotype"/>
              </a:rPr>
              <a:t> </a:t>
            </a:r>
            <a:r>
              <a:rPr sz="1200" i="1" dirty="0">
                <a:latin typeface="Palatino Linotype"/>
                <a:cs typeface="Palatino Linotype"/>
              </a:rPr>
              <a:t>check</a:t>
            </a:r>
            <a:r>
              <a:rPr sz="1200" i="1" spc="-20" dirty="0">
                <a:latin typeface="Palatino Linotype"/>
                <a:cs typeface="Palatino Linotype"/>
              </a:rPr>
              <a:t> </a:t>
            </a:r>
            <a:r>
              <a:rPr sz="1200" i="1" dirty="0">
                <a:latin typeface="Palatino Linotype"/>
                <a:cs typeface="Palatino Linotype"/>
              </a:rPr>
              <a:t>items</a:t>
            </a:r>
            <a:r>
              <a:rPr sz="1200" i="1" spc="-15" dirty="0">
                <a:latin typeface="Palatino Linotype"/>
                <a:cs typeface="Palatino Linotype"/>
              </a:rPr>
              <a:t> </a:t>
            </a:r>
            <a:r>
              <a:rPr sz="1200" i="1" dirty="0">
                <a:latin typeface="Palatino Linotype"/>
                <a:cs typeface="Palatino Linotype"/>
              </a:rPr>
              <a:t>with</a:t>
            </a:r>
            <a:r>
              <a:rPr sz="1200" i="1" spc="-20" dirty="0">
                <a:latin typeface="Palatino Linotype"/>
                <a:cs typeface="Palatino Linotype"/>
              </a:rPr>
              <a:t> </a:t>
            </a:r>
            <a:r>
              <a:rPr sz="1200" i="1" dirty="0">
                <a:latin typeface="Palatino Linotype"/>
                <a:cs typeface="Palatino Linotype"/>
              </a:rPr>
              <a:t>the</a:t>
            </a:r>
            <a:r>
              <a:rPr sz="1200" i="1" spc="-20" dirty="0">
                <a:latin typeface="Palatino Linotype"/>
                <a:cs typeface="Palatino Linotype"/>
              </a:rPr>
              <a:t> </a:t>
            </a:r>
            <a:r>
              <a:rPr sz="1200" i="1" spc="-10" dirty="0">
                <a:latin typeface="Palatino Linotype"/>
                <a:cs typeface="Palatino Linotype"/>
              </a:rPr>
              <a:t>datasheet.</a:t>
            </a:r>
            <a:endParaRPr sz="1200">
              <a:latin typeface="Palatino Linotype"/>
              <a:cs typeface="Palatino Linotype"/>
            </a:endParaRPr>
          </a:p>
          <a:p>
            <a:pPr marL="12700" marR="74930">
              <a:lnSpc>
                <a:spcPct val="121200"/>
              </a:lnSpc>
              <a:spcBef>
                <a:spcPts val="605"/>
              </a:spcBef>
            </a:pPr>
            <a:r>
              <a:rPr sz="1200" dirty="0">
                <a:latin typeface="Palatino Linotype"/>
                <a:cs typeface="Palatino Linotype"/>
              </a:rPr>
              <a:t>Using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eight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spc="-10" dirty="0">
                <a:latin typeface="Palatino Linotype"/>
                <a:cs typeface="Palatino Linotype"/>
              </a:rPr>
              <a:t>female-to-</a:t>
            </a:r>
            <a:r>
              <a:rPr sz="1200" dirty="0">
                <a:latin typeface="Palatino Linotype"/>
                <a:cs typeface="Palatino Linotype"/>
              </a:rPr>
              <a:t>female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jumpers,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connect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the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eight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LEDs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on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the</a:t>
            </a:r>
            <a:r>
              <a:rPr sz="1200" spc="-3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ReadyAVR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spc="-10" dirty="0">
                <a:latin typeface="Palatino Linotype"/>
                <a:cs typeface="Palatino Linotype"/>
              </a:rPr>
              <a:t>board </a:t>
            </a:r>
            <a:r>
              <a:rPr sz="1200" dirty="0">
                <a:latin typeface="Palatino Linotype"/>
                <a:cs typeface="Palatino Linotype"/>
              </a:rPr>
              <a:t>to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the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eight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pins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on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PORTA.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b="1" dirty="0">
                <a:latin typeface="Palatino Linotype"/>
                <a:cs typeface="Palatino Linotype"/>
              </a:rPr>
              <a:t>Be</a:t>
            </a:r>
            <a:r>
              <a:rPr sz="1200" b="1" spc="-20" dirty="0">
                <a:latin typeface="Palatino Linotype"/>
                <a:cs typeface="Palatino Linotype"/>
              </a:rPr>
              <a:t> </a:t>
            </a:r>
            <a:r>
              <a:rPr sz="1200" b="1" dirty="0">
                <a:latin typeface="Palatino Linotype"/>
                <a:cs typeface="Palatino Linotype"/>
              </a:rPr>
              <a:t>sure</a:t>
            </a:r>
            <a:r>
              <a:rPr sz="1200" b="1" spc="-15" dirty="0">
                <a:latin typeface="Palatino Linotype"/>
                <a:cs typeface="Palatino Linotype"/>
              </a:rPr>
              <a:t> </a:t>
            </a:r>
            <a:r>
              <a:rPr sz="1200" b="1" dirty="0">
                <a:latin typeface="Palatino Linotype"/>
                <a:cs typeface="Palatino Linotype"/>
              </a:rPr>
              <a:t>PortA.0</a:t>
            </a:r>
            <a:r>
              <a:rPr sz="1200" b="1" spc="-20" dirty="0">
                <a:latin typeface="Palatino Linotype"/>
                <a:cs typeface="Palatino Linotype"/>
              </a:rPr>
              <a:t> </a:t>
            </a:r>
            <a:r>
              <a:rPr sz="1200" b="1" dirty="0">
                <a:latin typeface="Palatino Linotype"/>
                <a:cs typeface="Palatino Linotype"/>
              </a:rPr>
              <a:t>is</a:t>
            </a:r>
            <a:r>
              <a:rPr sz="1200" b="1" spc="-25" dirty="0">
                <a:latin typeface="Palatino Linotype"/>
                <a:cs typeface="Palatino Linotype"/>
              </a:rPr>
              <a:t> </a:t>
            </a:r>
            <a:r>
              <a:rPr sz="1200" b="1" dirty="0">
                <a:latin typeface="Palatino Linotype"/>
                <a:cs typeface="Palatino Linotype"/>
              </a:rPr>
              <a:t>connected</a:t>
            </a:r>
            <a:r>
              <a:rPr sz="1200" b="1" spc="-15" dirty="0">
                <a:latin typeface="Palatino Linotype"/>
                <a:cs typeface="Palatino Linotype"/>
              </a:rPr>
              <a:t> </a:t>
            </a:r>
            <a:r>
              <a:rPr sz="1200" b="1" dirty="0">
                <a:latin typeface="Palatino Linotype"/>
                <a:cs typeface="Palatino Linotype"/>
              </a:rPr>
              <a:t>to</a:t>
            </a:r>
            <a:r>
              <a:rPr sz="1200" b="1" spc="-20" dirty="0">
                <a:latin typeface="Palatino Linotype"/>
                <a:cs typeface="Palatino Linotype"/>
              </a:rPr>
              <a:t> </a:t>
            </a:r>
            <a:r>
              <a:rPr sz="1200" b="1" dirty="0">
                <a:latin typeface="Palatino Linotype"/>
                <a:cs typeface="Palatino Linotype"/>
              </a:rPr>
              <a:t>LED0</a:t>
            </a:r>
            <a:r>
              <a:rPr sz="1200" b="1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on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the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spc="-10" dirty="0">
                <a:latin typeface="Palatino Linotype"/>
                <a:cs typeface="Palatino Linotype"/>
              </a:rPr>
              <a:t>ReadyAVR </a:t>
            </a:r>
            <a:r>
              <a:rPr sz="1200" dirty="0">
                <a:latin typeface="Palatino Linotype"/>
                <a:cs typeface="Palatino Linotype"/>
              </a:rPr>
              <a:t>board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(check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  <a:hlinkClick r:id="rId3" action="ppaction://hlinksldjump"/>
              </a:rPr>
              <a:t>Figure</a:t>
            </a:r>
            <a:r>
              <a:rPr sz="1200" spc="-25" dirty="0">
                <a:latin typeface="Palatino Linotype"/>
                <a:cs typeface="Palatino Linotype"/>
                <a:hlinkClick r:id="rId3" action="ppaction://hlinksldjump"/>
              </a:rPr>
              <a:t> </a:t>
            </a:r>
            <a:r>
              <a:rPr sz="1200" dirty="0">
                <a:latin typeface="Palatino Linotype"/>
                <a:cs typeface="Palatino Linotype"/>
                <a:hlinkClick r:id="rId3" action="ppaction://hlinksldjump"/>
              </a:rPr>
              <a:t>1</a:t>
            </a:r>
            <a:r>
              <a:rPr sz="1200" spc="-3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again),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and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b="1" dirty="0">
                <a:latin typeface="Palatino Linotype"/>
                <a:cs typeface="Palatino Linotype"/>
              </a:rPr>
              <a:t>PortA.7</a:t>
            </a:r>
            <a:r>
              <a:rPr sz="1200" b="1" spc="-25" dirty="0">
                <a:latin typeface="Palatino Linotype"/>
                <a:cs typeface="Palatino Linotype"/>
              </a:rPr>
              <a:t> </a:t>
            </a:r>
            <a:r>
              <a:rPr sz="1200" b="1" dirty="0">
                <a:latin typeface="Palatino Linotype"/>
                <a:cs typeface="Palatino Linotype"/>
              </a:rPr>
              <a:t>is</a:t>
            </a:r>
            <a:r>
              <a:rPr sz="1200" b="1" spc="-20" dirty="0">
                <a:latin typeface="Palatino Linotype"/>
                <a:cs typeface="Palatino Linotype"/>
              </a:rPr>
              <a:t> </a:t>
            </a:r>
            <a:r>
              <a:rPr sz="1200" b="1" dirty="0">
                <a:latin typeface="Palatino Linotype"/>
                <a:cs typeface="Palatino Linotype"/>
              </a:rPr>
              <a:t>connected</a:t>
            </a:r>
            <a:r>
              <a:rPr sz="1200" b="1" spc="-30" dirty="0">
                <a:latin typeface="Palatino Linotype"/>
                <a:cs typeface="Palatino Linotype"/>
              </a:rPr>
              <a:t> </a:t>
            </a:r>
            <a:r>
              <a:rPr sz="1200" b="1" dirty="0">
                <a:latin typeface="Palatino Linotype"/>
                <a:cs typeface="Palatino Linotype"/>
              </a:rPr>
              <a:t>to</a:t>
            </a:r>
            <a:r>
              <a:rPr sz="1200" b="1" spc="-30" dirty="0">
                <a:latin typeface="Palatino Linotype"/>
                <a:cs typeface="Palatino Linotype"/>
              </a:rPr>
              <a:t> </a:t>
            </a:r>
            <a:r>
              <a:rPr sz="1200" b="1" spc="-10" dirty="0">
                <a:latin typeface="Palatino Linotype"/>
                <a:cs typeface="Palatino Linotype"/>
              </a:rPr>
              <a:t>LED07</a:t>
            </a:r>
            <a:r>
              <a:rPr sz="1200" spc="-10" dirty="0">
                <a:latin typeface="Palatino Linotype"/>
                <a:cs typeface="Palatino Linotype"/>
              </a:rPr>
              <a:t>.</a:t>
            </a:r>
            <a:endParaRPr sz="120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910"/>
              </a:spcBef>
            </a:pPr>
            <a:r>
              <a:rPr sz="1200" dirty="0">
                <a:latin typeface="Palatino Linotype"/>
                <a:cs typeface="Palatino Linotype"/>
              </a:rPr>
              <a:t>Your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code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spc="-10" dirty="0">
                <a:latin typeface="Palatino Linotype"/>
                <a:cs typeface="Palatino Linotype"/>
              </a:rPr>
              <a:t>development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should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follow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steps</a:t>
            </a:r>
            <a:r>
              <a:rPr sz="1200" spc="-1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similar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to</a:t>
            </a:r>
            <a:r>
              <a:rPr sz="1200" spc="-10" dirty="0">
                <a:latin typeface="Palatino Linotype"/>
                <a:cs typeface="Palatino Linotype"/>
              </a:rPr>
              <a:t> these:</a:t>
            </a:r>
            <a:endParaRPr sz="1200">
              <a:latin typeface="Palatino Linotype"/>
              <a:cs typeface="Palatino Linotype"/>
            </a:endParaRPr>
          </a:p>
          <a:p>
            <a:pPr marL="469265" marR="7620" indent="-228600">
              <a:lnSpc>
                <a:spcPct val="121500"/>
              </a:lnSpc>
              <a:spcBef>
                <a:spcPts val="590"/>
              </a:spcBef>
            </a:pPr>
            <a:r>
              <a:rPr sz="1200" dirty="0">
                <a:latin typeface="Palatino Linotype"/>
                <a:cs typeface="Palatino Linotype"/>
              </a:rPr>
              <a:t>1.</a:t>
            </a:r>
            <a:r>
              <a:rPr sz="1200" spc="130" dirty="0">
                <a:latin typeface="Palatino Linotype"/>
                <a:cs typeface="Palatino Linotype"/>
              </a:rPr>
              <a:t>  </a:t>
            </a:r>
            <a:r>
              <a:rPr sz="1200" dirty="0">
                <a:latin typeface="Palatino Linotype"/>
                <a:cs typeface="Palatino Linotype"/>
              </a:rPr>
              <a:t>Create an</a:t>
            </a:r>
            <a:r>
              <a:rPr sz="1200" spc="-1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ISR</a:t>
            </a:r>
            <a:r>
              <a:rPr sz="1200" spc="-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to</a:t>
            </a:r>
            <a:r>
              <a:rPr sz="1200" spc="-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set a</a:t>
            </a:r>
            <a:r>
              <a:rPr sz="1200" spc="-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global</a:t>
            </a:r>
            <a:r>
              <a:rPr sz="1200" spc="-1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state</a:t>
            </a:r>
            <a:r>
              <a:rPr sz="1200" spc="-1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variable named</a:t>
            </a:r>
            <a:r>
              <a:rPr sz="1200" spc="-5" dirty="0">
                <a:latin typeface="Palatino Linotype"/>
                <a:cs typeface="Palatino Linotype"/>
              </a:rPr>
              <a:t> </a:t>
            </a:r>
            <a:r>
              <a:rPr sz="1200" spc="-20" dirty="0">
                <a:latin typeface="Courier New"/>
                <a:cs typeface="Courier New"/>
              </a:rPr>
              <a:t>“Mode”</a:t>
            </a:r>
            <a:r>
              <a:rPr sz="1200" spc="-425" dirty="0">
                <a:latin typeface="Courier New"/>
                <a:cs typeface="Courier New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to</a:t>
            </a:r>
            <a:r>
              <a:rPr sz="1200" spc="-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0,</a:t>
            </a:r>
            <a:r>
              <a:rPr sz="1200" spc="-1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1,</a:t>
            </a:r>
            <a:r>
              <a:rPr sz="1200" spc="-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2,</a:t>
            </a:r>
            <a:r>
              <a:rPr sz="1200" spc="-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or</a:t>
            </a:r>
            <a:r>
              <a:rPr sz="1200" spc="-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3</a:t>
            </a:r>
            <a:r>
              <a:rPr sz="1200" spc="-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as</a:t>
            </a:r>
            <a:r>
              <a:rPr sz="1200" spc="-10" dirty="0">
                <a:latin typeface="Palatino Linotype"/>
                <a:cs typeface="Palatino Linotype"/>
              </a:rPr>
              <a:t> </a:t>
            </a:r>
            <a:r>
              <a:rPr sz="1200" spc="-25" dirty="0">
                <a:latin typeface="Palatino Linotype"/>
                <a:cs typeface="Palatino Linotype"/>
              </a:rPr>
              <a:t>you </a:t>
            </a:r>
            <a:r>
              <a:rPr sz="1200" dirty="0">
                <a:latin typeface="Palatino Linotype"/>
                <a:cs typeface="Palatino Linotype"/>
              </a:rPr>
              <a:t>continue</a:t>
            </a:r>
            <a:r>
              <a:rPr sz="1200" spc="-4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to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press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and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release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the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center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joystick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button.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b="1" dirty="0">
                <a:latin typeface="Palatino Linotype"/>
                <a:cs typeface="Palatino Linotype"/>
              </a:rPr>
              <a:t>Only</a:t>
            </a:r>
            <a:r>
              <a:rPr sz="1200" b="1" spc="-20" dirty="0">
                <a:latin typeface="Palatino Linotype"/>
                <a:cs typeface="Palatino Linotype"/>
              </a:rPr>
              <a:t> </a:t>
            </a:r>
            <a:r>
              <a:rPr sz="1200" b="1" dirty="0">
                <a:latin typeface="Palatino Linotype"/>
                <a:cs typeface="Palatino Linotype"/>
              </a:rPr>
              <a:t>change</a:t>
            </a:r>
            <a:r>
              <a:rPr sz="1200" b="1" spc="-15" dirty="0">
                <a:latin typeface="Palatino Linotype"/>
                <a:cs typeface="Palatino Linotype"/>
              </a:rPr>
              <a:t> </a:t>
            </a:r>
            <a:r>
              <a:rPr sz="1200" spc="-20" dirty="0">
                <a:latin typeface="Courier New"/>
                <a:cs typeface="Courier New"/>
              </a:rPr>
              <a:t>Mode</a:t>
            </a:r>
            <a:r>
              <a:rPr sz="1200" spc="-425" dirty="0">
                <a:latin typeface="Courier New"/>
                <a:cs typeface="Courier New"/>
              </a:rPr>
              <a:t> </a:t>
            </a:r>
            <a:r>
              <a:rPr sz="1200" b="1" spc="-20" dirty="0">
                <a:latin typeface="Palatino Linotype"/>
                <a:cs typeface="Palatino Linotype"/>
              </a:rPr>
              <a:t>when </a:t>
            </a:r>
            <a:r>
              <a:rPr sz="1200" b="1" dirty="0">
                <a:latin typeface="Palatino Linotype"/>
                <a:cs typeface="Palatino Linotype"/>
              </a:rPr>
              <a:t>the</a:t>
            </a:r>
            <a:r>
              <a:rPr sz="1200" b="1" spc="-20" dirty="0">
                <a:latin typeface="Palatino Linotype"/>
                <a:cs typeface="Palatino Linotype"/>
              </a:rPr>
              <a:t> </a:t>
            </a:r>
            <a:r>
              <a:rPr sz="1200" b="1" dirty="0">
                <a:latin typeface="Palatino Linotype"/>
                <a:cs typeface="Palatino Linotype"/>
              </a:rPr>
              <a:t>button</a:t>
            </a:r>
            <a:r>
              <a:rPr sz="1200" b="1" spc="-20" dirty="0">
                <a:latin typeface="Palatino Linotype"/>
                <a:cs typeface="Palatino Linotype"/>
              </a:rPr>
              <a:t> </a:t>
            </a:r>
            <a:r>
              <a:rPr sz="1200" b="1" dirty="0">
                <a:latin typeface="Palatino Linotype"/>
                <a:cs typeface="Palatino Linotype"/>
              </a:rPr>
              <a:t>is</a:t>
            </a:r>
            <a:r>
              <a:rPr sz="1200" b="1" spc="-20" dirty="0">
                <a:latin typeface="Palatino Linotype"/>
                <a:cs typeface="Palatino Linotype"/>
              </a:rPr>
              <a:t> </a:t>
            </a:r>
            <a:r>
              <a:rPr sz="1200" b="1" u="sng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released</a:t>
            </a:r>
            <a:r>
              <a:rPr sz="1200" u="none" dirty="0">
                <a:latin typeface="Palatino Linotype"/>
                <a:cs typeface="Palatino Linotype"/>
              </a:rPr>
              <a:t>,</a:t>
            </a:r>
            <a:r>
              <a:rPr sz="1200" u="none" spc="-10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and</a:t>
            </a:r>
            <a:r>
              <a:rPr sz="1200" u="none" spc="-25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after</a:t>
            </a:r>
            <a:r>
              <a:rPr sz="1200" u="none" spc="-15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3</a:t>
            </a:r>
            <a:r>
              <a:rPr sz="1200" u="none" spc="-15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go</a:t>
            </a:r>
            <a:r>
              <a:rPr sz="1200" u="none" spc="-20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back</a:t>
            </a:r>
            <a:r>
              <a:rPr sz="1200" u="none" spc="-20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to</a:t>
            </a:r>
            <a:r>
              <a:rPr sz="1200" u="none" spc="-25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0.</a:t>
            </a:r>
            <a:r>
              <a:rPr sz="1200" u="none" spc="265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(The</a:t>
            </a:r>
            <a:r>
              <a:rPr sz="1200" u="none" spc="-15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lab</a:t>
            </a:r>
            <a:r>
              <a:rPr sz="1200" u="none" spc="-15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slides</a:t>
            </a:r>
            <a:r>
              <a:rPr sz="1200" u="none" spc="-25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recommend</a:t>
            </a:r>
            <a:r>
              <a:rPr sz="1200" u="none" spc="-15" dirty="0">
                <a:latin typeface="Palatino Linotype"/>
                <a:cs typeface="Palatino Linotype"/>
              </a:rPr>
              <a:t> </a:t>
            </a:r>
            <a:r>
              <a:rPr sz="1200" u="none" spc="-10" dirty="0">
                <a:latin typeface="Palatino Linotype"/>
                <a:cs typeface="Palatino Linotype"/>
              </a:rPr>
              <a:t>using </a:t>
            </a:r>
            <a:r>
              <a:rPr sz="1200" u="none" dirty="0">
                <a:latin typeface="Palatino Linotype"/>
                <a:cs typeface="Palatino Linotype"/>
              </a:rPr>
              <a:t>enum</a:t>
            </a:r>
            <a:r>
              <a:rPr sz="1200" u="none" spc="-25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data</a:t>
            </a:r>
            <a:r>
              <a:rPr sz="1200" u="none" spc="-15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structure…</a:t>
            </a:r>
            <a:r>
              <a:rPr sz="1200" u="none" spc="-15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Review</a:t>
            </a:r>
            <a:r>
              <a:rPr sz="1200" u="none" spc="-20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your</a:t>
            </a:r>
            <a:r>
              <a:rPr sz="1200" u="none" spc="-20" dirty="0">
                <a:latin typeface="Palatino Linotype"/>
                <a:cs typeface="Palatino Linotype"/>
              </a:rPr>
              <a:t> </a:t>
            </a:r>
            <a:r>
              <a:rPr sz="1200" u="none" spc="-10" dirty="0">
                <a:latin typeface="Palatino Linotype"/>
                <a:cs typeface="Palatino Linotype"/>
              </a:rPr>
              <a:t>C-</a:t>
            </a:r>
            <a:r>
              <a:rPr sz="1200" u="none" dirty="0">
                <a:latin typeface="Palatino Linotype"/>
                <a:cs typeface="Palatino Linotype"/>
              </a:rPr>
              <a:t>textbook,</a:t>
            </a:r>
            <a:r>
              <a:rPr sz="1200" u="none" spc="-15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or</a:t>
            </a:r>
            <a:r>
              <a:rPr sz="1200" u="none" spc="-15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the</a:t>
            </a:r>
            <a:r>
              <a:rPr sz="1200" u="none" spc="-20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one</a:t>
            </a:r>
            <a:r>
              <a:rPr sz="1200" u="none" spc="-15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in</a:t>
            </a:r>
            <a:r>
              <a:rPr sz="1200" u="none" spc="-15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the</a:t>
            </a:r>
            <a:r>
              <a:rPr sz="1200" u="none" spc="-15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lab,</a:t>
            </a:r>
            <a:r>
              <a:rPr sz="1200" u="none" spc="-25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if</a:t>
            </a:r>
            <a:r>
              <a:rPr sz="1200" u="none" spc="-20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you</a:t>
            </a:r>
            <a:r>
              <a:rPr sz="1200" u="none" spc="-5" dirty="0">
                <a:latin typeface="Palatino Linotype"/>
                <a:cs typeface="Palatino Linotype"/>
              </a:rPr>
              <a:t> </a:t>
            </a:r>
            <a:r>
              <a:rPr sz="1200" u="none" spc="-20" dirty="0">
                <a:latin typeface="Palatino Linotype"/>
                <a:cs typeface="Palatino Linotype"/>
              </a:rPr>
              <a:t>need </a:t>
            </a:r>
            <a:r>
              <a:rPr sz="1200" u="none" dirty="0">
                <a:latin typeface="Palatino Linotype"/>
                <a:cs typeface="Palatino Linotype"/>
              </a:rPr>
              <a:t>some</a:t>
            </a:r>
            <a:r>
              <a:rPr sz="1200" u="none" spc="-35" dirty="0">
                <a:latin typeface="Palatino Linotype"/>
                <a:cs typeface="Palatino Linotype"/>
              </a:rPr>
              <a:t> </a:t>
            </a:r>
            <a:r>
              <a:rPr sz="1200" u="none" spc="-10" dirty="0">
                <a:latin typeface="Palatino Linotype"/>
                <a:cs typeface="Palatino Linotype"/>
              </a:rPr>
              <a:t>review).</a:t>
            </a:r>
            <a:endParaRPr sz="1200">
              <a:latin typeface="Palatino Linotype"/>
              <a:cs typeface="Palatino Linotype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71565" y="736766"/>
            <a:ext cx="5818268" cy="3252741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20"/>
              </a:lnSpc>
            </a:pPr>
            <a:r>
              <a:rPr spc="-10" dirty="0"/>
              <a:t>-</a:t>
            </a:r>
            <a:fld id="{81D60167-4931-47E6-BA6A-407CBD079E47}" type="slidenum">
              <a:rPr spc="-25" dirty="0"/>
              <a:t>4</a:t>
            </a:fld>
            <a:r>
              <a:rPr spc="-25" dirty="0"/>
              <a:t>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04875"/>
            <a:ext cx="5971540" cy="4968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414645" algn="l"/>
              </a:tabLst>
            </a:pPr>
            <a:r>
              <a:rPr sz="1100" b="1" dirty="0">
                <a:latin typeface="Palatino Linotype"/>
                <a:cs typeface="Palatino Linotype"/>
              </a:rPr>
              <a:t>EECE</a:t>
            </a:r>
            <a:r>
              <a:rPr sz="1100" b="1" spc="-15" dirty="0">
                <a:latin typeface="Palatino Linotype"/>
                <a:cs typeface="Palatino Linotype"/>
              </a:rPr>
              <a:t> </a:t>
            </a:r>
            <a:r>
              <a:rPr sz="1100" b="1" dirty="0">
                <a:latin typeface="Palatino Linotype"/>
                <a:cs typeface="Palatino Linotype"/>
              </a:rPr>
              <a:t>3624:</a:t>
            </a:r>
            <a:r>
              <a:rPr sz="1100" b="1" spc="-15" dirty="0">
                <a:latin typeface="Palatino Linotype"/>
                <a:cs typeface="Palatino Linotype"/>
              </a:rPr>
              <a:t> </a:t>
            </a:r>
            <a:r>
              <a:rPr sz="1100" b="1" spc="-10" dirty="0">
                <a:latin typeface="Palatino Linotype"/>
                <a:cs typeface="Palatino Linotype"/>
              </a:rPr>
              <a:t>Microprocessors</a:t>
            </a:r>
            <a:r>
              <a:rPr sz="1100" b="1" dirty="0">
                <a:latin typeface="Palatino Linotype"/>
                <a:cs typeface="Palatino Linotype"/>
              </a:rPr>
              <a:t>	</a:t>
            </a:r>
            <a:r>
              <a:rPr sz="1100" dirty="0">
                <a:latin typeface="Palatino Linotype"/>
                <a:cs typeface="Palatino Linotype"/>
              </a:rPr>
              <a:t>Fall</a:t>
            </a:r>
            <a:r>
              <a:rPr sz="1100" spc="-20" dirty="0">
                <a:latin typeface="Palatino Linotype"/>
                <a:cs typeface="Palatino Linotype"/>
              </a:rPr>
              <a:t> 2023</a:t>
            </a:r>
            <a:endParaRPr sz="1100">
              <a:latin typeface="Palatino Linotype"/>
              <a:cs typeface="Palatino Linotype"/>
            </a:endParaRPr>
          </a:p>
          <a:p>
            <a:pPr marL="469265" marR="57785">
              <a:lnSpc>
                <a:spcPct val="121400"/>
              </a:lnSpc>
              <a:spcBef>
                <a:spcPts val="900"/>
              </a:spcBef>
            </a:pPr>
            <a:r>
              <a:rPr sz="1200" i="1" dirty="0">
                <a:latin typeface="Palatino Linotype"/>
                <a:cs typeface="Palatino Linotype"/>
              </a:rPr>
              <a:t>Professor</a:t>
            </a:r>
            <a:r>
              <a:rPr sz="1200" i="1" spc="-25" dirty="0">
                <a:latin typeface="Palatino Linotype"/>
                <a:cs typeface="Palatino Linotype"/>
              </a:rPr>
              <a:t> </a:t>
            </a:r>
            <a:r>
              <a:rPr sz="1200" i="1" dirty="0">
                <a:latin typeface="Palatino Linotype"/>
                <a:cs typeface="Palatino Linotype"/>
              </a:rPr>
              <a:t>Note:</a:t>
            </a:r>
            <a:r>
              <a:rPr sz="1200" i="1" spc="260" dirty="0">
                <a:latin typeface="Palatino Linotype"/>
                <a:cs typeface="Palatino Linotype"/>
              </a:rPr>
              <a:t> </a:t>
            </a:r>
            <a:r>
              <a:rPr sz="1200" i="1" dirty="0">
                <a:latin typeface="Palatino Linotype"/>
                <a:cs typeface="Palatino Linotype"/>
              </a:rPr>
              <a:t>The</a:t>
            </a:r>
            <a:r>
              <a:rPr sz="1200" i="1" spc="-25" dirty="0">
                <a:latin typeface="Palatino Linotype"/>
                <a:cs typeface="Palatino Linotype"/>
              </a:rPr>
              <a:t> </a:t>
            </a:r>
            <a:r>
              <a:rPr sz="1200" i="1" dirty="0">
                <a:latin typeface="Palatino Linotype"/>
                <a:cs typeface="Palatino Linotype"/>
              </a:rPr>
              <a:t>center</a:t>
            </a:r>
            <a:r>
              <a:rPr sz="1200" i="1" spc="-25" dirty="0">
                <a:latin typeface="Palatino Linotype"/>
                <a:cs typeface="Palatino Linotype"/>
              </a:rPr>
              <a:t> </a:t>
            </a:r>
            <a:r>
              <a:rPr sz="1200" i="1" dirty="0">
                <a:latin typeface="Palatino Linotype"/>
                <a:cs typeface="Palatino Linotype"/>
              </a:rPr>
              <a:t>joystick</a:t>
            </a:r>
            <a:r>
              <a:rPr sz="1200" i="1" spc="-25" dirty="0">
                <a:latin typeface="Palatino Linotype"/>
                <a:cs typeface="Palatino Linotype"/>
              </a:rPr>
              <a:t> </a:t>
            </a:r>
            <a:r>
              <a:rPr sz="1200" i="1" dirty="0">
                <a:latin typeface="Palatino Linotype"/>
                <a:cs typeface="Palatino Linotype"/>
              </a:rPr>
              <a:t>button</a:t>
            </a:r>
            <a:r>
              <a:rPr sz="1200" i="1" spc="-10" dirty="0">
                <a:latin typeface="Palatino Linotype"/>
                <a:cs typeface="Palatino Linotype"/>
              </a:rPr>
              <a:t> </a:t>
            </a:r>
            <a:r>
              <a:rPr sz="1200" i="1" dirty="0">
                <a:latin typeface="Palatino Linotype"/>
                <a:cs typeface="Palatino Linotype"/>
              </a:rPr>
              <a:t>is</a:t>
            </a:r>
            <a:r>
              <a:rPr sz="1200" i="1" spc="-25" dirty="0">
                <a:latin typeface="Palatino Linotype"/>
                <a:cs typeface="Palatino Linotype"/>
              </a:rPr>
              <a:t> </a:t>
            </a:r>
            <a:r>
              <a:rPr sz="1200" i="1" dirty="0">
                <a:latin typeface="Palatino Linotype"/>
                <a:cs typeface="Palatino Linotype"/>
              </a:rPr>
              <a:t>wired</a:t>
            </a:r>
            <a:r>
              <a:rPr sz="1200" i="1" spc="-20" dirty="0">
                <a:latin typeface="Palatino Linotype"/>
                <a:cs typeface="Palatino Linotype"/>
              </a:rPr>
              <a:t> </a:t>
            </a:r>
            <a:r>
              <a:rPr sz="1200" i="1" dirty="0">
                <a:latin typeface="Palatino Linotype"/>
                <a:cs typeface="Palatino Linotype"/>
              </a:rPr>
              <a:t>to</a:t>
            </a:r>
            <a:r>
              <a:rPr sz="1200" i="1" spc="-30" dirty="0">
                <a:latin typeface="Palatino Linotype"/>
                <a:cs typeface="Palatino Linotype"/>
              </a:rPr>
              <a:t> </a:t>
            </a:r>
            <a:r>
              <a:rPr sz="1200" i="1" dirty="0">
                <a:latin typeface="Palatino Linotype"/>
                <a:cs typeface="Palatino Linotype"/>
              </a:rPr>
              <a:t>a</a:t>
            </a:r>
            <a:r>
              <a:rPr sz="1200" i="1" spc="-25" dirty="0">
                <a:latin typeface="Palatino Linotype"/>
                <a:cs typeface="Palatino Linotype"/>
              </a:rPr>
              <a:t> </a:t>
            </a:r>
            <a:r>
              <a:rPr sz="1200" i="1" dirty="0">
                <a:latin typeface="Palatino Linotype"/>
                <a:cs typeface="Palatino Linotype"/>
              </a:rPr>
              <a:t>pin</a:t>
            </a:r>
            <a:r>
              <a:rPr sz="1200" i="1" spc="-20" dirty="0">
                <a:latin typeface="Palatino Linotype"/>
                <a:cs typeface="Palatino Linotype"/>
              </a:rPr>
              <a:t> </a:t>
            </a:r>
            <a:r>
              <a:rPr sz="1200" i="1" dirty="0">
                <a:latin typeface="Palatino Linotype"/>
                <a:cs typeface="Palatino Linotype"/>
              </a:rPr>
              <a:t>that</a:t>
            </a:r>
            <a:r>
              <a:rPr sz="1200" i="1" spc="-10" dirty="0">
                <a:latin typeface="Palatino Linotype"/>
                <a:cs typeface="Palatino Linotype"/>
              </a:rPr>
              <a:t> </a:t>
            </a:r>
            <a:r>
              <a:rPr sz="1200" i="1" dirty="0">
                <a:latin typeface="Palatino Linotype"/>
                <a:cs typeface="Palatino Linotype"/>
              </a:rPr>
              <a:t>cannot</a:t>
            </a:r>
            <a:r>
              <a:rPr sz="1200" i="1" spc="-20" dirty="0">
                <a:latin typeface="Palatino Linotype"/>
                <a:cs typeface="Palatino Linotype"/>
              </a:rPr>
              <a:t> </a:t>
            </a:r>
            <a:r>
              <a:rPr sz="1200" i="1" dirty="0">
                <a:latin typeface="Palatino Linotype"/>
                <a:cs typeface="Palatino Linotype"/>
              </a:rPr>
              <a:t>generate</a:t>
            </a:r>
            <a:r>
              <a:rPr sz="1200" i="1" spc="-25" dirty="0">
                <a:latin typeface="Palatino Linotype"/>
                <a:cs typeface="Palatino Linotype"/>
              </a:rPr>
              <a:t> an </a:t>
            </a:r>
            <a:r>
              <a:rPr sz="1200" i="1" dirty="0">
                <a:latin typeface="Palatino Linotype"/>
                <a:cs typeface="Palatino Linotype"/>
              </a:rPr>
              <a:t>interrupt</a:t>
            </a:r>
            <a:r>
              <a:rPr sz="1200" i="1" spc="-40" dirty="0">
                <a:latin typeface="Palatino Linotype"/>
                <a:cs typeface="Palatino Linotype"/>
              </a:rPr>
              <a:t> </a:t>
            </a:r>
            <a:r>
              <a:rPr sz="1200" i="1" dirty="0">
                <a:latin typeface="Palatino Linotype"/>
                <a:cs typeface="Palatino Linotype"/>
              </a:rPr>
              <a:t>itself,</a:t>
            </a:r>
            <a:r>
              <a:rPr sz="1200" i="1" spc="-15" dirty="0">
                <a:latin typeface="Palatino Linotype"/>
                <a:cs typeface="Palatino Linotype"/>
              </a:rPr>
              <a:t> </a:t>
            </a:r>
            <a:r>
              <a:rPr sz="1200" i="1" dirty="0">
                <a:latin typeface="Palatino Linotype"/>
                <a:cs typeface="Palatino Linotype"/>
              </a:rPr>
              <a:t>so</a:t>
            </a:r>
            <a:r>
              <a:rPr sz="1200" i="1" spc="-20" dirty="0">
                <a:latin typeface="Palatino Linotype"/>
                <a:cs typeface="Palatino Linotype"/>
              </a:rPr>
              <a:t> </a:t>
            </a:r>
            <a:r>
              <a:rPr sz="1200" i="1" dirty="0">
                <a:latin typeface="Palatino Linotype"/>
                <a:cs typeface="Palatino Linotype"/>
              </a:rPr>
              <a:t>externally</a:t>
            </a:r>
            <a:r>
              <a:rPr sz="1200" i="1" spc="-15" dirty="0">
                <a:latin typeface="Palatino Linotype"/>
                <a:cs typeface="Palatino Linotype"/>
              </a:rPr>
              <a:t> </a:t>
            </a:r>
            <a:r>
              <a:rPr sz="1200" i="1" dirty="0">
                <a:latin typeface="Palatino Linotype"/>
                <a:cs typeface="Palatino Linotype"/>
              </a:rPr>
              <a:t>connect</a:t>
            </a:r>
            <a:r>
              <a:rPr sz="1200" i="1" spc="-25" dirty="0">
                <a:latin typeface="Palatino Linotype"/>
                <a:cs typeface="Palatino Linotype"/>
              </a:rPr>
              <a:t> </a:t>
            </a:r>
            <a:r>
              <a:rPr sz="1200" i="1" dirty="0">
                <a:latin typeface="Palatino Linotype"/>
                <a:cs typeface="Palatino Linotype"/>
              </a:rPr>
              <a:t>the</a:t>
            </a:r>
            <a:r>
              <a:rPr sz="1200" i="1" spc="-20" dirty="0">
                <a:latin typeface="Palatino Linotype"/>
                <a:cs typeface="Palatino Linotype"/>
              </a:rPr>
              <a:t> </a:t>
            </a:r>
            <a:r>
              <a:rPr sz="1200" spc="-20" dirty="0">
                <a:latin typeface="Courier New"/>
                <a:cs typeface="Courier New"/>
              </a:rPr>
              <a:t>PORTB0</a:t>
            </a:r>
            <a:r>
              <a:rPr sz="1200" spc="-434" dirty="0">
                <a:latin typeface="Courier New"/>
                <a:cs typeface="Courier New"/>
              </a:rPr>
              <a:t> </a:t>
            </a:r>
            <a:r>
              <a:rPr sz="1200" i="1" dirty="0">
                <a:latin typeface="Palatino Linotype"/>
                <a:cs typeface="Palatino Linotype"/>
              </a:rPr>
              <a:t>pin</a:t>
            </a:r>
            <a:r>
              <a:rPr sz="1200" i="1" spc="-10" dirty="0">
                <a:latin typeface="Palatino Linotype"/>
                <a:cs typeface="Palatino Linotype"/>
              </a:rPr>
              <a:t> </a:t>
            </a:r>
            <a:r>
              <a:rPr sz="1200" i="1" dirty="0">
                <a:latin typeface="Palatino Linotype"/>
                <a:cs typeface="Palatino Linotype"/>
              </a:rPr>
              <a:t>associated</a:t>
            </a:r>
            <a:r>
              <a:rPr sz="1200" i="1" spc="-15" dirty="0">
                <a:latin typeface="Palatino Linotype"/>
                <a:cs typeface="Palatino Linotype"/>
              </a:rPr>
              <a:t> </a:t>
            </a:r>
            <a:r>
              <a:rPr sz="1200" i="1" dirty="0">
                <a:latin typeface="Palatino Linotype"/>
                <a:cs typeface="Palatino Linotype"/>
              </a:rPr>
              <a:t>with</a:t>
            </a:r>
            <a:r>
              <a:rPr sz="1200" i="1" spc="-15" dirty="0">
                <a:latin typeface="Palatino Linotype"/>
                <a:cs typeface="Palatino Linotype"/>
              </a:rPr>
              <a:t> </a:t>
            </a:r>
            <a:r>
              <a:rPr sz="1200" i="1" dirty="0">
                <a:latin typeface="Palatino Linotype"/>
                <a:cs typeface="Palatino Linotype"/>
              </a:rPr>
              <a:t>the</a:t>
            </a:r>
            <a:r>
              <a:rPr sz="1200" i="1" spc="-20" dirty="0">
                <a:latin typeface="Palatino Linotype"/>
                <a:cs typeface="Palatino Linotype"/>
              </a:rPr>
              <a:t> </a:t>
            </a:r>
            <a:r>
              <a:rPr sz="1200" i="1" dirty="0">
                <a:latin typeface="Palatino Linotype"/>
                <a:cs typeface="Palatino Linotype"/>
              </a:rPr>
              <a:t>center</a:t>
            </a:r>
            <a:r>
              <a:rPr sz="1200" i="1" spc="-20" dirty="0">
                <a:latin typeface="Palatino Linotype"/>
                <a:cs typeface="Palatino Linotype"/>
              </a:rPr>
              <a:t> </a:t>
            </a:r>
            <a:r>
              <a:rPr sz="1200" i="1" spc="-10" dirty="0">
                <a:latin typeface="Palatino Linotype"/>
                <a:cs typeface="Palatino Linotype"/>
              </a:rPr>
              <a:t>joystick </a:t>
            </a:r>
            <a:r>
              <a:rPr sz="1200" i="1" dirty="0">
                <a:latin typeface="Palatino Linotype"/>
                <a:cs typeface="Palatino Linotype"/>
              </a:rPr>
              <a:t>switch</a:t>
            </a:r>
            <a:r>
              <a:rPr sz="1200" i="1" spc="-15" dirty="0">
                <a:latin typeface="Palatino Linotype"/>
                <a:cs typeface="Palatino Linotype"/>
              </a:rPr>
              <a:t> </a:t>
            </a:r>
            <a:r>
              <a:rPr sz="1200" i="1" dirty="0">
                <a:latin typeface="Palatino Linotype"/>
                <a:cs typeface="Palatino Linotype"/>
              </a:rPr>
              <a:t>to</a:t>
            </a:r>
            <a:r>
              <a:rPr sz="1200" i="1" spc="-15" dirty="0">
                <a:latin typeface="Palatino Linotype"/>
                <a:cs typeface="Palatino Linotype"/>
              </a:rPr>
              <a:t> </a:t>
            </a:r>
            <a:r>
              <a:rPr sz="1200" i="1" dirty="0">
                <a:latin typeface="Palatino Linotype"/>
                <a:cs typeface="Palatino Linotype"/>
              </a:rPr>
              <a:t>the</a:t>
            </a:r>
            <a:r>
              <a:rPr sz="1200" i="1" spc="-5" dirty="0">
                <a:latin typeface="Palatino Linotype"/>
                <a:cs typeface="Palatino Linotype"/>
              </a:rPr>
              <a:t> </a:t>
            </a:r>
            <a:r>
              <a:rPr sz="1200" spc="-20" dirty="0">
                <a:latin typeface="Courier New"/>
                <a:cs typeface="Courier New"/>
              </a:rPr>
              <a:t>PORTD0</a:t>
            </a:r>
            <a:r>
              <a:rPr sz="1200" spc="-420" dirty="0">
                <a:latin typeface="Courier New"/>
                <a:cs typeface="Courier New"/>
              </a:rPr>
              <a:t> </a:t>
            </a:r>
            <a:r>
              <a:rPr sz="1200" i="1" dirty="0">
                <a:latin typeface="Palatino Linotype"/>
                <a:cs typeface="Palatino Linotype"/>
              </a:rPr>
              <a:t>pin and</a:t>
            </a:r>
            <a:r>
              <a:rPr sz="1200" i="1" spc="-5" dirty="0">
                <a:latin typeface="Palatino Linotype"/>
                <a:cs typeface="Palatino Linotype"/>
              </a:rPr>
              <a:t> </a:t>
            </a:r>
            <a:r>
              <a:rPr sz="1200" i="1" dirty="0">
                <a:latin typeface="Palatino Linotype"/>
                <a:cs typeface="Palatino Linotype"/>
              </a:rPr>
              <a:t>use</a:t>
            </a:r>
            <a:r>
              <a:rPr sz="1200" i="1" spc="-5" dirty="0">
                <a:latin typeface="Palatino Linotype"/>
                <a:cs typeface="Palatino Linotype"/>
              </a:rPr>
              <a:t> </a:t>
            </a:r>
            <a:r>
              <a:rPr sz="1200" i="1" dirty="0">
                <a:latin typeface="Palatino Linotype"/>
                <a:cs typeface="Palatino Linotype"/>
              </a:rPr>
              <a:t>interrupt</a:t>
            </a:r>
            <a:r>
              <a:rPr sz="1200" i="1" spc="-10" dirty="0">
                <a:latin typeface="Palatino Linotype"/>
                <a:cs typeface="Palatino Linotype"/>
              </a:rPr>
              <a:t> </a:t>
            </a:r>
            <a:r>
              <a:rPr sz="1200" spc="-20" dirty="0">
                <a:latin typeface="Courier New"/>
                <a:cs typeface="Courier New"/>
              </a:rPr>
              <a:t>INT0</a:t>
            </a:r>
            <a:r>
              <a:rPr sz="1200" spc="-420" dirty="0">
                <a:latin typeface="Courier New"/>
                <a:cs typeface="Courier New"/>
              </a:rPr>
              <a:t> </a:t>
            </a:r>
            <a:r>
              <a:rPr sz="1200" i="1" dirty="0">
                <a:latin typeface="Palatino Linotype"/>
                <a:cs typeface="Palatino Linotype"/>
              </a:rPr>
              <a:t>to</a:t>
            </a:r>
            <a:r>
              <a:rPr sz="1200" i="1" spc="-10" dirty="0">
                <a:latin typeface="Palatino Linotype"/>
                <a:cs typeface="Palatino Linotype"/>
              </a:rPr>
              <a:t> </a:t>
            </a:r>
            <a:r>
              <a:rPr sz="1200" i="1" dirty="0">
                <a:latin typeface="Palatino Linotype"/>
                <a:cs typeface="Palatino Linotype"/>
              </a:rPr>
              <a:t>respond</a:t>
            </a:r>
            <a:r>
              <a:rPr sz="1200" i="1" spc="-5" dirty="0">
                <a:latin typeface="Palatino Linotype"/>
                <a:cs typeface="Palatino Linotype"/>
              </a:rPr>
              <a:t> </a:t>
            </a:r>
            <a:r>
              <a:rPr sz="1200" i="1" dirty="0">
                <a:latin typeface="Palatino Linotype"/>
                <a:cs typeface="Palatino Linotype"/>
              </a:rPr>
              <a:t>to</a:t>
            </a:r>
            <a:r>
              <a:rPr sz="1200" i="1" spc="-15" dirty="0">
                <a:latin typeface="Palatino Linotype"/>
                <a:cs typeface="Palatino Linotype"/>
              </a:rPr>
              <a:t> </a:t>
            </a:r>
            <a:r>
              <a:rPr sz="1200" i="1" dirty="0">
                <a:latin typeface="Palatino Linotype"/>
                <a:cs typeface="Palatino Linotype"/>
              </a:rPr>
              <a:t>release</a:t>
            </a:r>
            <a:r>
              <a:rPr sz="1200" i="1" spc="-10" dirty="0">
                <a:latin typeface="Palatino Linotype"/>
                <a:cs typeface="Palatino Linotype"/>
              </a:rPr>
              <a:t> </a:t>
            </a:r>
            <a:r>
              <a:rPr sz="1200" i="1" dirty="0">
                <a:latin typeface="Palatino Linotype"/>
                <a:cs typeface="Palatino Linotype"/>
              </a:rPr>
              <a:t>of</a:t>
            </a:r>
            <a:r>
              <a:rPr sz="1200" i="1" spc="10" dirty="0">
                <a:latin typeface="Palatino Linotype"/>
                <a:cs typeface="Palatino Linotype"/>
              </a:rPr>
              <a:t> </a:t>
            </a:r>
            <a:r>
              <a:rPr sz="1200" i="1" dirty="0">
                <a:latin typeface="Palatino Linotype"/>
                <a:cs typeface="Palatino Linotype"/>
              </a:rPr>
              <a:t>the</a:t>
            </a:r>
            <a:r>
              <a:rPr sz="1200" i="1" spc="-5" dirty="0">
                <a:latin typeface="Palatino Linotype"/>
                <a:cs typeface="Palatino Linotype"/>
              </a:rPr>
              <a:t> </a:t>
            </a:r>
            <a:r>
              <a:rPr sz="1200" i="1" spc="-10" dirty="0">
                <a:latin typeface="Palatino Linotype"/>
                <a:cs typeface="Palatino Linotype"/>
              </a:rPr>
              <a:t>joystick’s </a:t>
            </a:r>
            <a:r>
              <a:rPr sz="1200" i="1" dirty="0">
                <a:latin typeface="Palatino Linotype"/>
                <a:cs typeface="Palatino Linotype"/>
              </a:rPr>
              <a:t>center</a:t>
            </a:r>
            <a:r>
              <a:rPr sz="1200" i="1" spc="-25" dirty="0">
                <a:latin typeface="Palatino Linotype"/>
                <a:cs typeface="Palatino Linotype"/>
              </a:rPr>
              <a:t> </a:t>
            </a:r>
            <a:r>
              <a:rPr sz="1200" i="1" dirty="0">
                <a:latin typeface="Palatino Linotype"/>
                <a:cs typeface="Palatino Linotype"/>
              </a:rPr>
              <a:t>pushbutton.</a:t>
            </a:r>
            <a:r>
              <a:rPr sz="1200" i="1" spc="270" dirty="0">
                <a:latin typeface="Palatino Linotype"/>
                <a:cs typeface="Palatino Linotype"/>
              </a:rPr>
              <a:t> </a:t>
            </a:r>
            <a:r>
              <a:rPr sz="1200" i="1" dirty="0">
                <a:latin typeface="Palatino Linotype"/>
                <a:cs typeface="Palatino Linotype"/>
              </a:rPr>
              <a:t>(If</a:t>
            </a:r>
            <a:r>
              <a:rPr sz="1200" i="1" spc="-15" dirty="0">
                <a:latin typeface="Palatino Linotype"/>
                <a:cs typeface="Palatino Linotype"/>
              </a:rPr>
              <a:t> </a:t>
            </a:r>
            <a:r>
              <a:rPr sz="1200" i="1" dirty="0">
                <a:latin typeface="Palatino Linotype"/>
                <a:cs typeface="Palatino Linotype"/>
              </a:rPr>
              <a:t>this</a:t>
            </a:r>
            <a:r>
              <a:rPr sz="1200" i="1" spc="-20" dirty="0">
                <a:latin typeface="Palatino Linotype"/>
                <a:cs typeface="Palatino Linotype"/>
              </a:rPr>
              <a:t> </a:t>
            </a:r>
            <a:r>
              <a:rPr sz="1200" i="1" dirty="0">
                <a:latin typeface="Palatino Linotype"/>
                <a:cs typeface="Palatino Linotype"/>
              </a:rPr>
              <a:t>does</a:t>
            </a:r>
            <a:r>
              <a:rPr sz="1200" i="1" spc="-20" dirty="0">
                <a:latin typeface="Palatino Linotype"/>
                <a:cs typeface="Palatino Linotype"/>
              </a:rPr>
              <a:t> </a:t>
            </a:r>
            <a:r>
              <a:rPr sz="1200" i="1" dirty="0">
                <a:latin typeface="Palatino Linotype"/>
                <a:cs typeface="Palatino Linotype"/>
              </a:rPr>
              <a:t>not</a:t>
            </a:r>
            <a:r>
              <a:rPr sz="1200" i="1" spc="-15" dirty="0">
                <a:latin typeface="Palatino Linotype"/>
                <a:cs typeface="Palatino Linotype"/>
              </a:rPr>
              <a:t> </a:t>
            </a:r>
            <a:r>
              <a:rPr sz="1200" i="1" dirty="0">
                <a:latin typeface="Palatino Linotype"/>
                <a:cs typeface="Palatino Linotype"/>
              </a:rPr>
              <a:t>make</a:t>
            </a:r>
            <a:r>
              <a:rPr sz="1200" i="1" spc="-20" dirty="0">
                <a:latin typeface="Palatino Linotype"/>
                <a:cs typeface="Palatino Linotype"/>
              </a:rPr>
              <a:t> </a:t>
            </a:r>
            <a:r>
              <a:rPr sz="1200" i="1" dirty="0">
                <a:latin typeface="Palatino Linotype"/>
                <a:cs typeface="Palatino Linotype"/>
              </a:rPr>
              <a:t>sense,</a:t>
            </a:r>
            <a:r>
              <a:rPr sz="1200" i="1" spc="-15" dirty="0">
                <a:latin typeface="Palatino Linotype"/>
                <a:cs typeface="Palatino Linotype"/>
              </a:rPr>
              <a:t> </a:t>
            </a:r>
            <a:r>
              <a:rPr sz="1200" i="1" dirty="0">
                <a:latin typeface="Palatino Linotype"/>
                <a:cs typeface="Palatino Linotype"/>
              </a:rPr>
              <a:t>review</a:t>
            </a:r>
            <a:r>
              <a:rPr sz="1200" i="1" spc="-20" dirty="0">
                <a:latin typeface="Palatino Linotype"/>
                <a:cs typeface="Palatino Linotype"/>
              </a:rPr>
              <a:t> </a:t>
            </a:r>
            <a:r>
              <a:rPr sz="1200" i="1" spc="-10" dirty="0">
                <a:latin typeface="Palatino Linotype"/>
                <a:cs typeface="Palatino Linotype"/>
              </a:rPr>
              <a:t>Lab05!)</a:t>
            </a:r>
            <a:endParaRPr sz="1200">
              <a:latin typeface="Palatino Linotype"/>
              <a:cs typeface="Palatino Linotype"/>
            </a:endParaRPr>
          </a:p>
          <a:p>
            <a:pPr marL="469265" marR="151130" indent="-228600" algn="just">
              <a:lnSpc>
                <a:spcPct val="121200"/>
              </a:lnSpc>
              <a:spcBef>
                <a:spcPts val="10"/>
              </a:spcBef>
              <a:buAutoNum type="arabicPeriod" startAt="2"/>
              <a:tabLst>
                <a:tab pos="469265" algn="l"/>
              </a:tabLst>
            </a:pPr>
            <a:r>
              <a:rPr sz="1200" dirty="0">
                <a:latin typeface="Palatino Linotype"/>
                <a:cs typeface="Palatino Linotype"/>
              </a:rPr>
              <a:t>Create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a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second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ISR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that</a:t>
            </a:r>
            <a:r>
              <a:rPr sz="1200" spc="-1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fires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b="1" u="sng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once</a:t>
            </a:r>
            <a:r>
              <a:rPr sz="1200" b="1" u="sng" spc="-20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 </a:t>
            </a:r>
            <a:r>
              <a:rPr sz="1200" b="1" u="sng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per</a:t>
            </a:r>
            <a:r>
              <a:rPr sz="1200" b="1" u="sng" spc="-25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 </a:t>
            </a:r>
            <a:r>
              <a:rPr sz="1200" b="1" u="sng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millisecond</a:t>
            </a:r>
            <a:r>
              <a:rPr sz="1200" u="none" dirty="0">
                <a:latin typeface="Palatino Linotype"/>
                <a:cs typeface="Palatino Linotype"/>
              </a:rPr>
              <a:t>.</a:t>
            </a:r>
            <a:r>
              <a:rPr sz="1200" u="none" spc="-20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Use</a:t>
            </a:r>
            <a:r>
              <a:rPr sz="1200" u="none" spc="-20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the</a:t>
            </a:r>
            <a:r>
              <a:rPr sz="1200" u="none" spc="-20" dirty="0">
                <a:latin typeface="Palatino Linotype"/>
                <a:cs typeface="Palatino Linotype"/>
              </a:rPr>
              <a:t> </a:t>
            </a:r>
            <a:r>
              <a:rPr sz="1200" b="1" u="none" dirty="0">
                <a:latin typeface="Palatino Linotype"/>
                <a:cs typeface="Palatino Linotype"/>
              </a:rPr>
              <a:t>TIMER0</a:t>
            </a:r>
            <a:r>
              <a:rPr sz="1200" b="1" u="none" spc="-20" dirty="0">
                <a:latin typeface="Palatino Linotype"/>
                <a:cs typeface="Palatino Linotype"/>
              </a:rPr>
              <a:t> </a:t>
            </a:r>
            <a:r>
              <a:rPr sz="1200" b="1" u="none" spc="-10" dirty="0">
                <a:latin typeface="Palatino Linotype"/>
                <a:cs typeface="Palatino Linotype"/>
              </a:rPr>
              <a:t>overflow </a:t>
            </a:r>
            <a:r>
              <a:rPr sz="1200" u="none" dirty="0">
                <a:latin typeface="Palatino Linotype"/>
                <a:cs typeface="Palatino Linotype"/>
              </a:rPr>
              <a:t>condition</a:t>
            </a:r>
            <a:r>
              <a:rPr sz="1200" u="none" spc="-25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to</a:t>
            </a:r>
            <a:r>
              <a:rPr sz="1200" u="none" spc="-20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trigger</a:t>
            </a:r>
            <a:r>
              <a:rPr sz="1200" u="none" spc="-20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the</a:t>
            </a:r>
            <a:r>
              <a:rPr sz="1200" u="none" spc="-35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interrupt,</a:t>
            </a:r>
            <a:r>
              <a:rPr sz="1200" u="none" spc="-25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and</a:t>
            </a:r>
            <a:r>
              <a:rPr sz="1200" u="none" spc="-30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inside</a:t>
            </a:r>
            <a:r>
              <a:rPr sz="1200" u="none" spc="-20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this</a:t>
            </a:r>
            <a:r>
              <a:rPr sz="1200" u="none" spc="-30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second</a:t>
            </a:r>
            <a:r>
              <a:rPr sz="1200" u="none" spc="-25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ISR</a:t>
            </a:r>
            <a:r>
              <a:rPr sz="1200" u="none" spc="-20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increment</a:t>
            </a:r>
            <a:r>
              <a:rPr sz="1200" u="none" spc="-30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a</a:t>
            </a:r>
            <a:r>
              <a:rPr sz="1200" u="none" spc="-20" dirty="0">
                <a:latin typeface="Palatino Linotype"/>
                <a:cs typeface="Palatino Linotype"/>
              </a:rPr>
              <a:t> </a:t>
            </a:r>
            <a:r>
              <a:rPr sz="1200" u="none" spc="-10" dirty="0">
                <a:latin typeface="Palatino Linotype"/>
                <a:cs typeface="Palatino Linotype"/>
              </a:rPr>
              <a:t>global </a:t>
            </a:r>
            <a:r>
              <a:rPr sz="1200" u="none" dirty="0">
                <a:latin typeface="Palatino Linotype"/>
                <a:cs typeface="Palatino Linotype"/>
              </a:rPr>
              <a:t>variable</a:t>
            </a:r>
            <a:r>
              <a:rPr sz="1200" u="none" spc="-45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named</a:t>
            </a:r>
            <a:r>
              <a:rPr sz="1200" u="none" spc="-50" dirty="0">
                <a:latin typeface="Palatino Linotype"/>
                <a:cs typeface="Palatino Linotype"/>
              </a:rPr>
              <a:t> </a:t>
            </a:r>
            <a:r>
              <a:rPr sz="1200" u="none" spc="-10" dirty="0">
                <a:latin typeface="Courier New"/>
                <a:cs typeface="Courier New"/>
              </a:rPr>
              <a:t>“Tick”</a:t>
            </a:r>
            <a:r>
              <a:rPr sz="1200" u="none" spc="-10" dirty="0">
                <a:latin typeface="Palatino Linotype"/>
                <a:cs typeface="Palatino Linotype"/>
              </a:rPr>
              <a:t>.</a:t>
            </a:r>
            <a:endParaRPr sz="1200">
              <a:latin typeface="Palatino Linotype"/>
              <a:cs typeface="Palatino Linotype"/>
            </a:endParaRPr>
          </a:p>
          <a:p>
            <a:pPr marL="469265" marR="401320" algn="just">
              <a:lnSpc>
                <a:spcPts val="1750"/>
              </a:lnSpc>
              <a:spcBef>
                <a:spcPts val="100"/>
              </a:spcBef>
            </a:pPr>
            <a:r>
              <a:rPr sz="1200" i="1" spc="-10" dirty="0">
                <a:latin typeface="Palatino Linotype"/>
                <a:cs typeface="Palatino Linotype"/>
              </a:rPr>
              <a:t>Microprocessor</a:t>
            </a:r>
            <a:r>
              <a:rPr sz="1200" i="1" spc="-20" dirty="0">
                <a:latin typeface="Palatino Linotype"/>
                <a:cs typeface="Palatino Linotype"/>
              </a:rPr>
              <a:t> </a:t>
            </a:r>
            <a:r>
              <a:rPr sz="1200" i="1" dirty="0">
                <a:latin typeface="Palatino Linotype"/>
                <a:cs typeface="Palatino Linotype"/>
              </a:rPr>
              <a:t>Geek</a:t>
            </a:r>
            <a:r>
              <a:rPr sz="1200" i="1" spc="-15" dirty="0">
                <a:latin typeface="Palatino Linotype"/>
                <a:cs typeface="Palatino Linotype"/>
              </a:rPr>
              <a:t> </a:t>
            </a:r>
            <a:r>
              <a:rPr sz="1200" i="1" dirty="0">
                <a:latin typeface="Palatino Linotype"/>
                <a:cs typeface="Palatino Linotype"/>
              </a:rPr>
              <a:t>Note:</a:t>
            </a:r>
            <a:r>
              <a:rPr sz="1200" i="1" spc="-15" dirty="0">
                <a:latin typeface="Palatino Linotype"/>
                <a:cs typeface="Palatino Linotype"/>
              </a:rPr>
              <a:t> </a:t>
            </a:r>
            <a:r>
              <a:rPr sz="1200" i="1" dirty="0">
                <a:latin typeface="Palatino Linotype"/>
                <a:cs typeface="Palatino Linotype"/>
              </a:rPr>
              <a:t>Your</a:t>
            </a:r>
            <a:r>
              <a:rPr sz="1200" i="1" spc="-20" dirty="0">
                <a:latin typeface="Palatino Linotype"/>
                <a:cs typeface="Palatino Linotype"/>
              </a:rPr>
              <a:t> </a:t>
            </a:r>
            <a:r>
              <a:rPr sz="1200" i="1" dirty="0">
                <a:latin typeface="Palatino Linotype"/>
                <a:cs typeface="Palatino Linotype"/>
              </a:rPr>
              <a:t>TIMER0</a:t>
            </a:r>
            <a:r>
              <a:rPr sz="1200" i="1" spc="-15" dirty="0">
                <a:latin typeface="Palatino Linotype"/>
                <a:cs typeface="Palatino Linotype"/>
              </a:rPr>
              <a:t> </a:t>
            </a:r>
            <a:r>
              <a:rPr sz="1200" i="1" dirty="0">
                <a:latin typeface="Palatino Linotype"/>
                <a:cs typeface="Palatino Linotype"/>
              </a:rPr>
              <a:t>interrupt</a:t>
            </a:r>
            <a:r>
              <a:rPr sz="1200" i="1" spc="-15" dirty="0">
                <a:latin typeface="Palatino Linotype"/>
                <a:cs typeface="Palatino Linotype"/>
              </a:rPr>
              <a:t> </a:t>
            </a:r>
            <a:r>
              <a:rPr sz="1200" i="1" dirty="0">
                <a:latin typeface="Palatino Linotype"/>
                <a:cs typeface="Palatino Linotype"/>
              </a:rPr>
              <a:t>handler</a:t>
            </a:r>
            <a:r>
              <a:rPr sz="1200" i="1" spc="-10" dirty="0">
                <a:latin typeface="Palatino Linotype"/>
                <a:cs typeface="Palatino Linotype"/>
              </a:rPr>
              <a:t> </a:t>
            </a:r>
            <a:r>
              <a:rPr sz="1200" i="1" dirty="0">
                <a:latin typeface="Palatino Linotype"/>
                <a:cs typeface="Palatino Linotype"/>
              </a:rPr>
              <a:t>will</a:t>
            </a:r>
            <a:r>
              <a:rPr sz="1200" i="1" spc="-15" dirty="0">
                <a:latin typeface="Palatino Linotype"/>
                <a:cs typeface="Palatino Linotype"/>
              </a:rPr>
              <a:t> </a:t>
            </a:r>
            <a:r>
              <a:rPr sz="1200" i="1" dirty="0">
                <a:latin typeface="Palatino Linotype"/>
                <a:cs typeface="Palatino Linotype"/>
              </a:rPr>
              <a:t>need</a:t>
            </a:r>
            <a:r>
              <a:rPr sz="1200" i="1" spc="-15" dirty="0">
                <a:latin typeface="Palatino Linotype"/>
                <a:cs typeface="Palatino Linotype"/>
              </a:rPr>
              <a:t> </a:t>
            </a:r>
            <a:r>
              <a:rPr sz="1200" i="1" dirty="0">
                <a:latin typeface="Palatino Linotype"/>
                <a:cs typeface="Palatino Linotype"/>
              </a:rPr>
              <a:t>to</a:t>
            </a:r>
            <a:r>
              <a:rPr sz="1200" i="1" spc="-25" dirty="0">
                <a:latin typeface="Palatino Linotype"/>
                <a:cs typeface="Palatino Linotype"/>
              </a:rPr>
              <a:t> </a:t>
            </a:r>
            <a:r>
              <a:rPr sz="1200" i="1" dirty="0">
                <a:latin typeface="Palatino Linotype"/>
                <a:cs typeface="Palatino Linotype"/>
              </a:rPr>
              <a:t>reload</a:t>
            </a:r>
            <a:r>
              <a:rPr sz="1200" i="1" spc="-15" dirty="0">
                <a:latin typeface="Palatino Linotype"/>
                <a:cs typeface="Palatino Linotype"/>
              </a:rPr>
              <a:t> </a:t>
            </a:r>
            <a:r>
              <a:rPr sz="1200" i="1" spc="-25" dirty="0">
                <a:latin typeface="Palatino Linotype"/>
                <a:cs typeface="Palatino Linotype"/>
              </a:rPr>
              <a:t>the </a:t>
            </a:r>
            <a:r>
              <a:rPr sz="1200" i="1" dirty="0">
                <a:latin typeface="Palatino Linotype"/>
                <a:cs typeface="Palatino Linotype"/>
              </a:rPr>
              <a:t>TCNT0</a:t>
            </a:r>
            <a:r>
              <a:rPr sz="1200" i="1" spc="-25" dirty="0">
                <a:latin typeface="Palatino Linotype"/>
                <a:cs typeface="Palatino Linotype"/>
              </a:rPr>
              <a:t> </a:t>
            </a:r>
            <a:r>
              <a:rPr sz="1200" i="1" dirty="0">
                <a:latin typeface="Palatino Linotype"/>
                <a:cs typeface="Palatino Linotype"/>
              </a:rPr>
              <a:t>register</a:t>
            </a:r>
            <a:r>
              <a:rPr sz="1200" i="1" spc="-30" dirty="0">
                <a:latin typeface="Palatino Linotype"/>
                <a:cs typeface="Palatino Linotype"/>
              </a:rPr>
              <a:t> </a:t>
            </a:r>
            <a:r>
              <a:rPr sz="1200" i="1" dirty="0">
                <a:latin typeface="Palatino Linotype"/>
                <a:cs typeface="Palatino Linotype"/>
              </a:rPr>
              <a:t>with</a:t>
            </a:r>
            <a:r>
              <a:rPr sz="1200" i="1" spc="-25" dirty="0">
                <a:latin typeface="Palatino Linotype"/>
                <a:cs typeface="Palatino Linotype"/>
              </a:rPr>
              <a:t> </a:t>
            </a:r>
            <a:r>
              <a:rPr sz="1200" i="1" dirty="0">
                <a:latin typeface="Palatino Linotype"/>
                <a:cs typeface="Palatino Linotype"/>
              </a:rPr>
              <a:t>its</a:t>
            </a:r>
            <a:r>
              <a:rPr sz="1200" i="1" spc="-30" dirty="0">
                <a:latin typeface="Palatino Linotype"/>
                <a:cs typeface="Palatino Linotype"/>
              </a:rPr>
              <a:t> </a:t>
            </a:r>
            <a:r>
              <a:rPr sz="1200" i="1" dirty="0">
                <a:latin typeface="Palatino Linotype"/>
                <a:cs typeface="Palatino Linotype"/>
              </a:rPr>
              <a:t>initial</a:t>
            </a:r>
            <a:r>
              <a:rPr sz="1200" i="1" spc="-25" dirty="0">
                <a:latin typeface="Palatino Linotype"/>
                <a:cs typeface="Palatino Linotype"/>
              </a:rPr>
              <a:t> </a:t>
            </a:r>
            <a:r>
              <a:rPr sz="1200" i="1" dirty="0">
                <a:latin typeface="Palatino Linotype"/>
                <a:cs typeface="Palatino Linotype"/>
              </a:rPr>
              <a:t>count</a:t>
            </a:r>
            <a:r>
              <a:rPr sz="1200" i="1" spc="-25" dirty="0">
                <a:latin typeface="Palatino Linotype"/>
                <a:cs typeface="Palatino Linotype"/>
              </a:rPr>
              <a:t> </a:t>
            </a:r>
            <a:r>
              <a:rPr sz="1200" i="1" dirty="0">
                <a:latin typeface="Palatino Linotype"/>
                <a:cs typeface="Palatino Linotype"/>
              </a:rPr>
              <a:t>value</a:t>
            </a:r>
            <a:r>
              <a:rPr sz="1200" i="1" spc="-30" dirty="0">
                <a:latin typeface="Palatino Linotype"/>
                <a:cs typeface="Palatino Linotype"/>
              </a:rPr>
              <a:t> </a:t>
            </a:r>
            <a:r>
              <a:rPr sz="1200" i="1" dirty="0">
                <a:latin typeface="Palatino Linotype"/>
                <a:cs typeface="Palatino Linotype"/>
              </a:rPr>
              <a:t>so</a:t>
            </a:r>
            <a:r>
              <a:rPr sz="1200" i="1" spc="-20" dirty="0">
                <a:latin typeface="Palatino Linotype"/>
                <a:cs typeface="Palatino Linotype"/>
              </a:rPr>
              <a:t> </a:t>
            </a:r>
            <a:r>
              <a:rPr sz="1200" i="1" dirty="0">
                <a:latin typeface="Palatino Linotype"/>
                <a:cs typeface="Palatino Linotype"/>
              </a:rPr>
              <a:t>that</a:t>
            </a:r>
            <a:r>
              <a:rPr sz="1200" i="1" spc="-30" dirty="0">
                <a:latin typeface="Palatino Linotype"/>
                <a:cs typeface="Palatino Linotype"/>
              </a:rPr>
              <a:t> </a:t>
            </a:r>
            <a:r>
              <a:rPr sz="1200" i="1" dirty="0">
                <a:latin typeface="Palatino Linotype"/>
                <a:cs typeface="Palatino Linotype"/>
              </a:rPr>
              <a:t>TIMER0</a:t>
            </a:r>
            <a:r>
              <a:rPr sz="1200" i="1" spc="-25" dirty="0">
                <a:latin typeface="Palatino Linotype"/>
                <a:cs typeface="Palatino Linotype"/>
              </a:rPr>
              <a:t> </a:t>
            </a:r>
            <a:r>
              <a:rPr sz="1200" i="1" dirty="0">
                <a:latin typeface="Palatino Linotype"/>
                <a:cs typeface="Palatino Linotype"/>
              </a:rPr>
              <a:t>will</a:t>
            </a:r>
            <a:r>
              <a:rPr sz="1200" i="1" spc="-25" dirty="0">
                <a:latin typeface="Palatino Linotype"/>
                <a:cs typeface="Palatino Linotype"/>
              </a:rPr>
              <a:t> </a:t>
            </a:r>
            <a:r>
              <a:rPr sz="1200" i="1" dirty="0">
                <a:latin typeface="Palatino Linotype"/>
                <a:cs typeface="Palatino Linotype"/>
              </a:rPr>
              <a:t>overflow</a:t>
            </a:r>
            <a:r>
              <a:rPr sz="1200" i="1" spc="-15" dirty="0">
                <a:latin typeface="Palatino Linotype"/>
                <a:cs typeface="Palatino Linotype"/>
              </a:rPr>
              <a:t> </a:t>
            </a:r>
            <a:r>
              <a:rPr sz="1200" i="1" dirty="0">
                <a:latin typeface="Palatino Linotype"/>
                <a:cs typeface="Palatino Linotype"/>
              </a:rPr>
              <a:t>again</a:t>
            </a:r>
            <a:r>
              <a:rPr sz="1200" i="1" spc="-20" dirty="0">
                <a:latin typeface="Palatino Linotype"/>
                <a:cs typeface="Palatino Linotype"/>
              </a:rPr>
              <a:t> </a:t>
            </a:r>
            <a:r>
              <a:rPr sz="1200" i="1" spc="-25" dirty="0">
                <a:latin typeface="Palatino Linotype"/>
                <a:cs typeface="Palatino Linotype"/>
              </a:rPr>
              <a:t>in </a:t>
            </a:r>
            <a:r>
              <a:rPr sz="1200" i="1" dirty="0">
                <a:latin typeface="Palatino Linotype"/>
                <a:cs typeface="Palatino Linotype"/>
              </a:rPr>
              <a:t>exactly</a:t>
            </a:r>
            <a:r>
              <a:rPr sz="1200" i="1" spc="-25" dirty="0">
                <a:latin typeface="Palatino Linotype"/>
                <a:cs typeface="Palatino Linotype"/>
              </a:rPr>
              <a:t> </a:t>
            </a:r>
            <a:r>
              <a:rPr sz="1200" i="1" dirty="0">
                <a:latin typeface="Palatino Linotype"/>
                <a:cs typeface="Palatino Linotype"/>
              </a:rPr>
              <a:t>1mS.</a:t>
            </a:r>
            <a:r>
              <a:rPr sz="1200" i="1" spc="-25" dirty="0">
                <a:latin typeface="Palatino Linotype"/>
                <a:cs typeface="Palatino Linotype"/>
              </a:rPr>
              <a:t> </a:t>
            </a:r>
            <a:r>
              <a:rPr sz="1200" b="1" i="1" dirty="0">
                <a:latin typeface="Palatino Linotype"/>
                <a:cs typeface="Palatino Linotype"/>
              </a:rPr>
              <a:t>Very</a:t>
            </a:r>
            <a:r>
              <a:rPr sz="1200" b="1" i="1" spc="-20" dirty="0">
                <a:latin typeface="Palatino Linotype"/>
                <a:cs typeface="Palatino Linotype"/>
              </a:rPr>
              <a:t> </a:t>
            </a:r>
            <a:r>
              <a:rPr sz="1200" b="1" i="1" spc="-10" dirty="0">
                <a:latin typeface="Palatino Linotype"/>
                <a:cs typeface="Palatino Linotype"/>
              </a:rPr>
              <a:t>important</a:t>
            </a:r>
            <a:r>
              <a:rPr sz="1200" i="1" spc="-10" dirty="0">
                <a:latin typeface="Palatino Linotype"/>
                <a:cs typeface="Palatino Linotype"/>
              </a:rPr>
              <a:t>!</a:t>
            </a:r>
            <a:endParaRPr sz="1200">
              <a:latin typeface="Palatino Linotype"/>
              <a:cs typeface="Palatino Linotype"/>
            </a:endParaRPr>
          </a:p>
          <a:p>
            <a:pPr marL="469265" indent="-227965" algn="just">
              <a:lnSpc>
                <a:spcPct val="100000"/>
              </a:lnSpc>
              <a:spcBef>
                <a:spcPts val="195"/>
              </a:spcBef>
              <a:buAutoNum type="arabicPeriod" startAt="3"/>
              <a:tabLst>
                <a:tab pos="469265" algn="l"/>
              </a:tabLst>
            </a:pPr>
            <a:r>
              <a:rPr sz="1200" dirty="0">
                <a:latin typeface="Palatino Linotype"/>
                <a:cs typeface="Palatino Linotype"/>
              </a:rPr>
              <a:t>Once</a:t>
            </a:r>
            <a:r>
              <a:rPr sz="1200" spc="-5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your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interrupt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routines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are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working,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write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your</a:t>
            </a:r>
            <a:r>
              <a:rPr sz="1200" spc="325" dirty="0">
                <a:latin typeface="Palatino Linotype"/>
                <a:cs typeface="Palatino Linotype"/>
              </a:rPr>
              <a:t> </a:t>
            </a:r>
            <a:r>
              <a:rPr sz="1200" spc="-10" dirty="0">
                <a:latin typeface="Consolas"/>
                <a:cs typeface="Consolas"/>
              </a:rPr>
              <a:t>main()</a:t>
            </a:r>
            <a:r>
              <a:rPr sz="1200" spc="-360" dirty="0">
                <a:latin typeface="Consolas"/>
                <a:cs typeface="Consolas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program</a:t>
            </a:r>
            <a:r>
              <a:rPr sz="1200" spc="-25" dirty="0">
                <a:latin typeface="Palatino Linotype"/>
                <a:cs typeface="Palatino Linotype"/>
              </a:rPr>
              <a:t> to</a:t>
            </a:r>
            <a:endParaRPr sz="1200">
              <a:latin typeface="Palatino Linotype"/>
              <a:cs typeface="Palatino Linotype"/>
            </a:endParaRPr>
          </a:p>
          <a:p>
            <a:pPr marL="469265" marR="107314">
              <a:lnSpc>
                <a:spcPct val="121400"/>
              </a:lnSpc>
              <a:spcBef>
                <a:spcPts val="5"/>
              </a:spcBef>
            </a:pPr>
            <a:r>
              <a:rPr sz="1200" dirty="0">
                <a:latin typeface="Palatino Linotype"/>
                <a:cs typeface="Palatino Linotype"/>
              </a:rPr>
              <a:t>implement</a:t>
            </a:r>
            <a:r>
              <a:rPr sz="1200" spc="-5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the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LED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flashing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patterns</a:t>
            </a:r>
            <a:r>
              <a:rPr sz="1200" spc="-3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mentioned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earlier.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Your</a:t>
            </a:r>
            <a:r>
              <a:rPr sz="1200" spc="325" dirty="0">
                <a:latin typeface="Palatino Linotype"/>
                <a:cs typeface="Palatino Linotype"/>
              </a:rPr>
              <a:t> </a:t>
            </a:r>
            <a:r>
              <a:rPr sz="1200" spc="-10" dirty="0">
                <a:latin typeface="Consolas"/>
                <a:cs typeface="Consolas"/>
              </a:rPr>
              <a:t>main()</a:t>
            </a:r>
            <a:r>
              <a:rPr sz="1200" spc="-360" dirty="0">
                <a:latin typeface="Consolas"/>
                <a:cs typeface="Consolas"/>
              </a:rPr>
              <a:t> </a:t>
            </a:r>
            <a:r>
              <a:rPr sz="1200" spc="-20" dirty="0">
                <a:latin typeface="Palatino Linotype"/>
                <a:cs typeface="Palatino Linotype"/>
              </a:rPr>
              <a:t>code </a:t>
            </a:r>
            <a:r>
              <a:rPr sz="1200" dirty="0">
                <a:latin typeface="Palatino Linotype"/>
                <a:cs typeface="Palatino Linotype"/>
              </a:rPr>
              <a:t>should</a:t>
            </a:r>
            <a:r>
              <a:rPr sz="1200" spc="-3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configure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the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interrupt</a:t>
            </a:r>
            <a:r>
              <a:rPr sz="1200" spc="-3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registers</a:t>
            </a:r>
            <a:r>
              <a:rPr sz="1200" spc="-3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and</a:t>
            </a:r>
            <a:r>
              <a:rPr sz="1200" spc="-3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I/O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lines,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then</a:t>
            </a:r>
            <a:r>
              <a:rPr sz="1200" spc="-3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enter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an</a:t>
            </a:r>
            <a:r>
              <a:rPr sz="1200" spc="-4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infinite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spc="-20" dirty="0">
                <a:latin typeface="Palatino Linotype"/>
                <a:cs typeface="Palatino Linotype"/>
              </a:rPr>
              <a:t>loop </a:t>
            </a:r>
            <a:r>
              <a:rPr sz="1200" dirty="0">
                <a:latin typeface="Palatino Linotype"/>
                <a:cs typeface="Palatino Linotype"/>
              </a:rPr>
              <a:t>(often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called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a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i="1" dirty="0">
                <a:latin typeface="Palatino Linotype"/>
                <a:cs typeface="Palatino Linotype"/>
              </a:rPr>
              <a:t>“game</a:t>
            </a:r>
            <a:r>
              <a:rPr sz="1200" i="1" spc="-30" dirty="0">
                <a:latin typeface="Palatino Linotype"/>
                <a:cs typeface="Palatino Linotype"/>
              </a:rPr>
              <a:t> </a:t>
            </a:r>
            <a:r>
              <a:rPr sz="1200" i="1" dirty="0">
                <a:latin typeface="Palatino Linotype"/>
                <a:cs typeface="Palatino Linotype"/>
              </a:rPr>
              <a:t>loop”</a:t>
            </a:r>
            <a:r>
              <a:rPr sz="1200" dirty="0">
                <a:latin typeface="Palatino Linotype"/>
                <a:cs typeface="Palatino Linotype"/>
              </a:rPr>
              <a:t>)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that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uses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Mode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and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Tick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to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decide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which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pattern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spc="-25" dirty="0">
                <a:latin typeface="Palatino Linotype"/>
                <a:cs typeface="Palatino Linotype"/>
              </a:rPr>
              <a:t>to </a:t>
            </a:r>
            <a:r>
              <a:rPr sz="1200" dirty="0">
                <a:latin typeface="Palatino Linotype"/>
                <a:cs typeface="Palatino Linotype"/>
              </a:rPr>
              <a:t>use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and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which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LED(s)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to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turn</a:t>
            </a:r>
            <a:r>
              <a:rPr sz="1200" spc="-3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on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and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off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every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spc="-10" dirty="0">
                <a:latin typeface="Palatino Linotype"/>
                <a:cs typeface="Palatino Linotype"/>
              </a:rPr>
              <a:t>50mS.</a:t>
            </a:r>
            <a:endParaRPr sz="1200">
              <a:latin typeface="Palatino Linotype"/>
              <a:cs typeface="Palatino Linotype"/>
            </a:endParaRPr>
          </a:p>
          <a:p>
            <a:pPr marL="469265" indent="-227965" algn="just">
              <a:lnSpc>
                <a:spcPct val="100000"/>
              </a:lnSpc>
              <a:spcBef>
                <a:spcPts val="300"/>
              </a:spcBef>
              <a:buAutoNum type="arabicPeriod" startAt="4"/>
              <a:tabLst>
                <a:tab pos="469265" algn="l"/>
              </a:tabLst>
            </a:pPr>
            <a:r>
              <a:rPr sz="1200" dirty="0">
                <a:latin typeface="Palatino Linotype"/>
                <a:cs typeface="Palatino Linotype"/>
                <a:hlinkClick r:id="rId3" action="ppaction://hlinksldjump"/>
              </a:rPr>
              <a:t>Figure</a:t>
            </a:r>
            <a:r>
              <a:rPr sz="1200" spc="-30" dirty="0">
                <a:latin typeface="Palatino Linotype"/>
                <a:cs typeface="Palatino Linotype"/>
                <a:hlinkClick r:id="rId3" action="ppaction://hlinksldjump"/>
              </a:rPr>
              <a:t> </a:t>
            </a:r>
            <a:r>
              <a:rPr sz="1200" dirty="0">
                <a:latin typeface="Palatino Linotype"/>
                <a:cs typeface="Palatino Linotype"/>
                <a:hlinkClick r:id="rId3" action="ppaction://hlinksldjump"/>
              </a:rPr>
              <a:t>3</a:t>
            </a:r>
            <a:r>
              <a:rPr sz="1200" spc="-1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shows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this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logic.</a:t>
            </a:r>
            <a:r>
              <a:rPr sz="1200" spc="-1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The</a:t>
            </a:r>
            <a:r>
              <a:rPr sz="1200" spc="-1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“little”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loop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in</a:t>
            </a:r>
            <a:r>
              <a:rPr sz="1200" spc="325" dirty="0">
                <a:latin typeface="Palatino Linotype"/>
                <a:cs typeface="Palatino Linotype"/>
              </a:rPr>
              <a:t> </a:t>
            </a:r>
            <a:r>
              <a:rPr sz="1200" spc="-10" dirty="0">
                <a:latin typeface="Consolas"/>
                <a:cs typeface="Consolas"/>
              </a:rPr>
              <a:t>main()</a:t>
            </a:r>
            <a:r>
              <a:rPr sz="1200" spc="-360" dirty="0">
                <a:latin typeface="Consolas"/>
                <a:cs typeface="Consolas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spins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until</a:t>
            </a:r>
            <a:r>
              <a:rPr sz="1200" spc="-1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“Tick”</a:t>
            </a:r>
            <a:r>
              <a:rPr sz="1200" spc="-10" dirty="0">
                <a:latin typeface="Palatino Linotype"/>
                <a:cs typeface="Palatino Linotype"/>
              </a:rPr>
              <a:t> reaches</a:t>
            </a:r>
            <a:endParaRPr sz="1200">
              <a:latin typeface="Palatino Linotype"/>
              <a:cs typeface="Palatino Linotype"/>
            </a:endParaRPr>
          </a:p>
          <a:p>
            <a:pPr marL="469265" marR="66675" algn="just">
              <a:lnSpc>
                <a:spcPct val="121200"/>
              </a:lnSpc>
              <a:spcBef>
                <a:spcPts val="5"/>
              </a:spcBef>
            </a:pPr>
            <a:r>
              <a:rPr sz="1200" dirty="0">
                <a:latin typeface="Palatino Linotype"/>
                <a:cs typeface="Palatino Linotype"/>
              </a:rPr>
              <a:t>50.</a:t>
            </a:r>
            <a:r>
              <a:rPr sz="1200" spc="-7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Once</a:t>
            </a:r>
            <a:r>
              <a:rPr sz="1200" spc="-7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50</a:t>
            </a:r>
            <a:r>
              <a:rPr sz="1200" spc="-7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is reached,</a:t>
            </a:r>
            <a:r>
              <a:rPr sz="1200" spc="20" dirty="0">
                <a:latin typeface="Palatino Linotype"/>
                <a:cs typeface="Palatino Linotype"/>
              </a:rPr>
              <a:t> </a:t>
            </a:r>
            <a:r>
              <a:rPr sz="1200" spc="-55" dirty="0">
                <a:latin typeface="Consolas"/>
                <a:cs typeface="Consolas"/>
              </a:rPr>
              <a:t>main()</a:t>
            </a:r>
            <a:r>
              <a:rPr sz="1200" spc="-110" dirty="0">
                <a:latin typeface="Consolas"/>
                <a:cs typeface="Consolas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resets Tick</a:t>
            </a:r>
            <a:r>
              <a:rPr sz="1200" spc="1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to</a:t>
            </a:r>
            <a:r>
              <a:rPr sz="1200" spc="-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zero,</a:t>
            </a:r>
            <a:r>
              <a:rPr sz="1200" spc="10" dirty="0">
                <a:latin typeface="Palatino Linotype"/>
                <a:cs typeface="Palatino Linotype"/>
              </a:rPr>
              <a:t> </a:t>
            </a:r>
            <a:r>
              <a:rPr sz="1200" spc="-10" dirty="0">
                <a:latin typeface="Palatino Linotype"/>
                <a:cs typeface="Palatino Linotype"/>
              </a:rPr>
              <a:t>determines</a:t>
            </a:r>
            <a:r>
              <a:rPr sz="1200" spc="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which</a:t>
            </a:r>
            <a:r>
              <a:rPr sz="1200" spc="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pattern</a:t>
            </a:r>
            <a:r>
              <a:rPr sz="1200" spc="10" dirty="0">
                <a:latin typeface="Palatino Linotype"/>
                <a:cs typeface="Palatino Linotype"/>
              </a:rPr>
              <a:t> </a:t>
            </a:r>
            <a:r>
              <a:rPr sz="1200" spc="-20" dirty="0">
                <a:latin typeface="Palatino Linotype"/>
                <a:cs typeface="Palatino Linotype"/>
              </a:rPr>
              <a:t>(via </a:t>
            </a:r>
            <a:r>
              <a:rPr sz="1200" dirty="0">
                <a:latin typeface="Palatino Linotype"/>
                <a:cs typeface="Palatino Linotype"/>
              </a:rPr>
              <a:t>“Mode”)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is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being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used,</a:t>
            </a:r>
            <a:r>
              <a:rPr sz="1200" spc="-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and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then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turns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off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the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currently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lit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LED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and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turns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on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spc="-25" dirty="0">
                <a:latin typeface="Palatino Linotype"/>
                <a:cs typeface="Palatino Linotype"/>
              </a:rPr>
              <a:t>the </a:t>
            </a:r>
            <a:r>
              <a:rPr sz="1200" dirty="0">
                <a:latin typeface="Palatino Linotype"/>
                <a:cs typeface="Palatino Linotype"/>
              </a:rPr>
              <a:t>next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LED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in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the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spc="-10" dirty="0">
                <a:latin typeface="Palatino Linotype"/>
                <a:cs typeface="Palatino Linotype"/>
              </a:rPr>
              <a:t>pattern.</a:t>
            </a:r>
            <a:endParaRPr sz="1200">
              <a:latin typeface="Palatino Linotype"/>
              <a:cs typeface="Palatino Linotype"/>
            </a:endParaRPr>
          </a:p>
          <a:p>
            <a:pPr marL="469265" marR="434340" algn="just">
              <a:lnSpc>
                <a:spcPct val="120800"/>
              </a:lnSpc>
              <a:spcBef>
                <a:spcPts val="15"/>
              </a:spcBef>
            </a:pPr>
            <a:r>
              <a:rPr sz="1200" b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Palatino Linotype"/>
                <a:cs typeface="Palatino Linotype"/>
              </a:rPr>
              <a:t>The</a:t>
            </a:r>
            <a:r>
              <a:rPr sz="1200" b="1" u="sng" spc="-2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Palatino Linotype"/>
                <a:cs typeface="Palatino Linotype"/>
              </a:rPr>
              <a:t> </a:t>
            </a:r>
            <a:r>
              <a:rPr sz="1200" b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Palatino Linotype"/>
                <a:cs typeface="Palatino Linotype"/>
              </a:rPr>
              <a:t>larger</a:t>
            </a:r>
            <a:r>
              <a:rPr sz="1200" b="1" u="sng" spc="-2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Palatino Linotype"/>
                <a:cs typeface="Palatino Linotype"/>
              </a:rPr>
              <a:t> </a:t>
            </a:r>
            <a:r>
              <a:rPr sz="1200" b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Palatino Linotype"/>
                <a:cs typeface="Palatino Linotype"/>
              </a:rPr>
              <a:t>loop</a:t>
            </a:r>
            <a:r>
              <a:rPr sz="1200" b="1" u="sng" spc="-2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Palatino Linotype"/>
                <a:cs typeface="Palatino Linotype"/>
              </a:rPr>
              <a:t> </a:t>
            </a:r>
            <a:r>
              <a:rPr sz="1200" b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Palatino Linotype"/>
                <a:cs typeface="Palatino Linotype"/>
              </a:rPr>
              <a:t>in</a:t>
            </a:r>
            <a:r>
              <a:rPr sz="1200" b="1" u="sng" spc="-2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Palatino Linotype"/>
                <a:cs typeface="Palatino Linotype"/>
              </a:rPr>
              <a:t> </a:t>
            </a:r>
            <a:r>
              <a:rPr sz="12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main()</a:t>
            </a:r>
            <a:r>
              <a:rPr sz="1200" b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Palatino Linotype"/>
                <a:cs typeface="Palatino Linotype"/>
              </a:rPr>
              <a:t>is</a:t>
            </a:r>
            <a:r>
              <a:rPr sz="1200" b="1" u="sng" spc="-3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Palatino Linotype"/>
                <a:cs typeface="Palatino Linotype"/>
              </a:rPr>
              <a:t> </a:t>
            </a:r>
            <a:r>
              <a:rPr sz="1200" b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Palatino Linotype"/>
                <a:cs typeface="Palatino Linotype"/>
              </a:rPr>
              <a:t>the</a:t>
            </a:r>
            <a:r>
              <a:rPr sz="1200" b="1" u="sng" spc="-1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Palatino Linotype"/>
                <a:cs typeface="Palatino Linotype"/>
              </a:rPr>
              <a:t> </a:t>
            </a:r>
            <a:r>
              <a:rPr sz="1200" b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Palatino Linotype"/>
                <a:cs typeface="Palatino Linotype"/>
              </a:rPr>
              <a:t>game</a:t>
            </a:r>
            <a:r>
              <a:rPr sz="1200" b="1" u="sng" spc="-2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Palatino Linotype"/>
                <a:cs typeface="Palatino Linotype"/>
              </a:rPr>
              <a:t> </a:t>
            </a:r>
            <a:r>
              <a:rPr sz="1200" b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Palatino Linotype"/>
                <a:cs typeface="Palatino Linotype"/>
              </a:rPr>
              <a:t>loop</a:t>
            </a:r>
            <a:r>
              <a:rPr sz="1200" b="1" u="none" dirty="0">
                <a:solidFill>
                  <a:srgbClr val="FF0000"/>
                </a:solidFill>
                <a:latin typeface="Palatino Linotype"/>
                <a:cs typeface="Palatino Linotype"/>
              </a:rPr>
              <a:t>!</a:t>
            </a:r>
            <a:r>
              <a:rPr sz="1200" b="1" u="none" spc="260" dirty="0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If</a:t>
            </a:r>
            <a:r>
              <a:rPr sz="1200" u="none" spc="-20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this</a:t>
            </a:r>
            <a:r>
              <a:rPr sz="1200" u="none" spc="-25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isn’t</a:t>
            </a:r>
            <a:r>
              <a:rPr sz="1200" u="none" spc="-15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100%</a:t>
            </a:r>
            <a:r>
              <a:rPr sz="1200" u="none" spc="-20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clear,</a:t>
            </a:r>
            <a:r>
              <a:rPr sz="1200" u="none" spc="-20" dirty="0">
                <a:latin typeface="Palatino Linotype"/>
                <a:cs typeface="Palatino Linotype"/>
              </a:rPr>
              <a:t> </a:t>
            </a:r>
            <a:r>
              <a:rPr sz="1200" u="none" spc="-10" dirty="0">
                <a:latin typeface="Palatino Linotype"/>
                <a:cs typeface="Palatino Linotype"/>
              </a:rPr>
              <a:t>review </a:t>
            </a:r>
            <a:r>
              <a:rPr sz="1200" u="none" dirty="0">
                <a:latin typeface="Palatino Linotype"/>
                <a:cs typeface="Palatino Linotype"/>
              </a:rPr>
              <a:t>Figure</a:t>
            </a:r>
            <a:r>
              <a:rPr sz="1200" u="none" spc="-20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3.</a:t>
            </a:r>
            <a:r>
              <a:rPr sz="1200" u="none" spc="-20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Still</a:t>
            </a:r>
            <a:r>
              <a:rPr sz="1200" u="none" spc="-25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not</a:t>
            </a:r>
            <a:r>
              <a:rPr sz="1200" u="none" spc="-10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clear?</a:t>
            </a:r>
            <a:r>
              <a:rPr sz="1200" u="none" spc="-25" dirty="0">
                <a:latin typeface="Palatino Linotype"/>
                <a:cs typeface="Palatino Linotype"/>
              </a:rPr>
              <a:t> </a:t>
            </a:r>
            <a:r>
              <a:rPr sz="1200" u="none" spc="-20" dirty="0">
                <a:latin typeface="Palatino Linotype"/>
                <a:cs typeface="Palatino Linotype"/>
              </a:rPr>
              <a:t>Ask!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5543169"/>
            <a:ext cx="7340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006FC0"/>
                </a:solidFill>
                <a:latin typeface="Palatino Linotype"/>
                <a:cs typeface="Palatino Linotype"/>
              </a:rPr>
              <a:t>Report</a:t>
            </a:r>
            <a:endParaRPr sz="1800">
              <a:latin typeface="Palatino Linotype"/>
              <a:cs typeface="Palatino Linotype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5889625"/>
            <a:ext cx="5981065" cy="6350"/>
          </a:xfrm>
          <a:custGeom>
            <a:avLst/>
            <a:gdLst/>
            <a:ahLst/>
            <a:cxnLst/>
            <a:rect l="l" t="t" r="r" b="b"/>
            <a:pathLst>
              <a:path w="5981065" h="6350">
                <a:moveTo>
                  <a:pt x="5981065" y="0"/>
                </a:moveTo>
                <a:lnTo>
                  <a:pt x="0" y="0"/>
                </a:lnTo>
                <a:lnTo>
                  <a:pt x="0" y="6095"/>
                </a:lnTo>
                <a:lnTo>
                  <a:pt x="5981065" y="6095"/>
                </a:lnTo>
                <a:lnTo>
                  <a:pt x="5981065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02004" y="5968365"/>
            <a:ext cx="5944870" cy="29533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Palatino Linotype"/>
                <a:cs typeface="Palatino Linotype"/>
              </a:rPr>
              <a:t>This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is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a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b="1" spc="-10" dirty="0">
                <a:latin typeface="Palatino Linotype"/>
                <a:cs typeface="Palatino Linotype"/>
              </a:rPr>
              <a:t>one-</a:t>
            </a:r>
            <a:r>
              <a:rPr sz="1200" b="1" dirty="0">
                <a:latin typeface="Palatino Linotype"/>
                <a:cs typeface="Palatino Linotype"/>
              </a:rPr>
              <a:t>week</a:t>
            </a:r>
            <a:r>
              <a:rPr sz="1200" b="1" spc="-10" dirty="0">
                <a:latin typeface="Palatino Linotype"/>
                <a:cs typeface="Palatino Linotype"/>
              </a:rPr>
              <a:t> </a:t>
            </a:r>
            <a:r>
              <a:rPr sz="1200" b="1" dirty="0">
                <a:latin typeface="Palatino Linotype"/>
                <a:cs typeface="Palatino Linotype"/>
              </a:rPr>
              <a:t>lab</a:t>
            </a:r>
            <a:r>
              <a:rPr sz="1200" dirty="0">
                <a:latin typeface="Palatino Linotype"/>
                <a:cs typeface="Palatino Linotype"/>
              </a:rPr>
              <a:t>.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For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full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points,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you</a:t>
            </a:r>
            <a:r>
              <a:rPr sz="1200" spc="-10" dirty="0">
                <a:latin typeface="Palatino Linotype"/>
                <a:cs typeface="Palatino Linotype"/>
              </a:rPr>
              <a:t> </a:t>
            </a:r>
            <a:r>
              <a:rPr sz="1200" spc="-20" dirty="0">
                <a:latin typeface="Palatino Linotype"/>
                <a:cs typeface="Palatino Linotype"/>
              </a:rPr>
              <a:t>must</a:t>
            </a:r>
            <a:endParaRPr sz="1200">
              <a:latin typeface="Palatino Linotype"/>
              <a:cs typeface="Palatino Linotype"/>
            </a:endParaRPr>
          </a:p>
          <a:p>
            <a:pPr marL="509270" indent="-228600">
              <a:lnSpc>
                <a:spcPct val="100000"/>
              </a:lnSpc>
              <a:spcBef>
                <a:spcPts val="900"/>
              </a:spcBef>
              <a:buFont typeface="Symbol"/>
              <a:buChar char=""/>
              <a:tabLst>
                <a:tab pos="509270" algn="l"/>
              </a:tabLst>
            </a:pPr>
            <a:r>
              <a:rPr sz="1200" b="1" dirty="0">
                <a:latin typeface="Palatino Linotype"/>
                <a:cs typeface="Palatino Linotype"/>
              </a:rPr>
              <a:t>demonstrate</a:t>
            </a:r>
            <a:r>
              <a:rPr sz="1200" b="1" spc="-25" dirty="0">
                <a:latin typeface="Palatino Linotype"/>
                <a:cs typeface="Palatino Linotype"/>
              </a:rPr>
              <a:t> </a:t>
            </a:r>
            <a:r>
              <a:rPr sz="1200" b="1" dirty="0">
                <a:latin typeface="Palatino Linotype"/>
                <a:cs typeface="Palatino Linotype"/>
              </a:rPr>
              <a:t>your</a:t>
            </a:r>
            <a:r>
              <a:rPr sz="1200" b="1" spc="-30" dirty="0">
                <a:latin typeface="Palatino Linotype"/>
                <a:cs typeface="Palatino Linotype"/>
              </a:rPr>
              <a:t> </a:t>
            </a:r>
            <a:r>
              <a:rPr sz="1200" b="1" dirty="0">
                <a:latin typeface="Palatino Linotype"/>
                <a:cs typeface="Palatino Linotype"/>
              </a:rPr>
              <a:t>working</a:t>
            </a:r>
            <a:r>
              <a:rPr sz="1200" b="1" spc="-25" dirty="0">
                <a:latin typeface="Palatino Linotype"/>
                <a:cs typeface="Palatino Linotype"/>
              </a:rPr>
              <a:t> </a:t>
            </a:r>
            <a:r>
              <a:rPr sz="1200" b="1" dirty="0">
                <a:latin typeface="Palatino Linotype"/>
                <a:cs typeface="Palatino Linotype"/>
              </a:rPr>
              <a:t>code</a:t>
            </a:r>
            <a:r>
              <a:rPr sz="1200" b="1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to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your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spc="-10" dirty="0">
                <a:latin typeface="Palatino Linotype"/>
                <a:cs typeface="Palatino Linotype"/>
              </a:rPr>
              <a:t>instructor,</a:t>
            </a:r>
            <a:endParaRPr sz="1200">
              <a:latin typeface="Palatino Linotype"/>
              <a:cs typeface="Palatino Linotype"/>
            </a:endParaRPr>
          </a:p>
          <a:p>
            <a:pPr marL="509270" indent="-228600">
              <a:lnSpc>
                <a:spcPct val="100000"/>
              </a:lnSpc>
              <a:spcBef>
                <a:spcPts val="310"/>
              </a:spcBef>
              <a:buFont typeface="Symbol"/>
              <a:buChar char=""/>
              <a:tabLst>
                <a:tab pos="509270" algn="l"/>
              </a:tabLst>
            </a:pPr>
            <a:r>
              <a:rPr sz="1200" b="1" dirty="0">
                <a:latin typeface="Palatino Linotype"/>
                <a:cs typeface="Palatino Linotype"/>
              </a:rPr>
              <a:t>submit</a:t>
            </a:r>
            <a:r>
              <a:rPr sz="1200" b="1" spc="-25" dirty="0">
                <a:latin typeface="Palatino Linotype"/>
                <a:cs typeface="Palatino Linotype"/>
              </a:rPr>
              <a:t> </a:t>
            </a:r>
            <a:r>
              <a:rPr sz="1200" b="1" dirty="0">
                <a:latin typeface="Palatino Linotype"/>
                <a:cs typeface="Palatino Linotype"/>
              </a:rPr>
              <a:t>your</a:t>
            </a:r>
            <a:r>
              <a:rPr sz="1200" b="1" spc="-25" dirty="0">
                <a:latin typeface="Palatino Linotype"/>
                <a:cs typeface="Palatino Linotype"/>
              </a:rPr>
              <a:t> </a:t>
            </a:r>
            <a:r>
              <a:rPr sz="1200" b="1" dirty="0">
                <a:latin typeface="Palatino Linotype"/>
                <a:cs typeface="Palatino Linotype"/>
              </a:rPr>
              <a:t>lab</a:t>
            </a:r>
            <a:r>
              <a:rPr sz="1200" b="1" spc="-25" dirty="0">
                <a:latin typeface="Palatino Linotype"/>
                <a:cs typeface="Palatino Linotype"/>
              </a:rPr>
              <a:t> </a:t>
            </a:r>
            <a:r>
              <a:rPr sz="1200" b="1" dirty="0">
                <a:latin typeface="Palatino Linotype"/>
                <a:cs typeface="Palatino Linotype"/>
              </a:rPr>
              <a:t>report</a:t>
            </a:r>
            <a:r>
              <a:rPr sz="1200" b="1" spc="-20" dirty="0">
                <a:latin typeface="Palatino Linotype"/>
                <a:cs typeface="Palatino Linotype"/>
              </a:rPr>
              <a:t> </a:t>
            </a:r>
            <a:r>
              <a:rPr sz="1200" b="1" dirty="0">
                <a:latin typeface="Palatino Linotype"/>
                <a:cs typeface="Palatino Linotype"/>
              </a:rPr>
              <a:t>via</a:t>
            </a:r>
            <a:r>
              <a:rPr sz="1200" b="1" spc="-20" dirty="0">
                <a:latin typeface="Palatino Linotype"/>
                <a:cs typeface="Palatino Linotype"/>
              </a:rPr>
              <a:t> </a:t>
            </a:r>
            <a:r>
              <a:rPr sz="1200" b="1" spc="-10" dirty="0">
                <a:latin typeface="Palatino Linotype"/>
                <a:cs typeface="Palatino Linotype"/>
              </a:rPr>
              <a:t>Canvas,</a:t>
            </a:r>
            <a:endParaRPr sz="1200">
              <a:latin typeface="Palatino Linotype"/>
              <a:cs typeface="Palatino Linotype"/>
            </a:endParaRPr>
          </a:p>
          <a:p>
            <a:pPr marL="509270" indent="-228600">
              <a:lnSpc>
                <a:spcPct val="100000"/>
              </a:lnSpc>
              <a:spcBef>
                <a:spcPts val="300"/>
              </a:spcBef>
              <a:buFont typeface="Symbol"/>
              <a:buChar char=""/>
              <a:tabLst>
                <a:tab pos="509270" algn="l"/>
              </a:tabLst>
            </a:pPr>
            <a:r>
              <a:rPr sz="1200" b="1" dirty="0">
                <a:latin typeface="Palatino Linotype"/>
                <a:cs typeface="Palatino Linotype"/>
              </a:rPr>
              <a:t>push</a:t>
            </a:r>
            <a:r>
              <a:rPr sz="1200" b="1" spc="-30" dirty="0">
                <a:latin typeface="Palatino Linotype"/>
                <a:cs typeface="Palatino Linotype"/>
              </a:rPr>
              <a:t> </a:t>
            </a:r>
            <a:r>
              <a:rPr sz="1200" b="1" dirty="0">
                <a:latin typeface="Palatino Linotype"/>
                <a:cs typeface="Palatino Linotype"/>
              </a:rPr>
              <a:t>your</a:t>
            </a:r>
            <a:r>
              <a:rPr sz="1200" b="1" spc="-20" dirty="0">
                <a:latin typeface="Palatino Linotype"/>
                <a:cs typeface="Palatino Linotype"/>
              </a:rPr>
              <a:t> </a:t>
            </a:r>
            <a:r>
              <a:rPr sz="1200" b="1" dirty="0">
                <a:latin typeface="Palatino Linotype"/>
                <a:cs typeface="Palatino Linotype"/>
              </a:rPr>
              <a:t>final</a:t>
            </a:r>
            <a:r>
              <a:rPr sz="1200" b="1" spc="-25" dirty="0">
                <a:latin typeface="Palatino Linotype"/>
                <a:cs typeface="Palatino Linotype"/>
              </a:rPr>
              <a:t> </a:t>
            </a:r>
            <a:r>
              <a:rPr sz="1200" b="1" dirty="0">
                <a:latin typeface="Palatino Linotype"/>
                <a:cs typeface="Palatino Linotype"/>
              </a:rPr>
              <a:t>code</a:t>
            </a:r>
            <a:r>
              <a:rPr sz="1200" b="1" spc="-20" dirty="0">
                <a:latin typeface="Palatino Linotype"/>
                <a:cs typeface="Palatino Linotype"/>
              </a:rPr>
              <a:t> </a:t>
            </a:r>
            <a:r>
              <a:rPr sz="1200" b="1" dirty="0">
                <a:latin typeface="Palatino Linotype"/>
                <a:cs typeface="Palatino Linotype"/>
              </a:rPr>
              <a:t>via</a:t>
            </a:r>
            <a:r>
              <a:rPr sz="1200" b="1" spc="-20" dirty="0">
                <a:latin typeface="Palatino Linotype"/>
                <a:cs typeface="Palatino Linotype"/>
              </a:rPr>
              <a:t> </a:t>
            </a:r>
            <a:r>
              <a:rPr sz="1200" b="1" spc="-10" dirty="0">
                <a:latin typeface="Palatino Linotype"/>
                <a:cs typeface="Palatino Linotype"/>
              </a:rPr>
              <a:t>GitHub</a:t>
            </a:r>
            <a:r>
              <a:rPr sz="1200" spc="-10" dirty="0">
                <a:latin typeface="Palatino Linotype"/>
                <a:cs typeface="Palatino Linotype"/>
              </a:rPr>
              <a:t>.</a:t>
            </a:r>
            <a:endParaRPr sz="1200">
              <a:latin typeface="Palatino Linotype"/>
              <a:cs typeface="Palatino Linotype"/>
            </a:endParaRPr>
          </a:p>
          <a:p>
            <a:pPr marL="12700" marR="5080" algn="just">
              <a:lnSpc>
                <a:spcPct val="121200"/>
              </a:lnSpc>
              <a:spcBef>
                <a:spcPts val="610"/>
              </a:spcBef>
            </a:pPr>
            <a:r>
              <a:rPr sz="1200" dirty="0">
                <a:latin typeface="Palatino Linotype"/>
                <a:cs typeface="Palatino Linotype"/>
              </a:rPr>
              <a:t>In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your</a:t>
            </a:r>
            <a:r>
              <a:rPr sz="1200" spc="-3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report,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include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a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concise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description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of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how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TIMER0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is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configured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and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used.</a:t>
            </a:r>
            <a:r>
              <a:rPr sz="1200" spc="254" dirty="0">
                <a:latin typeface="Palatino Linotype"/>
                <a:cs typeface="Palatino Linotype"/>
              </a:rPr>
              <a:t> </a:t>
            </a:r>
            <a:r>
              <a:rPr sz="1200" spc="-25" dirty="0">
                <a:latin typeface="Palatino Linotype"/>
                <a:cs typeface="Palatino Linotype"/>
              </a:rPr>
              <a:t>In </a:t>
            </a:r>
            <a:r>
              <a:rPr sz="1200" dirty="0">
                <a:latin typeface="Palatino Linotype"/>
                <a:cs typeface="Palatino Linotype"/>
              </a:rPr>
              <a:t>particular,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show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your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spc="-10" dirty="0">
                <a:latin typeface="Palatino Linotype"/>
                <a:cs typeface="Palatino Linotype"/>
              </a:rPr>
              <a:t>calculations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to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confirm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that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the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spc="-10" dirty="0">
                <a:latin typeface="Palatino Linotype"/>
                <a:cs typeface="Palatino Linotype"/>
              </a:rPr>
              <a:t>PRE-</a:t>
            </a:r>
            <a:r>
              <a:rPr sz="1200" dirty="0">
                <a:latin typeface="Palatino Linotype"/>
                <a:cs typeface="Palatino Linotype"/>
              </a:rPr>
              <a:t>SCALER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and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TMRCNT</a:t>
            </a:r>
            <a:r>
              <a:rPr sz="1200" spc="-20" dirty="0">
                <a:latin typeface="Palatino Linotype"/>
                <a:cs typeface="Palatino Linotype"/>
              </a:rPr>
              <a:t> used </a:t>
            </a:r>
            <a:r>
              <a:rPr sz="1200" dirty="0">
                <a:latin typeface="Palatino Linotype"/>
                <a:cs typeface="Palatino Linotype"/>
              </a:rPr>
              <a:t>generate</a:t>
            </a:r>
            <a:r>
              <a:rPr sz="1200" spc="-5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the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correct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1ms</a:t>
            </a:r>
            <a:r>
              <a:rPr sz="1200" spc="-40" dirty="0">
                <a:latin typeface="Palatino Linotype"/>
                <a:cs typeface="Palatino Linotype"/>
              </a:rPr>
              <a:t> </a:t>
            </a:r>
            <a:r>
              <a:rPr sz="1200" spc="-10" dirty="0">
                <a:latin typeface="Palatino Linotype"/>
                <a:cs typeface="Palatino Linotype"/>
              </a:rPr>
              <a:t>interrupt.</a:t>
            </a:r>
            <a:endParaRPr sz="1200">
              <a:latin typeface="Palatino Linotype"/>
              <a:cs typeface="Palatino Linotype"/>
            </a:endParaRPr>
          </a:p>
          <a:p>
            <a:pPr marL="12700" marR="202565">
              <a:lnSpc>
                <a:spcPct val="121200"/>
              </a:lnSpc>
              <a:spcBef>
                <a:spcPts val="605"/>
              </a:spcBef>
            </a:pPr>
            <a:r>
              <a:rPr sz="1200" dirty="0">
                <a:latin typeface="Palatino Linotype"/>
                <a:cs typeface="Palatino Linotype"/>
              </a:rPr>
              <a:t>As</a:t>
            </a:r>
            <a:r>
              <a:rPr sz="1200" spc="-1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always,</a:t>
            </a:r>
            <a:r>
              <a:rPr sz="1200" spc="-1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you’ll</a:t>
            </a:r>
            <a:r>
              <a:rPr sz="1200" spc="-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be</a:t>
            </a:r>
            <a:r>
              <a:rPr sz="1200" spc="-1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graded</a:t>
            </a:r>
            <a:r>
              <a:rPr sz="1200" spc="-1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on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the</a:t>
            </a:r>
            <a:r>
              <a:rPr sz="1200" spc="-5" dirty="0">
                <a:latin typeface="Palatino Linotype"/>
                <a:cs typeface="Palatino Linotype"/>
              </a:rPr>
              <a:t> </a:t>
            </a:r>
            <a:r>
              <a:rPr sz="1200" spc="-10" dirty="0">
                <a:latin typeface="Palatino Linotype"/>
                <a:cs typeface="Palatino Linotype"/>
              </a:rPr>
              <a:t>correctness, completeness,</a:t>
            </a:r>
            <a:r>
              <a:rPr sz="1200" spc="-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readability</a:t>
            </a:r>
            <a:r>
              <a:rPr sz="1200" spc="-5" dirty="0">
                <a:latin typeface="Palatino Linotype"/>
                <a:cs typeface="Palatino Linotype"/>
              </a:rPr>
              <a:t> </a:t>
            </a:r>
            <a:r>
              <a:rPr sz="1200" spc="-25" dirty="0">
                <a:latin typeface="Palatino Linotype"/>
                <a:cs typeface="Palatino Linotype"/>
              </a:rPr>
              <a:t>and </a:t>
            </a:r>
            <a:r>
              <a:rPr sz="1200" dirty="0">
                <a:latin typeface="Palatino Linotype"/>
                <a:cs typeface="Palatino Linotype"/>
              </a:rPr>
              <a:t>organization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of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both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your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report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and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your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code,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so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make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it</a:t>
            </a:r>
            <a:r>
              <a:rPr sz="1200" spc="-5" dirty="0">
                <a:latin typeface="Palatino Linotype"/>
                <a:cs typeface="Palatino Linotype"/>
              </a:rPr>
              <a:t> </a:t>
            </a:r>
            <a:r>
              <a:rPr sz="1200" b="1" dirty="0">
                <a:latin typeface="Palatino Linotype"/>
                <a:cs typeface="Palatino Linotype"/>
              </a:rPr>
              <a:t>read</a:t>
            </a:r>
            <a:r>
              <a:rPr sz="1200" b="1" spc="-25" dirty="0">
                <a:latin typeface="Palatino Linotype"/>
                <a:cs typeface="Palatino Linotype"/>
              </a:rPr>
              <a:t> </a:t>
            </a:r>
            <a:r>
              <a:rPr sz="1200" b="1" dirty="0">
                <a:latin typeface="Palatino Linotype"/>
                <a:cs typeface="Palatino Linotype"/>
              </a:rPr>
              <a:t>well</a:t>
            </a:r>
            <a:r>
              <a:rPr sz="1200" b="1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and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b="1" dirty="0">
                <a:latin typeface="Palatino Linotype"/>
                <a:cs typeface="Palatino Linotype"/>
              </a:rPr>
              <a:t>look</a:t>
            </a:r>
            <a:r>
              <a:rPr sz="1200" b="1" spc="-20" dirty="0">
                <a:latin typeface="Palatino Linotype"/>
                <a:cs typeface="Palatino Linotype"/>
              </a:rPr>
              <a:t> </a:t>
            </a:r>
            <a:r>
              <a:rPr sz="1200" b="1" spc="-10" dirty="0">
                <a:latin typeface="Palatino Linotype"/>
                <a:cs typeface="Palatino Linotype"/>
              </a:rPr>
              <a:t>good</a:t>
            </a:r>
            <a:r>
              <a:rPr sz="1200" spc="-10" dirty="0">
                <a:latin typeface="Palatino Linotype"/>
                <a:cs typeface="Palatino Linotype"/>
              </a:rPr>
              <a:t>! </a:t>
            </a:r>
            <a:r>
              <a:rPr sz="1200" dirty="0">
                <a:latin typeface="Palatino Linotype"/>
                <a:cs typeface="Palatino Linotype"/>
              </a:rPr>
              <a:t>Your</a:t>
            </a:r>
            <a:r>
              <a:rPr sz="1200" spc="-3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code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should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also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be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properly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indented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and</a:t>
            </a:r>
            <a:r>
              <a:rPr sz="1200" spc="-3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reasonably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spc="-10" dirty="0">
                <a:latin typeface="Palatino Linotype"/>
                <a:cs typeface="Palatino Linotype"/>
              </a:rPr>
              <a:t>commented.</a:t>
            </a:r>
            <a:endParaRPr sz="1200">
              <a:latin typeface="Palatino Linotype"/>
              <a:cs typeface="Palatino Linotype"/>
            </a:endParaRPr>
          </a:p>
          <a:p>
            <a:pPr marL="12700" marR="145415">
              <a:lnSpc>
                <a:spcPct val="120800"/>
              </a:lnSpc>
              <a:spcBef>
                <a:spcPts val="615"/>
              </a:spcBef>
            </a:pPr>
            <a:r>
              <a:rPr sz="1200" dirty="0">
                <a:latin typeface="Palatino Linotype"/>
                <a:cs typeface="Palatino Linotype"/>
              </a:rPr>
              <a:t>And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if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you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do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more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than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one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of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your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own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patterns,</a:t>
            </a:r>
            <a:r>
              <a:rPr sz="1200" spc="-5" dirty="0">
                <a:latin typeface="Palatino Linotype"/>
                <a:cs typeface="Palatino Linotype"/>
              </a:rPr>
              <a:t> </a:t>
            </a:r>
            <a:r>
              <a:rPr sz="1200" b="1" dirty="0">
                <a:latin typeface="Palatino Linotype"/>
                <a:cs typeface="Palatino Linotype"/>
              </a:rPr>
              <a:t>you</a:t>
            </a:r>
            <a:r>
              <a:rPr sz="1200" b="1" spc="-15" dirty="0">
                <a:latin typeface="Palatino Linotype"/>
                <a:cs typeface="Palatino Linotype"/>
              </a:rPr>
              <a:t> </a:t>
            </a:r>
            <a:r>
              <a:rPr sz="1200" b="1" dirty="0">
                <a:latin typeface="Palatino Linotype"/>
                <a:cs typeface="Palatino Linotype"/>
              </a:rPr>
              <a:t>can</a:t>
            </a:r>
            <a:r>
              <a:rPr sz="1200" b="1" spc="-15" dirty="0">
                <a:latin typeface="Palatino Linotype"/>
                <a:cs typeface="Palatino Linotype"/>
              </a:rPr>
              <a:t> </a:t>
            </a:r>
            <a:r>
              <a:rPr sz="1200" b="1" dirty="0">
                <a:latin typeface="Palatino Linotype"/>
                <a:cs typeface="Palatino Linotype"/>
              </a:rPr>
              <a:t>earn</a:t>
            </a:r>
            <a:r>
              <a:rPr sz="1200" b="1" spc="-20" dirty="0">
                <a:latin typeface="Palatino Linotype"/>
                <a:cs typeface="Palatino Linotype"/>
              </a:rPr>
              <a:t> </a:t>
            </a:r>
            <a:r>
              <a:rPr sz="1200" b="1" dirty="0">
                <a:latin typeface="Palatino Linotype"/>
                <a:cs typeface="Palatino Linotype"/>
              </a:rPr>
              <a:t>bonus</a:t>
            </a:r>
            <a:r>
              <a:rPr sz="1200" b="1" spc="-30" dirty="0">
                <a:latin typeface="Palatino Linotype"/>
                <a:cs typeface="Palatino Linotype"/>
              </a:rPr>
              <a:t> </a:t>
            </a:r>
            <a:r>
              <a:rPr sz="1200" b="1" dirty="0">
                <a:latin typeface="Palatino Linotype"/>
                <a:cs typeface="Palatino Linotype"/>
              </a:rPr>
              <a:t>points</a:t>
            </a:r>
            <a:r>
              <a:rPr sz="1200" dirty="0">
                <a:latin typeface="Palatino Linotype"/>
                <a:cs typeface="Palatino Linotype"/>
              </a:rPr>
              <a:t>!</a:t>
            </a:r>
            <a:r>
              <a:rPr sz="1200" spc="270" dirty="0">
                <a:latin typeface="Palatino Linotype"/>
                <a:cs typeface="Palatino Linotype"/>
              </a:rPr>
              <a:t> </a:t>
            </a:r>
            <a:r>
              <a:rPr sz="1200" spc="-25" dirty="0">
                <a:latin typeface="Palatino Linotype"/>
                <a:cs typeface="Palatino Linotype"/>
              </a:rPr>
              <a:t>How </a:t>
            </a:r>
            <a:r>
              <a:rPr sz="1200" dirty="0">
                <a:latin typeface="Palatino Linotype"/>
                <a:cs typeface="Palatino Linotype"/>
              </a:rPr>
              <a:t>many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points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will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depend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on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how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many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extra</a:t>
            </a:r>
            <a:r>
              <a:rPr sz="1200" spc="-3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patterns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you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develop,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how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spc="-10" dirty="0">
                <a:latin typeface="Palatino Linotype"/>
                <a:cs typeface="Palatino Linotype"/>
              </a:rPr>
              <a:t>interesting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20"/>
              </a:lnSpc>
            </a:pPr>
            <a:r>
              <a:rPr spc="-10" dirty="0"/>
              <a:t>-</a:t>
            </a:r>
            <a:fld id="{81D60167-4931-47E6-BA6A-407CBD079E47}" type="slidenum">
              <a:rPr spc="-25" dirty="0"/>
              <a:t>5</a:t>
            </a:fld>
            <a:r>
              <a:rPr spc="-25" dirty="0"/>
              <a:t>-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20"/>
              </a:lnSpc>
            </a:pPr>
            <a:r>
              <a:rPr spc="-10" dirty="0"/>
              <a:t>-</a:t>
            </a:r>
            <a:fld id="{81D60167-4931-47E6-BA6A-407CBD079E47}" type="slidenum">
              <a:rPr spc="-25" dirty="0"/>
              <a:t>6</a:t>
            </a:fld>
            <a:r>
              <a:rPr spc="-25" dirty="0"/>
              <a:t>-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902004" y="404875"/>
            <a:ext cx="5971540" cy="10502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414645" algn="l"/>
              </a:tabLst>
            </a:pPr>
            <a:r>
              <a:rPr sz="1100" b="1" dirty="0">
                <a:latin typeface="Palatino Linotype"/>
                <a:cs typeface="Palatino Linotype"/>
              </a:rPr>
              <a:t>EECE</a:t>
            </a:r>
            <a:r>
              <a:rPr sz="1100" b="1" spc="-15" dirty="0">
                <a:latin typeface="Palatino Linotype"/>
                <a:cs typeface="Palatino Linotype"/>
              </a:rPr>
              <a:t> </a:t>
            </a:r>
            <a:r>
              <a:rPr sz="1100" b="1" dirty="0">
                <a:latin typeface="Palatino Linotype"/>
                <a:cs typeface="Palatino Linotype"/>
              </a:rPr>
              <a:t>3624:</a:t>
            </a:r>
            <a:r>
              <a:rPr sz="1100" b="1" spc="-15" dirty="0">
                <a:latin typeface="Palatino Linotype"/>
                <a:cs typeface="Palatino Linotype"/>
              </a:rPr>
              <a:t> </a:t>
            </a:r>
            <a:r>
              <a:rPr sz="1100" b="1" spc="-10" dirty="0">
                <a:latin typeface="Palatino Linotype"/>
                <a:cs typeface="Palatino Linotype"/>
              </a:rPr>
              <a:t>Microprocessors</a:t>
            </a:r>
            <a:r>
              <a:rPr sz="1100" b="1" dirty="0">
                <a:latin typeface="Palatino Linotype"/>
                <a:cs typeface="Palatino Linotype"/>
              </a:rPr>
              <a:t>	</a:t>
            </a:r>
            <a:r>
              <a:rPr sz="1100" dirty="0">
                <a:latin typeface="Palatino Linotype"/>
                <a:cs typeface="Palatino Linotype"/>
              </a:rPr>
              <a:t>Fall</a:t>
            </a:r>
            <a:r>
              <a:rPr sz="1100" spc="-20" dirty="0">
                <a:latin typeface="Palatino Linotype"/>
                <a:cs typeface="Palatino Linotype"/>
              </a:rPr>
              <a:t> 2023</a:t>
            </a:r>
            <a:endParaRPr sz="1100">
              <a:latin typeface="Palatino Linotype"/>
              <a:cs typeface="Palatino Linotype"/>
            </a:endParaRPr>
          </a:p>
          <a:p>
            <a:pPr marL="12700" marR="93980">
              <a:lnSpc>
                <a:spcPct val="121800"/>
              </a:lnSpc>
              <a:spcBef>
                <a:spcPts val="894"/>
              </a:spcBef>
            </a:pPr>
            <a:r>
              <a:rPr sz="1200" dirty="0">
                <a:latin typeface="Palatino Linotype"/>
                <a:cs typeface="Palatino Linotype"/>
              </a:rPr>
              <a:t>they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are,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how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well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they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function,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and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how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well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you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describe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the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design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of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each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spc="-10" dirty="0">
                <a:latin typeface="Palatino Linotype"/>
                <a:cs typeface="Palatino Linotype"/>
              </a:rPr>
              <a:t>pattern </a:t>
            </a:r>
            <a:r>
              <a:rPr sz="1200" dirty="0">
                <a:latin typeface="Palatino Linotype"/>
                <a:cs typeface="Palatino Linotype"/>
              </a:rPr>
              <a:t>in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your</a:t>
            </a:r>
            <a:r>
              <a:rPr sz="1200" spc="-1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lab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spc="-10" dirty="0">
                <a:latin typeface="Palatino Linotype"/>
                <a:cs typeface="Palatino Linotype"/>
              </a:rPr>
              <a:t>report.</a:t>
            </a:r>
            <a:endParaRPr sz="120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1200" dirty="0">
                <a:latin typeface="Palatino Linotype"/>
                <a:cs typeface="Palatino Linotype"/>
              </a:rPr>
              <a:t>Have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fun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and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blink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spc="-25" dirty="0">
                <a:latin typeface="Palatino Linotype"/>
                <a:cs typeface="Palatino Linotype"/>
              </a:rPr>
              <a:t>on!</a:t>
            </a:r>
            <a:endParaRPr sz="120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1625</Words>
  <Application>Microsoft Office PowerPoint</Application>
  <PresentationFormat>Custom</PresentationFormat>
  <Paragraphs>104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Aptos</vt:lpstr>
      <vt:lpstr>Arial</vt:lpstr>
      <vt:lpstr>Consolas</vt:lpstr>
      <vt:lpstr>Courier New</vt:lpstr>
      <vt:lpstr>Palatino Linotype</vt:lpstr>
      <vt:lpstr>Symbol</vt:lpstr>
      <vt:lpstr>Times New Roman</vt:lpstr>
      <vt:lpstr>Office Theme</vt:lpstr>
      <vt:lpstr>Lab 06—Si, Señor y Señorita! Si! Si!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EECE3624 Lab06</dc:title>
  <dc:creator>Greg Nordstrom</dc:creator>
  <cp:lastModifiedBy>Jose De Los Santos</cp:lastModifiedBy>
  <cp:revision>1</cp:revision>
  <dcterms:created xsi:type="dcterms:W3CDTF">2026-10-06T16:05:05Z</dcterms:created>
  <dcterms:modified xsi:type="dcterms:W3CDTF">2026-10-06T16:08:29Z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2024-10-08T00:00:00Z</vt:filetime>
  </property>
  <property fmtid="{D5CDD505-2E9C-101B-9397-08002B2CF9AE}" pid="3" name="Creator">
    <vt:lpwstr>Microsoft® Word for Microsoft 365</vt:lpwstr>
  </property>
  <property fmtid="{D5CDD505-2E9C-101B-9397-08002B2CF9AE}" pid="4" name="LastSaved">
    <vt:filetime>2026-10-06T00:00:00Z</vt:filetime>
  </property>
  <property fmtid="{D5CDD505-2E9C-101B-9397-08002B2CF9AE}" pid="5" name="Producer">
    <vt:lpwstr>Microsoft® Word for Microsoft 365</vt:lpwstr>
  </property>
</Properties>
</file>