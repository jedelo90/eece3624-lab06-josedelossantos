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62" r:id="rId3"/>
    <p:sldId id="258" r:id="rId4"/>
    <p:sldId id="259" r:id="rId5"/>
    <p:sldId id="260" r:id="rId6"/>
    <p:sldId id="261" r:id="rId7"/>
  </p:sldIdLst>
  <p:sldSz cx="9144000" cy="6858000" type="screen4x3"/>
  <p:notesSz cx="12649200" cy="18084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A3749B-580B-4959-80DD-F1ADC42F50FD}" v="7" dt="2026-10-06T16:10:06.8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Master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36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50" d="100"/>
          <a:sy n="50" d="100"/>
        </p:scale>
        <p:origin x="300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De Los Santos" userId="5b4238d056d765fb" providerId="LiveId" clId="{A00C9B26-0AFF-4121-92BA-EA5BC3811AE2}"/>
    <pc:docChg chg="modSld modNotesMaster">
      <pc:chgData name="Jose De Los Santos" userId="5b4238d056d765fb" providerId="LiveId" clId="{A00C9B26-0AFF-4121-92BA-EA5BC3811AE2}" dt="2026-10-06T16:09:56.609" v="10" actId="1076"/>
      <pc:docMkLst>
        <pc:docMk/>
      </pc:docMkLst>
      <pc:sldChg chg="modNotes">
        <pc:chgData name="Jose De Los Santos" userId="5b4238d056d765fb" providerId="LiveId" clId="{A00C9B26-0AFF-4121-92BA-EA5BC3811AE2}" dt="2026-10-06T16:09:33.054" v="5"/>
        <pc:sldMkLst>
          <pc:docMk/>
          <pc:sldMk cId="1700789215" sldId="258"/>
        </pc:sldMkLst>
      </pc:sldChg>
      <pc:sldChg chg="modNotes">
        <pc:chgData name="Jose De Los Santos" userId="5b4238d056d765fb" providerId="LiveId" clId="{A00C9B26-0AFF-4121-92BA-EA5BC3811AE2}" dt="2026-10-06T16:09:33.054" v="5"/>
        <pc:sldMkLst>
          <pc:docMk/>
          <pc:sldMk cId="2270528510" sldId="259"/>
        </pc:sldMkLst>
      </pc:sldChg>
      <pc:sldChg chg="modNotes">
        <pc:chgData name="Jose De Los Santos" userId="5b4238d056d765fb" providerId="LiveId" clId="{A00C9B26-0AFF-4121-92BA-EA5BC3811AE2}" dt="2026-10-06T16:09:33.054" v="5"/>
        <pc:sldMkLst>
          <pc:docMk/>
          <pc:sldMk cId="589442281" sldId="260"/>
        </pc:sldMkLst>
      </pc:sldChg>
      <pc:sldChg chg="modNotes">
        <pc:chgData name="Jose De Los Santos" userId="5b4238d056d765fb" providerId="LiveId" clId="{A00C9B26-0AFF-4121-92BA-EA5BC3811AE2}" dt="2026-10-06T16:09:33.054" v="5"/>
        <pc:sldMkLst>
          <pc:docMk/>
          <pc:sldMk cId="3699172257" sldId="26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C93273-13EF-E1EF-4706-07B46075E6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481638" cy="9064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E1158E-C072-6ED3-74C5-59BE129F79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164388" y="0"/>
            <a:ext cx="5481637" cy="9064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B6356-691E-4DD1-943C-D356119BBE3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5143C5-DCE6-CED1-E1FC-0406E19709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178338"/>
            <a:ext cx="5481638" cy="9064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EF7C7-AE08-BB5E-FDA9-7E10CEB171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164388" y="17178338"/>
            <a:ext cx="5481637" cy="9064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373153-EF99-4419-94C4-29ABB67F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2136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52400" y="0"/>
            <a:ext cx="12954000" cy="971676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75620" tIns="87810" rIns="175620" bIns="87810"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7721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265238" y="8702675"/>
            <a:ext cx="10118725" cy="7121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55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265238" y="8702675"/>
            <a:ext cx="10118725" cy="7121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32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4920" y="8703310"/>
            <a:ext cx="10119360" cy="712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14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4920" y="8703310"/>
            <a:ext cx="10119360" cy="712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28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4920" y="8703310"/>
            <a:ext cx="10119360" cy="712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00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4920" y="8703310"/>
            <a:ext cx="10119360" cy="712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859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612775"/>
          </a:xfrm>
        </p:spPr>
        <p:txBody>
          <a:bodyPr>
            <a:noAutofit/>
          </a:bodyPr>
          <a:lstStyle/>
          <a:p>
            <a:r>
              <a:rPr lang="en-US" sz="3200" dirty="0"/>
              <a:t>EECE3264 Lab06 </a:t>
            </a:r>
            <a:r>
              <a:rPr lang="en-US" sz="3200" dirty="0" err="1"/>
              <a:t>StateChart</a:t>
            </a:r>
            <a:endParaRPr lang="en-US" sz="3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687D4EF-DE4A-44EF-A282-740FB955DCFC}"/>
              </a:ext>
            </a:extLst>
          </p:cNvPr>
          <p:cNvGrpSpPr/>
          <p:nvPr/>
        </p:nvGrpSpPr>
        <p:grpSpPr>
          <a:xfrm>
            <a:off x="212834" y="838200"/>
            <a:ext cx="8737600" cy="4876800"/>
            <a:chOff x="127000" y="1143000"/>
            <a:chExt cx="8737600" cy="4876800"/>
          </a:xfrm>
        </p:grpSpPr>
        <p:grpSp>
          <p:nvGrpSpPr>
            <p:cNvPr id="120" name="Group 119"/>
            <p:cNvGrpSpPr/>
            <p:nvPr/>
          </p:nvGrpSpPr>
          <p:grpSpPr>
            <a:xfrm>
              <a:off x="7032606" y="2209800"/>
              <a:ext cx="1579848" cy="2571607"/>
              <a:chOff x="4504575" y="3408651"/>
              <a:chExt cx="1184886" cy="1928705"/>
            </a:xfrm>
          </p:grpSpPr>
          <p:sp>
            <p:nvSpPr>
              <p:cNvPr id="82" name="Oval 81"/>
              <p:cNvSpPr/>
              <p:nvPr/>
            </p:nvSpPr>
            <p:spPr>
              <a:xfrm>
                <a:off x="4504575" y="3408651"/>
                <a:ext cx="1184886" cy="4486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TIMER0 overflow interrupt (1mS)</a:t>
                </a:r>
              </a:p>
            </p:txBody>
          </p:sp>
          <p:cxnSp>
            <p:nvCxnSpPr>
              <p:cNvPr id="86" name="Straight Arrow Connector 85"/>
              <p:cNvCxnSpPr>
                <a:stCxn id="82" idx="4"/>
                <a:endCxn id="113" idx="0"/>
              </p:cNvCxnSpPr>
              <p:nvPr/>
            </p:nvCxnSpPr>
            <p:spPr>
              <a:xfrm>
                <a:off x="5097018" y="3857347"/>
                <a:ext cx="0" cy="1812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/>
              <p:cNvCxnSpPr>
                <a:stCxn id="113" idx="2"/>
                <a:endCxn id="98" idx="0"/>
              </p:cNvCxnSpPr>
              <p:nvPr/>
            </p:nvCxnSpPr>
            <p:spPr>
              <a:xfrm>
                <a:off x="5097018" y="4259798"/>
                <a:ext cx="0" cy="17966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Flowchart: Process 97"/>
              <p:cNvSpPr/>
              <p:nvPr/>
            </p:nvSpPr>
            <p:spPr>
              <a:xfrm>
                <a:off x="4626973" y="4439466"/>
                <a:ext cx="940090" cy="359446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Reset TIMER0 overflow counter</a:t>
                </a:r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4571673" y="5005559"/>
                <a:ext cx="1050689" cy="33179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Return from interrupt</a:t>
                </a:r>
              </a:p>
            </p:txBody>
          </p:sp>
          <p:cxnSp>
            <p:nvCxnSpPr>
              <p:cNvPr id="100" name="Straight Arrow Connector 99"/>
              <p:cNvCxnSpPr>
                <a:stCxn id="98" idx="2"/>
                <a:endCxn id="99" idx="0"/>
              </p:cNvCxnSpPr>
              <p:nvPr/>
            </p:nvCxnSpPr>
            <p:spPr>
              <a:xfrm>
                <a:off x="5097018" y="4798912"/>
                <a:ext cx="0" cy="20664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Flowchart: Process 112"/>
              <p:cNvSpPr/>
              <p:nvPr/>
            </p:nvSpPr>
            <p:spPr>
              <a:xfrm>
                <a:off x="4626973" y="4038600"/>
                <a:ext cx="940090" cy="22119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Tick = Tick + 1</a:t>
                </a:r>
              </a:p>
            </p:txBody>
          </p:sp>
        </p:grpSp>
        <p:sp>
          <p:nvSpPr>
            <p:cNvPr id="177" name="Rounded Rectangle 176"/>
            <p:cNvSpPr/>
            <p:nvPr/>
          </p:nvSpPr>
          <p:spPr>
            <a:xfrm>
              <a:off x="127000" y="1143000"/>
              <a:ext cx="8737600" cy="4876800"/>
            </a:xfrm>
            <a:prstGeom prst="roundRect">
              <a:avLst>
                <a:gd name="adj" fmla="val 9896"/>
              </a:avLst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9" name="Straight Connector 178"/>
            <p:cNvCxnSpPr/>
            <p:nvPr/>
          </p:nvCxnSpPr>
          <p:spPr>
            <a:xfrm>
              <a:off x="3071649" y="1143000"/>
              <a:ext cx="0" cy="487680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>
              <a:off x="6797566" y="1143000"/>
              <a:ext cx="0" cy="487680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/>
            <p:cNvGrpSpPr/>
            <p:nvPr/>
          </p:nvGrpSpPr>
          <p:grpSpPr>
            <a:xfrm>
              <a:off x="512840" y="1447800"/>
              <a:ext cx="2154160" cy="4032260"/>
              <a:chOff x="1508580" y="1981200"/>
              <a:chExt cx="1615620" cy="3024195"/>
            </a:xfrm>
          </p:grpSpPr>
          <p:sp>
            <p:nvSpPr>
              <p:cNvPr id="131" name="Flowchart: Decision 130"/>
              <p:cNvSpPr/>
              <p:nvPr/>
            </p:nvSpPr>
            <p:spPr>
              <a:xfrm>
                <a:off x="1508580" y="3505412"/>
                <a:ext cx="1387020" cy="414746"/>
              </a:xfrm>
              <a:prstGeom prst="flowChartDecision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Tick = 50?</a:t>
                </a:r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1676400" y="1981200"/>
                <a:ext cx="1050689" cy="33179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Start main program</a:t>
                </a:r>
              </a:p>
            </p:txBody>
          </p:sp>
          <p:cxnSp>
            <p:nvCxnSpPr>
              <p:cNvPr id="123" name="Straight Arrow Connector 122"/>
              <p:cNvCxnSpPr>
                <a:cxnSpLocks/>
                <a:stCxn id="122" idx="4"/>
                <a:endCxn id="62" idx="0"/>
              </p:cNvCxnSpPr>
              <p:nvPr/>
            </p:nvCxnSpPr>
            <p:spPr>
              <a:xfrm flipH="1">
                <a:off x="2200968" y="2312997"/>
                <a:ext cx="777" cy="2193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Arrow Connector 123"/>
              <p:cNvCxnSpPr>
                <a:cxnSpLocks/>
                <a:stCxn id="128" idx="2"/>
                <a:endCxn id="125" idx="0"/>
              </p:cNvCxnSpPr>
              <p:nvPr/>
            </p:nvCxnSpPr>
            <p:spPr>
              <a:xfrm>
                <a:off x="2201744" y="4415482"/>
                <a:ext cx="0" cy="2304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Flowchart: Process 124"/>
              <p:cNvSpPr/>
              <p:nvPr/>
            </p:nvSpPr>
            <p:spPr>
              <a:xfrm>
                <a:off x="1584088" y="4645949"/>
                <a:ext cx="1235312" cy="359446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Turn on and off LED(s) given the current Mode</a:t>
                </a:r>
              </a:p>
            </p:txBody>
          </p:sp>
          <p:sp>
            <p:nvSpPr>
              <p:cNvPr id="128" name="Flowchart: Process 127"/>
              <p:cNvSpPr/>
              <p:nvPr/>
            </p:nvSpPr>
            <p:spPr>
              <a:xfrm>
                <a:off x="1731699" y="4194284"/>
                <a:ext cx="940090" cy="22119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Tick = 0</a:t>
                </a:r>
              </a:p>
            </p:txBody>
          </p:sp>
          <p:cxnSp>
            <p:nvCxnSpPr>
              <p:cNvPr id="133" name="Straight Arrow Connector 132"/>
              <p:cNvCxnSpPr>
                <a:stCxn id="131" idx="2"/>
                <a:endCxn id="128" idx="0"/>
              </p:cNvCxnSpPr>
              <p:nvPr/>
            </p:nvCxnSpPr>
            <p:spPr>
              <a:xfrm flipH="1">
                <a:off x="2201744" y="3920158"/>
                <a:ext cx="346" cy="27412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TextBox 146"/>
              <p:cNvSpPr txBox="1"/>
              <p:nvPr/>
            </p:nvSpPr>
            <p:spPr>
              <a:xfrm>
                <a:off x="2204040" y="3911107"/>
                <a:ext cx="195006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Y</a:t>
                </a:r>
              </a:p>
            </p:txBody>
          </p:sp>
          <p:sp>
            <p:nvSpPr>
              <p:cNvPr id="148" name="TextBox 147"/>
              <p:cNvSpPr txBox="1"/>
              <p:nvPr/>
            </p:nvSpPr>
            <p:spPr>
              <a:xfrm>
                <a:off x="2819400" y="3726430"/>
                <a:ext cx="213039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N</a:t>
                </a:r>
              </a:p>
            </p:txBody>
          </p:sp>
          <p:cxnSp>
            <p:nvCxnSpPr>
              <p:cNvPr id="151" name="Elbow Connector 150"/>
              <p:cNvCxnSpPr>
                <a:cxnSpLocks/>
                <a:stCxn id="125" idx="2"/>
              </p:cNvCxnSpPr>
              <p:nvPr/>
            </p:nvCxnSpPr>
            <p:spPr>
              <a:xfrm rot="5400000" flipH="1" flipV="1">
                <a:off x="1353019" y="4154372"/>
                <a:ext cx="1699748" cy="2298"/>
              </a:xfrm>
              <a:prstGeom prst="bentConnector5">
                <a:avLst>
                  <a:gd name="adj1" fmla="val -9464"/>
                  <a:gd name="adj2" fmla="val 39855048"/>
                  <a:gd name="adj3" fmla="val 998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>
                <a:stCxn id="131" idx="3"/>
              </p:cNvCxnSpPr>
              <p:nvPr/>
            </p:nvCxnSpPr>
            <p:spPr>
              <a:xfrm>
                <a:off x="2895600" y="3712785"/>
                <a:ext cx="228600" cy="0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Flowchart: Process 58"/>
              <p:cNvSpPr/>
              <p:nvPr/>
            </p:nvSpPr>
            <p:spPr>
              <a:xfrm>
                <a:off x="1731155" y="2972619"/>
                <a:ext cx="940090" cy="22119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Initialize interrupts</a:t>
                </a:r>
              </a:p>
            </p:txBody>
          </p:sp>
          <p:cxnSp>
            <p:nvCxnSpPr>
              <p:cNvPr id="61" name="Straight Arrow Connector 60"/>
              <p:cNvCxnSpPr>
                <a:stCxn id="59" idx="2"/>
                <a:endCxn id="131" idx="0"/>
              </p:cNvCxnSpPr>
              <p:nvPr/>
            </p:nvCxnSpPr>
            <p:spPr>
              <a:xfrm>
                <a:off x="2201200" y="3193817"/>
                <a:ext cx="890" cy="31159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Flowchart: Process 61"/>
              <p:cNvSpPr/>
              <p:nvPr/>
            </p:nvSpPr>
            <p:spPr>
              <a:xfrm>
                <a:off x="1730923" y="2532350"/>
                <a:ext cx="940090" cy="22119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Mode = 0; Tick = 0</a:t>
                </a:r>
              </a:p>
            </p:txBody>
          </p:sp>
          <p:cxnSp>
            <p:nvCxnSpPr>
              <p:cNvPr id="63" name="Straight Arrow Connector 62"/>
              <p:cNvCxnSpPr>
                <a:cxnSpLocks/>
                <a:stCxn id="62" idx="2"/>
                <a:endCxn id="59" idx="0"/>
              </p:cNvCxnSpPr>
              <p:nvPr/>
            </p:nvCxnSpPr>
            <p:spPr>
              <a:xfrm>
                <a:off x="2200968" y="2753548"/>
                <a:ext cx="232" cy="21907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extBox 2"/>
            <p:cNvSpPr txBox="1"/>
            <p:nvPr/>
          </p:nvSpPr>
          <p:spPr>
            <a:xfrm>
              <a:off x="3509605" y="5410200"/>
              <a:ext cx="287319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i="1" dirty="0"/>
                <a:t>NB: </a:t>
              </a:r>
              <a:r>
                <a:rPr lang="en-US" sz="1100" dirty="0"/>
                <a:t>This process also sets a “</a:t>
              </a:r>
              <a:r>
                <a:rPr lang="en-US" sz="1100" dirty="0" err="1"/>
                <a:t>modeChanged</a:t>
              </a:r>
              <a:r>
                <a:rPr lang="en-US" sz="1100" dirty="0"/>
                <a:t>” flag, which is sensed and cleared by main.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F07699E-61B0-4BD2-96B7-4A0AD4F4B2E3}"/>
                </a:ext>
              </a:extLst>
            </p:cNvPr>
            <p:cNvGrpSpPr/>
            <p:nvPr/>
          </p:nvGrpSpPr>
          <p:grpSpPr>
            <a:xfrm>
              <a:off x="3453964" y="1447800"/>
              <a:ext cx="3023036" cy="3758039"/>
              <a:chOff x="3580964" y="1651000"/>
              <a:chExt cx="3023036" cy="3758039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3580964" y="1651000"/>
                <a:ext cx="3023036" cy="3758039"/>
                <a:chOff x="3809673" y="1937657"/>
                <a:chExt cx="2267277" cy="2818529"/>
              </a:xfrm>
            </p:grpSpPr>
            <p:sp>
              <p:nvSpPr>
                <p:cNvPr id="4" name="Oval 3"/>
                <p:cNvSpPr/>
                <p:nvPr/>
              </p:nvSpPr>
              <p:spPr>
                <a:xfrm>
                  <a:off x="3809673" y="1937657"/>
                  <a:ext cx="1050689" cy="331797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Switch </a:t>
                  </a:r>
                </a:p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interrupt</a:t>
                  </a:r>
                </a:p>
              </p:txBody>
            </p:sp>
            <p:sp>
              <p:nvSpPr>
                <p:cNvPr id="7" name="Flowchart: Decision 6"/>
                <p:cNvSpPr/>
                <p:nvPr/>
              </p:nvSpPr>
              <p:spPr>
                <a:xfrm>
                  <a:off x="3837323" y="2437420"/>
                  <a:ext cx="995390" cy="331797"/>
                </a:xfrm>
                <a:prstGeom prst="flowChartDecision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Mode = 0?</a:t>
                  </a:r>
                </a:p>
              </p:txBody>
            </p:sp>
            <p:sp>
              <p:nvSpPr>
                <p:cNvPr id="8" name="Flowchart: Process 7"/>
                <p:cNvSpPr/>
                <p:nvPr/>
              </p:nvSpPr>
              <p:spPr>
                <a:xfrm>
                  <a:off x="4970961" y="2492719"/>
                  <a:ext cx="940090" cy="221198"/>
                </a:xfrm>
                <a:prstGeom prst="flowChartProcess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Mode = 1</a:t>
                  </a:r>
                </a:p>
              </p:txBody>
            </p:sp>
            <p:cxnSp>
              <p:nvCxnSpPr>
                <p:cNvPr id="11" name="Straight Arrow Connector 10"/>
                <p:cNvCxnSpPr>
                  <a:endCxn id="7" idx="0"/>
                </p:cNvCxnSpPr>
                <p:nvPr/>
              </p:nvCxnSpPr>
              <p:spPr>
                <a:xfrm>
                  <a:off x="4335018" y="2271522"/>
                  <a:ext cx="0" cy="16589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/>
                <p:cNvCxnSpPr>
                  <a:stCxn id="7" idx="3"/>
                  <a:endCxn id="8" idx="1"/>
                </p:cNvCxnSpPr>
                <p:nvPr/>
              </p:nvCxnSpPr>
              <p:spPr>
                <a:xfrm flipV="1">
                  <a:off x="4832713" y="2603318"/>
                  <a:ext cx="138248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Flowchart: Decision 16"/>
                <p:cNvSpPr/>
                <p:nvPr/>
              </p:nvSpPr>
              <p:spPr>
                <a:xfrm>
                  <a:off x="3837323" y="2931305"/>
                  <a:ext cx="995390" cy="331797"/>
                </a:xfrm>
                <a:prstGeom prst="flowChartDecision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Mode = 1?</a:t>
                  </a:r>
                </a:p>
              </p:txBody>
            </p:sp>
            <p:sp>
              <p:nvSpPr>
                <p:cNvPr id="18" name="Flowchart: Process 17"/>
                <p:cNvSpPr/>
                <p:nvPr/>
              </p:nvSpPr>
              <p:spPr>
                <a:xfrm>
                  <a:off x="4970961" y="2986604"/>
                  <a:ext cx="940090" cy="221198"/>
                </a:xfrm>
                <a:prstGeom prst="flowChartProcess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Mode = 2</a:t>
                  </a:r>
                </a:p>
              </p:txBody>
            </p:sp>
            <p:cxnSp>
              <p:nvCxnSpPr>
                <p:cNvPr id="19" name="Straight Arrow Connector 18"/>
                <p:cNvCxnSpPr>
                  <a:stCxn id="7" idx="2"/>
                  <a:endCxn id="17" idx="0"/>
                </p:cNvCxnSpPr>
                <p:nvPr/>
              </p:nvCxnSpPr>
              <p:spPr>
                <a:xfrm>
                  <a:off x="4335018" y="2769217"/>
                  <a:ext cx="0" cy="16208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/>
                <p:cNvCxnSpPr>
                  <a:stCxn id="17" idx="3"/>
                  <a:endCxn id="18" idx="1"/>
                </p:cNvCxnSpPr>
                <p:nvPr/>
              </p:nvCxnSpPr>
              <p:spPr>
                <a:xfrm>
                  <a:off x="4832713" y="3097203"/>
                  <a:ext cx="138249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Flowchart: Decision 21"/>
                <p:cNvSpPr/>
                <p:nvPr/>
              </p:nvSpPr>
              <p:spPr>
                <a:xfrm>
                  <a:off x="3837323" y="3429000"/>
                  <a:ext cx="995390" cy="331797"/>
                </a:xfrm>
                <a:prstGeom prst="flowChartDecision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Mode = 2?</a:t>
                  </a:r>
                </a:p>
              </p:txBody>
            </p:sp>
            <p:sp>
              <p:nvSpPr>
                <p:cNvPr id="23" name="Flowchart: Process 22"/>
                <p:cNvSpPr/>
                <p:nvPr/>
              </p:nvSpPr>
              <p:spPr>
                <a:xfrm>
                  <a:off x="4970961" y="3484299"/>
                  <a:ext cx="940090" cy="221198"/>
                </a:xfrm>
                <a:prstGeom prst="flowChartProcess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Mode = 3</a:t>
                  </a:r>
                </a:p>
              </p:txBody>
            </p:sp>
            <p:cxnSp>
              <p:nvCxnSpPr>
                <p:cNvPr id="24" name="Straight Arrow Connector 23"/>
                <p:cNvCxnSpPr>
                  <a:stCxn id="17" idx="2"/>
                  <a:endCxn id="22" idx="0"/>
                </p:cNvCxnSpPr>
                <p:nvPr/>
              </p:nvCxnSpPr>
              <p:spPr>
                <a:xfrm>
                  <a:off x="4335018" y="3263101"/>
                  <a:ext cx="0" cy="16589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/>
                <p:cNvCxnSpPr>
                  <a:stCxn id="22" idx="3"/>
                  <a:endCxn id="23" idx="1"/>
                </p:cNvCxnSpPr>
                <p:nvPr/>
              </p:nvCxnSpPr>
              <p:spPr>
                <a:xfrm>
                  <a:off x="4832713" y="3594898"/>
                  <a:ext cx="138249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/>
                <p:cNvCxnSpPr>
                  <a:stCxn id="22" idx="2"/>
                  <a:endCxn id="32" idx="0"/>
                </p:cNvCxnSpPr>
                <p:nvPr/>
              </p:nvCxnSpPr>
              <p:spPr>
                <a:xfrm>
                  <a:off x="4335018" y="3760796"/>
                  <a:ext cx="0" cy="16589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Flowchart: Process 31"/>
                <p:cNvSpPr/>
                <p:nvPr/>
              </p:nvSpPr>
              <p:spPr>
                <a:xfrm>
                  <a:off x="3864973" y="3926695"/>
                  <a:ext cx="940090" cy="221198"/>
                </a:xfrm>
                <a:prstGeom prst="flowChartProcess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Mode = 0</a:t>
                  </a:r>
                </a:p>
              </p:txBody>
            </p:sp>
            <p:sp>
              <p:nvSpPr>
                <p:cNvPr id="36" name="Oval 35"/>
                <p:cNvSpPr/>
                <p:nvPr/>
              </p:nvSpPr>
              <p:spPr>
                <a:xfrm>
                  <a:off x="3809673" y="4424389"/>
                  <a:ext cx="1050689" cy="331797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Return from interrupt</a:t>
                  </a:r>
                </a:p>
              </p:txBody>
            </p:sp>
            <p:cxnSp>
              <p:nvCxnSpPr>
                <p:cNvPr id="37" name="Straight Arrow Connector 36"/>
                <p:cNvCxnSpPr>
                  <a:stCxn id="32" idx="2"/>
                  <a:endCxn id="36" idx="0"/>
                </p:cNvCxnSpPr>
                <p:nvPr/>
              </p:nvCxnSpPr>
              <p:spPr>
                <a:xfrm>
                  <a:off x="4335018" y="4147892"/>
                  <a:ext cx="0" cy="27649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Elbow Connector 40"/>
                <p:cNvCxnSpPr>
                  <a:stCxn id="8" idx="3"/>
                </p:cNvCxnSpPr>
                <p:nvPr/>
              </p:nvCxnSpPr>
              <p:spPr>
                <a:xfrm flipH="1">
                  <a:off x="4335018" y="2603318"/>
                  <a:ext cx="1576033" cy="1682823"/>
                </a:xfrm>
                <a:prstGeom prst="bentConnector4">
                  <a:avLst>
                    <a:gd name="adj1" fmla="val -10395"/>
                    <a:gd name="adj2" fmla="val 100152"/>
                  </a:avLst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>
                  <a:stCxn id="18" idx="3"/>
                </p:cNvCxnSpPr>
                <p:nvPr/>
              </p:nvCxnSpPr>
              <p:spPr>
                <a:xfrm>
                  <a:off x="5911052" y="3097203"/>
                  <a:ext cx="1658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>
                  <a:stCxn id="23" idx="3"/>
                </p:cNvCxnSpPr>
                <p:nvPr/>
              </p:nvCxnSpPr>
              <p:spPr>
                <a:xfrm>
                  <a:off x="5911052" y="3594898"/>
                  <a:ext cx="1658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4" name="TextBox 73"/>
                <p:cNvSpPr txBox="1"/>
                <p:nvPr/>
              </p:nvSpPr>
              <p:spPr>
                <a:xfrm>
                  <a:off x="4341930" y="2730283"/>
                  <a:ext cx="213039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N</a:t>
                  </a:r>
                </a:p>
              </p:txBody>
            </p:sp>
            <p:sp>
              <p:nvSpPr>
                <p:cNvPr id="75" name="TextBox 74"/>
                <p:cNvSpPr txBox="1"/>
                <p:nvPr/>
              </p:nvSpPr>
              <p:spPr>
                <a:xfrm>
                  <a:off x="4335018" y="3227977"/>
                  <a:ext cx="213039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N</a:t>
                  </a:r>
                </a:p>
              </p:txBody>
            </p:sp>
            <p:sp>
              <p:nvSpPr>
                <p:cNvPr id="76" name="TextBox 75"/>
                <p:cNvSpPr txBox="1"/>
                <p:nvPr/>
              </p:nvSpPr>
              <p:spPr>
                <a:xfrm>
                  <a:off x="4341930" y="3725672"/>
                  <a:ext cx="213039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N</a:t>
                  </a:r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>
                  <a:off x="4777321" y="2401144"/>
                  <a:ext cx="195006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Y</a:t>
                  </a:r>
                </a:p>
              </p:txBody>
            </p:sp>
            <p:sp>
              <p:nvSpPr>
                <p:cNvPr id="78" name="TextBox 77"/>
                <p:cNvSpPr txBox="1"/>
                <p:nvPr/>
              </p:nvSpPr>
              <p:spPr>
                <a:xfrm>
                  <a:off x="4782270" y="2898722"/>
                  <a:ext cx="195006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Y</a:t>
                  </a:r>
                </a:p>
              </p:txBody>
            </p:sp>
            <p:sp>
              <p:nvSpPr>
                <p:cNvPr id="79" name="TextBox 78"/>
                <p:cNvSpPr txBox="1"/>
                <p:nvPr/>
              </p:nvSpPr>
              <p:spPr>
                <a:xfrm>
                  <a:off x="4782270" y="3393876"/>
                  <a:ext cx="195006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Y</a:t>
                  </a:r>
                </a:p>
              </p:txBody>
            </p:sp>
          </p:grpSp>
          <p:cxnSp>
            <p:nvCxnSpPr>
              <p:cNvPr id="6" name="Straight Arrow Connector 5"/>
              <p:cNvCxnSpPr/>
              <p:nvPr/>
            </p:nvCxnSpPr>
            <p:spPr>
              <a:xfrm flipV="1">
                <a:off x="4029456" y="1707254"/>
                <a:ext cx="0" cy="14922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Group 12"/>
          <p:cNvGrpSpPr/>
          <p:nvPr/>
        </p:nvGrpSpPr>
        <p:grpSpPr>
          <a:xfrm>
            <a:off x="283780" y="5827186"/>
            <a:ext cx="2828147" cy="749664"/>
            <a:chOff x="283780" y="5827186"/>
            <a:chExt cx="2828147" cy="749664"/>
          </a:xfrm>
        </p:grpSpPr>
        <p:sp>
          <p:nvSpPr>
            <p:cNvPr id="9" name="Left Brace 8"/>
            <p:cNvSpPr/>
            <p:nvPr/>
          </p:nvSpPr>
          <p:spPr>
            <a:xfrm rot="16200000">
              <a:off x="1580413" y="4816799"/>
              <a:ext cx="228600" cy="2249374"/>
            </a:xfrm>
            <a:prstGeom prst="leftBrace">
              <a:avLst>
                <a:gd name="adj1" fmla="val 26157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83780" y="6053630"/>
              <a:ext cx="282814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The main loop </a:t>
              </a:r>
              <a:r>
                <a:rPr lang="en-US" sz="1400" b="1" i="1" u="sng" dirty="0">
                  <a:solidFill>
                    <a:srgbClr val="FF0000"/>
                  </a:solidFill>
                </a:rPr>
                <a:t>reads</a:t>
              </a:r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en-U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Mode</a:t>
              </a:r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and </a:t>
              </a:r>
              <a:r>
                <a:rPr lang="en-U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Tick</a:t>
              </a:r>
              <a:endPara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(and sometimes </a:t>
              </a:r>
              <a:r>
                <a:rPr lang="en-US" sz="1400" b="1" i="1" u="sng" dirty="0">
                  <a:solidFill>
                    <a:srgbClr val="FF0000"/>
                  </a:solidFill>
                </a:rPr>
                <a:t>resets</a:t>
              </a:r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en-U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Tick</a:t>
              </a:r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to zero)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933336" y="5827187"/>
            <a:ext cx="2249374" cy="749663"/>
            <a:chOff x="3933336" y="5827187"/>
            <a:chExt cx="2249374" cy="749663"/>
          </a:xfrm>
        </p:grpSpPr>
        <p:sp>
          <p:nvSpPr>
            <p:cNvPr id="66" name="Left Brace 65"/>
            <p:cNvSpPr/>
            <p:nvPr/>
          </p:nvSpPr>
          <p:spPr>
            <a:xfrm rot="16200000">
              <a:off x="4943723" y="4816800"/>
              <a:ext cx="228600" cy="2249374"/>
            </a:xfrm>
            <a:prstGeom prst="leftBrace">
              <a:avLst>
                <a:gd name="adj1" fmla="val 26157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951890" y="6053630"/>
              <a:ext cx="22220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The Switch interrupt code </a:t>
              </a:r>
              <a:r>
                <a:rPr lang="en-US" sz="1400" b="1" i="1" u="sng" dirty="0">
                  <a:solidFill>
                    <a:srgbClr val="FF0000"/>
                  </a:solidFill>
                </a:rPr>
                <a:t>changes</a:t>
              </a:r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en-U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Mode</a:t>
              </a:r>
              <a:endPara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705582" y="5821134"/>
            <a:ext cx="2316724" cy="755716"/>
            <a:chOff x="6705582" y="5821134"/>
            <a:chExt cx="2316724" cy="755716"/>
          </a:xfrm>
        </p:grpSpPr>
        <p:sp>
          <p:nvSpPr>
            <p:cNvPr id="68" name="Left Brace 67"/>
            <p:cNvSpPr/>
            <p:nvPr/>
          </p:nvSpPr>
          <p:spPr>
            <a:xfrm rot="16200000">
              <a:off x="7764959" y="5105839"/>
              <a:ext cx="240706" cy="1671296"/>
            </a:xfrm>
            <a:prstGeom prst="leftBrace">
              <a:avLst>
                <a:gd name="adj1" fmla="val 26157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705582" y="6053630"/>
              <a:ext cx="23167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The TIMER0 code </a:t>
              </a:r>
              <a:r>
                <a:rPr lang="en-US" sz="1400" b="1" i="1" u="sng" dirty="0">
                  <a:solidFill>
                    <a:srgbClr val="FF0000"/>
                  </a:solidFill>
                </a:rPr>
                <a:t>increments</a:t>
              </a:r>
              <a:endParaRPr lang="en-US" sz="1400" b="1" dirty="0">
                <a:solidFill>
                  <a:srgbClr val="FF0000"/>
                </a:solidFill>
              </a:endParaRPr>
            </a:p>
            <a:p>
              <a:pPr algn="ctr"/>
              <a:r>
                <a:rPr lang="en-U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Tick</a:t>
              </a:r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once every millisecond</a:t>
              </a:r>
            </a:p>
          </p:txBody>
        </p:sp>
      </p:grpSp>
      <p:sp>
        <p:nvSpPr>
          <p:cNvPr id="26" name="Rectangle 25"/>
          <p:cNvSpPr/>
          <p:nvPr/>
        </p:nvSpPr>
        <p:spPr>
          <a:xfrm>
            <a:off x="3352800" y="992525"/>
            <a:ext cx="3352782" cy="456882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7049664" y="1671975"/>
            <a:ext cx="1709110" cy="3206076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2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71" grpId="0" animBg="1"/>
      <p:bldP spid="71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612775"/>
          </a:xfrm>
        </p:spPr>
        <p:txBody>
          <a:bodyPr>
            <a:noAutofit/>
          </a:bodyPr>
          <a:lstStyle/>
          <a:p>
            <a:r>
              <a:rPr lang="en-US" sz="3200" dirty="0"/>
              <a:t>EECE3264 Lab06 </a:t>
            </a:r>
            <a:r>
              <a:rPr lang="en-US" sz="3200" dirty="0" err="1"/>
              <a:t>StateChart</a:t>
            </a:r>
            <a:endParaRPr lang="en-US" sz="3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687D4EF-DE4A-44EF-A282-740FB955DCFC}"/>
              </a:ext>
            </a:extLst>
          </p:cNvPr>
          <p:cNvGrpSpPr/>
          <p:nvPr/>
        </p:nvGrpSpPr>
        <p:grpSpPr>
          <a:xfrm>
            <a:off x="212834" y="838200"/>
            <a:ext cx="8737600" cy="4876800"/>
            <a:chOff x="127000" y="1143000"/>
            <a:chExt cx="8737600" cy="4876800"/>
          </a:xfrm>
        </p:grpSpPr>
        <p:grpSp>
          <p:nvGrpSpPr>
            <p:cNvPr id="120" name="Group 119"/>
            <p:cNvGrpSpPr/>
            <p:nvPr/>
          </p:nvGrpSpPr>
          <p:grpSpPr>
            <a:xfrm>
              <a:off x="7032606" y="2209800"/>
              <a:ext cx="1579848" cy="2571607"/>
              <a:chOff x="4504575" y="3408651"/>
              <a:chExt cx="1184886" cy="1928705"/>
            </a:xfrm>
          </p:grpSpPr>
          <p:sp>
            <p:nvSpPr>
              <p:cNvPr id="82" name="Oval 81"/>
              <p:cNvSpPr/>
              <p:nvPr/>
            </p:nvSpPr>
            <p:spPr>
              <a:xfrm>
                <a:off x="4504575" y="3408651"/>
                <a:ext cx="1184886" cy="4486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TIMER0 overflow interrupt (1mS)</a:t>
                </a:r>
              </a:p>
            </p:txBody>
          </p:sp>
          <p:cxnSp>
            <p:nvCxnSpPr>
              <p:cNvPr id="86" name="Straight Arrow Connector 85"/>
              <p:cNvCxnSpPr>
                <a:stCxn id="82" idx="4"/>
                <a:endCxn id="113" idx="0"/>
              </p:cNvCxnSpPr>
              <p:nvPr/>
            </p:nvCxnSpPr>
            <p:spPr>
              <a:xfrm>
                <a:off x="5097018" y="3857347"/>
                <a:ext cx="0" cy="1812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/>
              <p:cNvCxnSpPr>
                <a:stCxn id="113" idx="2"/>
                <a:endCxn id="98" idx="0"/>
              </p:cNvCxnSpPr>
              <p:nvPr/>
            </p:nvCxnSpPr>
            <p:spPr>
              <a:xfrm>
                <a:off x="5097018" y="4259798"/>
                <a:ext cx="0" cy="17966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Flowchart: Process 97"/>
              <p:cNvSpPr/>
              <p:nvPr/>
            </p:nvSpPr>
            <p:spPr>
              <a:xfrm>
                <a:off x="4626973" y="4439466"/>
                <a:ext cx="940090" cy="359446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Reset TIMER0 overflow counter</a:t>
                </a:r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4571673" y="5005559"/>
                <a:ext cx="1050689" cy="33179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Return from interrupt</a:t>
                </a:r>
              </a:p>
            </p:txBody>
          </p:sp>
          <p:cxnSp>
            <p:nvCxnSpPr>
              <p:cNvPr id="100" name="Straight Arrow Connector 99"/>
              <p:cNvCxnSpPr>
                <a:stCxn id="98" idx="2"/>
                <a:endCxn id="99" idx="0"/>
              </p:cNvCxnSpPr>
              <p:nvPr/>
            </p:nvCxnSpPr>
            <p:spPr>
              <a:xfrm>
                <a:off x="5097018" y="4798912"/>
                <a:ext cx="0" cy="20664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Flowchart: Process 112"/>
              <p:cNvSpPr/>
              <p:nvPr/>
            </p:nvSpPr>
            <p:spPr>
              <a:xfrm>
                <a:off x="4626973" y="4038600"/>
                <a:ext cx="940090" cy="22119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Tick = Tick + 1</a:t>
                </a:r>
              </a:p>
            </p:txBody>
          </p:sp>
        </p:grpSp>
        <p:sp>
          <p:nvSpPr>
            <p:cNvPr id="177" name="Rounded Rectangle 176"/>
            <p:cNvSpPr/>
            <p:nvPr/>
          </p:nvSpPr>
          <p:spPr>
            <a:xfrm>
              <a:off x="127000" y="1143000"/>
              <a:ext cx="8737600" cy="4876800"/>
            </a:xfrm>
            <a:prstGeom prst="roundRect">
              <a:avLst>
                <a:gd name="adj" fmla="val 9896"/>
              </a:avLst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9" name="Straight Connector 178"/>
            <p:cNvCxnSpPr/>
            <p:nvPr/>
          </p:nvCxnSpPr>
          <p:spPr>
            <a:xfrm>
              <a:off x="3071649" y="1143000"/>
              <a:ext cx="0" cy="487680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>
              <a:off x="6797566" y="1143000"/>
              <a:ext cx="0" cy="487680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/>
            <p:cNvGrpSpPr/>
            <p:nvPr/>
          </p:nvGrpSpPr>
          <p:grpSpPr>
            <a:xfrm>
              <a:off x="512840" y="1447800"/>
              <a:ext cx="2154160" cy="4032260"/>
              <a:chOff x="1508580" y="1981200"/>
              <a:chExt cx="1615620" cy="3024195"/>
            </a:xfrm>
          </p:grpSpPr>
          <p:sp>
            <p:nvSpPr>
              <p:cNvPr id="131" name="Flowchart: Decision 130"/>
              <p:cNvSpPr/>
              <p:nvPr/>
            </p:nvSpPr>
            <p:spPr>
              <a:xfrm>
                <a:off x="1508580" y="3505412"/>
                <a:ext cx="1387020" cy="414746"/>
              </a:xfrm>
              <a:prstGeom prst="flowChartDecision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Tick = 50?</a:t>
                </a:r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1676400" y="1981200"/>
                <a:ext cx="1050689" cy="33179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Start main program</a:t>
                </a:r>
              </a:p>
            </p:txBody>
          </p:sp>
          <p:cxnSp>
            <p:nvCxnSpPr>
              <p:cNvPr id="123" name="Straight Arrow Connector 122"/>
              <p:cNvCxnSpPr>
                <a:cxnSpLocks/>
                <a:stCxn id="122" idx="4"/>
                <a:endCxn id="62" idx="0"/>
              </p:cNvCxnSpPr>
              <p:nvPr/>
            </p:nvCxnSpPr>
            <p:spPr>
              <a:xfrm flipH="1">
                <a:off x="2200968" y="2312997"/>
                <a:ext cx="777" cy="2193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Arrow Connector 123"/>
              <p:cNvCxnSpPr>
                <a:cxnSpLocks/>
                <a:stCxn id="128" idx="2"/>
                <a:endCxn id="125" idx="0"/>
              </p:cNvCxnSpPr>
              <p:nvPr/>
            </p:nvCxnSpPr>
            <p:spPr>
              <a:xfrm>
                <a:off x="2201744" y="4415482"/>
                <a:ext cx="0" cy="2304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Flowchart: Process 124"/>
              <p:cNvSpPr/>
              <p:nvPr/>
            </p:nvSpPr>
            <p:spPr>
              <a:xfrm>
                <a:off x="1584088" y="4645949"/>
                <a:ext cx="1235312" cy="359446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Turn on and off LED(s) given the current Mode</a:t>
                </a:r>
              </a:p>
            </p:txBody>
          </p:sp>
          <p:sp>
            <p:nvSpPr>
              <p:cNvPr id="128" name="Flowchart: Process 127"/>
              <p:cNvSpPr/>
              <p:nvPr/>
            </p:nvSpPr>
            <p:spPr>
              <a:xfrm>
                <a:off x="1731699" y="4194284"/>
                <a:ext cx="940090" cy="22119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Tick = 0</a:t>
                </a:r>
              </a:p>
            </p:txBody>
          </p:sp>
          <p:cxnSp>
            <p:nvCxnSpPr>
              <p:cNvPr id="133" name="Straight Arrow Connector 132"/>
              <p:cNvCxnSpPr>
                <a:stCxn id="131" idx="2"/>
                <a:endCxn id="128" idx="0"/>
              </p:cNvCxnSpPr>
              <p:nvPr/>
            </p:nvCxnSpPr>
            <p:spPr>
              <a:xfrm flipH="1">
                <a:off x="2201744" y="3920158"/>
                <a:ext cx="346" cy="27412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TextBox 146"/>
              <p:cNvSpPr txBox="1"/>
              <p:nvPr/>
            </p:nvSpPr>
            <p:spPr>
              <a:xfrm>
                <a:off x="2204040" y="3911107"/>
                <a:ext cx="195006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Y</a:t>
                </a:r>
              </a:p>
            </p:txBody>
          </p:sp>
          <p:sp>
            <p:nvSpPr>
              <p:cNvPr id="148" name="TextBox 147"/>
              <p:cNvSpPr txBox="1"/>
              <p:nvPr/>
            </p:nvSpPr>
            <p:spPr>
              <a:xfrm>
                <a:off x="2819400" y="3726430"/>
                <a:ext cx="213039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N</a:t>
                </a:r>
              </a:p>
            </p:txBody>
          </p:sp>
          <p:cxnSp>
            <p:nvCxnSpPr>
              <p:cNvPr id="151" name="Elbow Connector 150"/>
              <p:cNvCxnSpPr>
                <a:cxnSpLocks/>
                <a:stCxn id="125" idx="2"/>
              </p:cNvCxnSpPr>
              <p:nvPr/>
            </p:nvCxnSpPr>
            <p:spPr>
              <a:xfrm rot="5400000" flipH="1" flipV="1">
                <a:off x="1353019" y="4154372"/>
                <a:ext cx="1699748" cy="2298"/>
              </a:xfrm>
              <a:prstGeom prst="bentConnector5">
                <a:avLst>
                  <a:gd name="adj1" fmla="val -9464"/>
                  <a:gd name="adj2" fmla="val 39855048"/>
                  <a:gd name="adj3" fmla="val 998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>
                <a:stCxn id="131" idx="3"/>
              </p:cNvCxnSpPr>
              <p:nvPr/>
            </p:nvCxnSpPr>
            <p:spPr>
              <a:xfrm>
                <a:off x="2895600" y="3712785"/>
                <a:ext cx="228600" cy="0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Flowchart: Process 58"/>
              <p:cNvSpPr/>
              <p:nvPr/>
            </p:nvSpPr>
            <p:spPr>
              <a:xfrm>
                <a:off x="1731155" y="2972619"/>
                <a:ext cx="940090" cy="22119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Initialize interrupts</a:t>
                </a:r>
              </a:p>
            </p:txBody>
          </p:sp>
          <p:cxnSp>
            <p:nvCxnSpPr>
              <p:cNvPr id="61" name="Straight Arrow Connector 60"/>
              <p:cNvCxnSpPr>
                <a:stCxn id="59" idx="2"/>
                <a:endCxn id="131" idx="0"/>
              </p:cNvCxnSpPr>
              <p:nvPr/>
            </p:nvCxnSpPr>
            <p:spPr>
              <a:xfrm>
                <a:off x="2201200" y="3193817"/>
                <a:ext cx="890" cy="31159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Flowchart: Process 61"/>
              <p:cNvSpPr/>
              <p:nvPr/>
            </p:nvSpPr>
            <p:spPr>
              <a:xfrm>
                <a:off x="1730923" y="2532350"/>
                <a:ext cx="940090" cy="22119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Mode = 0; Tick = 0</a:t>
                </a:r>
              </a:p>
            </p:txBody>
          </p:sp>
          <p:cxnSp>
            <p:nvCxnSpPr>
              <p:cNvPr id="63" name="Straight Arrow Connector 62"/>
              <p:cNvCxnSpPr>
                <a:cxnSpLocks/>
                <a:stCxn id="62" idx="2"/>
                <a:endCxn id="59" idx="0"/>
              </p:cNvCxnSpPr>
              <p:nvPr/>
            </p:nvCxnSpPr>
            <p:spPr>
              <a:xfrm>
                <a:off x="2200968" y="2753548"/>
                <a:ext cx="232" cy="21907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extBox 2"/>
            <p:cNvSpPr txBox="1"/>
            <p:nvPr/>
          </p:nvSpPr>
          <p:spPr>
            <a:xfrm>
              <a:off x="3509605" y="5410200"/>
              <a:ext cx="287319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i="1" dirty="0"/>
                <a:t>NB: </a:t>
              </a:r>
              <a:r>
                <a:rPr lang="en-US" sz="1100" dirty="0"/>
                <a:t>This process also sets a “</a:t>
              </a:r>
              <a:r>
                <a:rPr lang="en-US" sz="1100" dirty="0" err="1"/>
                <a:t>modeChanged</a:t>
              </a:r>
              <a:r>
                <a:rPr lang="en-US" sz="1100" dirty="0"/>
                <a:t>” flag, which is sensed and cleared by main.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F07699E-61B0-4BD2-96B7-4A0AD4F4B2E3}"/>
                </a:ext>
              </a:extLst>
            </p:cNvPr>
            <p:cNvGrpSpPr/>
            <p:nvPr/>
          </p:nvGrpSpPr>
          <p:grpSpPr>
            <a:xfrm>
              <a:off x="3453964" y="1447800"/>
              <a:ext cx="3023036" cy="3758039"/>
              <a:chOff x="3580964" y="1651000"/>
              <a:chExt cx="3023036" cy="3758039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3580964" y="1651000"/>
                <a:ext cx="3023036" cy="3758039"/>
                <a:chOff x="3809673" y="1937657"/>
                <a:chExt cx="2267277" cy="2818529"/>
              </a:xfrm>
            </p:grpSpPr>
            <p:sp>
              <p:nvSpPr>
                <p:cNvPr id="4" name="Oval 3"/>
                <p:cNvSpPr/>
                <p:nvPr/>
              </p:nvSpPr>
              <p:spPr>
                <a:xfrm>
                  <a:off x="3809673" y="1937657"/>
                  <a:ext cx="1050689" cy="331797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Switch </a:t>
                  </a:r>
                </a:p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interrupt</a:t>
                  </a:r>
                </a:p>
              </p:txBody>
            </p:sp>
            <p:sp>
              <p:nvSpPr>
                <p:cNvPr id="7" name="Flowchart: Decision 6"/>
                <p:cNvSpPr/>
                <p:nvPr/>
              </p:nvSpPr>
              <p:spPr>
                <a:xfrm>
                  <a:off x="3837323" y="2437420"/>
                  <a:ext cx="995390" cy="331797"/>
                </a:xfrm>
                <a:prstGeom prst="flowChartDecision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Mode = 0?</a:t>
                  </a:r>
                </a:p>
              </p:txBody>
            </p:sp>
            <p:sp>
              <p:nvSpPr>
                <p:cNvPr id="8" name="Flowchart: Process 7"/>
                <p:cNvSpPr/>
                <p:nvPr/>
              </p:nvSpPr>
              <p:spPr>
                <a:xfrm>
                  <a:off x="4970961" y="2492719"/>
                  <a:ext cx="940090" cy="221198"/>
                </a:xfrm>
                <a:prstGeom prst="flowChartProcess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Mode = 1</a:t>
                  </a:r>
                </a:p>
              </p:txBody>
            </p:sp>
            <p:cxnSp>
              <p:nvCxnSpPr>
                <p:cNvPr id="11" name="Straight Arrow Connector 10"/>
                <p:cNvCxnSpPr>
                  <a:endCxn id="7" idx="0"/>
                </p:cNvCxnSpPr>
                <p:nvPr/>
              </p:nvCxnSpPr>
              <p:spPr>
                <a:xfrm>
                  <a:off x="4335018" y="2271522"/>
                  <a:ext cx="0" cy="16589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/>
                <p:cNvCxnSpPr>
                  <a:stCxn id="7" idx="3"/>
                  <a:endCxn id="8" idx="1"/>
                </p:cNvCxnSpPr>
                <p:nvPr/>
              </p:nvCxnSpPr>
              <p:spPr>
                <a:xfrm flipV="1">
                  <a:off x="4832713" y="2603318"/>
                  <a:ext cx="138248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Flowchart: Decision 16"/>
                <p:cNvSpPr/>
                <p:nvPr/>
              </p:nvSpPr>
              <p:spPr>
                <a:xfrm>
                  <a:off x="3837323" y="2931305"/>
                  <a:ext cx="995390" cy="331797"/>
                </a:xfrm>
                <a:prstGeom prst="flowChartDecision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Mode = 1?</a:t>
                  </a:r>
                </a:p>
              </p:txBody>
            </p:sp>
            <p:sp>
              <p:nvSpPr>
                <p:cNvPr id="18" name="Flowchart: Process 17"/>
                <p:cNvSpPr/>
                <p:nvPr/>
              </p:nvSpPr>
              <p:spPr>
                <a:xfrm>
                  <a:off x="4970961" y="2986604"/>
                  <a:ext cx="940090" cy="221198"/>
                </a:xfrm>
                <a:prstGeom prst="flowChartProcess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Mode = 2</a:t>
                  </a:r>
                </a:p>
              </p:txBody>
            </p:sp>
            <p:cxnSp>
              <p:nvCxnSpPr>
                <p:cNvPr id="19" name="Straight Arrow Connector 18"/>
                <p:cNvCxnSpPr>
                  <a:stCxn id="7" idx="2"/>
                  <a:endCxn id="17" idx="0"/>
                </p:cNvCxnSpPr>
                <p:nvPr/>
              </p:nvCxnSpPr>
              <p:spPr>
                <a:xfrm>
                  <a:off x="4335018" y="2769217"/>
                  <a:ext cx="0" cy="16208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/>
                <p:cNvCxnSpPr>
                  <a:stCxn id="17" idx="3"/>
                  <a:endCxn id="18" idx="1"/>
                </p:cNvCxnSpPr>
                <p:nvPr/>
              </p:nvCxnSpPr>
              <p:spPr>
                <a:xfrm>
                  <a:off x="4832713" y="3097203"/>
                  <a:ext cx="138249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Flowchart: Decision 21"/>
                <p:cNvSpPr/>
                <p:nvPr/>
              </p:nvSpPr>
              <p:spPr>
                <a:xfrm>
                  <a:off x="3837323" y="3429000"/>
                  <a:ext cx="995390" cy="331797"/>
                </a:xfrm>
                <a:prstGeom prst="flowChartDecision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Mode = 2?</a:t>
                  </a:r>
                </a:p>
              </p:txBody>
            </p:sp>
            <p:sp>
              <p:nvSpPr>
                <p:cNvPr id="23" name="Flowchart: Process 22"/>
                <p:cNvSpPr/>
                <p:nvPr/>
              </p:nvSpPr>
              <p:spPr>
                <a:xfrm>
                  <a:off x="4970961" y="3484299"/>
                  <a:ext cx="940090" cy="221198"/>
                </a:xfrm>
                <a:prstGeom prst="flowChartProcess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Mode = 3</a:t>
                  </a:r>
                </a:p>
              </p:txBody>
            </p:sp>
            <p:cxnSp>
              <p:nvCxnSpPr>
                <p:cNvPr id="24" name="Straight Arrow Connector 23"/>
                <p:cNvCxnSpPr>
                  <a:stCxn id="17" idx="2"/>
                  <a:endCxn id="22" idx="0"/>
                </p:cNvCxnSpPr>
                <p:nvPr/>
              </p:nvCxnSpPr>
              <p:spPr>
                <a:xfrm>
                  <a:off x="4335018" y="3263101"/>
                  <a:ext cx="0" cy="16589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/>
                <p:cNvCxnSpPr>
                  <a:stCxn id="22" idx="3"/>
                  <a:endCxn id="23" idx="1"/>
                </p:cNvCxnSpPr>
                <p:nvPr/>
              </p:nvCxnSpPr>
              <p:spPr>
                <a:xfrm>
                  <a:off x="4832713" y="3594898"/>
                  <a:ext cx="138249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/>
                <p:cNvCxnSpPr>
                  <a:stCxn id="22" idx="2"/>
                  <a:endCxn id="32" idx="0"/>
                </p:cNvCxnSpPr>
                <p:nvPr/>
              </p:nvCxnSpPr>
              <p:spPr>
                <a:xfrm>
                  <a:off x="4335018" y="3760796"/>
                  <a:ext cx="0" cy="16589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Flowchart: Process 31"/>
                <p:cNvSpPr/>
                <p:nvPr/>
              </p:nvSpPr>
              <p:spPr>
                <a:xfrm>
                  <a:off x="3864973" y="3926695"/>
                  <a:ext cx="940090" cy="221198"/>
                </a:xfrm>
                <a:prstGeom prst="flowChartProcess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Mode = 0</a:t>
                  </a:r>
                </a:p>
              </p:txBody>
            </p:sp>
            <p:sp>
              <p:nvSpPr>
                <p:cNvPr id="36" name="Oval 35"/>
                <p:cNvSpPr/>
                <p:nvPr/>
              </p:nvSpPr>
              <p:spPr>
                <a:xfrm>
                  <a:off x="3809673" y="4424389"/>
                  <a:ext cx="1050689" cy="331797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Return from interrupt</a:t>
                  </a:r>
                </a:p>
              </p:txBody>
            </p:sp>
            <p:cxnSp>
              <p:nvCxnSpPr>
                <p:cNvPr id="37" name="Straight Arrow Connector 36"/>
                <p:cNvCxnSpPr>
                  <a:stCxn id="32" idx="2"/>
                  <a:endCxn id="36" idx="0"/>
                </p:cNvCxnSpPr>
                <p:nvPr/>
              </p:nvCxnSpPr>
              <p:spPr>
                <a:xfrm>
                  <a:off x="4335018" y="4147892"/>
                  <a:ext cx="0" cy="27649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Elbow Connector 40"/>
                <p:cNvCxnSpPr>
                  <a:stCxn id="8" idx="3"/>
                </p:cNvCxnSpPr>
                <p:nvPr/>
              </p:nvCxnSpPr>
              <p:spPr>
                <a:xfrm flipH="1">
                  <a:off x="4335018" y="2603318"/>
                  <a:ext cx="1576033" cy="1682823"/>
                </a:xfrm>
                <a:prstGeom prst="bentConnector4">
                  <a:avLst>
                    <a:gd name="adj1" fmla="val -10395"/>
                    <a:gd name="adj2" fmla="val 100152"/>
                  </a:avLst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>
                  <a:stCxn id="18" idx="3"/>
                </p:cNvCxnSpPr>
                <p:nvPr/>
              </p:nvCxnSpPr>
              <p:spPr>
                <a:xfrm>
                  <a:off x="5911052" y="3097203"/>
                  <a:ext cx="1658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>
                  <a:stCxn id="23" idx="3"/>
                </p:cNvCxnSpPr>
                <p:nvPr/>
              </p:nvCxnSpPr>
              <p:spPr>
                <a:xfrm>
                  <a:off x="5911052" y="3594898"/>
                  <a:ext cx="1658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4" name="TextBox 73"/>
                <p:cNvSpPr txBox="1"/>
                <p:nvPr/>
              </p:nvSpPr>
              <p:spPr>
                <a:xfrm>
                  <a:off x="4341930" y="2730283"/>
                  <a:ext cx="213039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N</a:t>
                  </a:r>
                </a:p>
              </p:txBody>
            </p:sp>
            <p:sp>
              <p:nvSpPr>
                <p:cNvPr id="75" name="TextBox 74"/>
                <p:cNvSpPr txBox="1"/>
                <p:nvPr/>
              </p:nvSpPr>
              <p:spPr>
                <a:xfrm>
                  <a:off x="4335018" y="3227977"/>
                  <a:ext cx="213039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N</a:t>
                  </a:r>
                </a:p>
              </p:txBody>
            </p:sp>
            <p:sp>
              <p:nvSpPr>
                <p:cNvPr id="76" name="TextBox 75"/>
                <p:cNvSpPr txBox="1"/>
                <p:nvPr/>
              </p:nvSpPr>
              <p:spPr>
                <a:xfrm>
                  <a:off x="4341930" y="3725672"/>
                  <a:ext cx="213039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N</a:t>
                  </a:r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>
                  <a:off x="4777321" y="2401144"/>
                  <a:ext cx="195006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Y</a:t>
                  </a:r>
                </a:p>
              </p:txBody>
            </p:sp>
            <p:sp>
              <p:nvSpPr>
                <p:cNvPr id="78" name="TextBox 77"/>
                <p:cNvSpPr txBox="1"/>
                <p:nvPr/>
              </p:nvSpPr>
              <p:spPr>
                <a:xfrm>
                  <a:off x="4782270" y="2898722"/>
                  <a:ext cx="195006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Y</a:t>
                  </a:r>
                </a:p>
              </p:txBody>
            </p:sp>
            <p:sp>
              <p:nvSpPr>
                <p:cNvPr id="79" name="TextBox 78"/>
                <p:cNvSpPr txBox="1"/>
                <p:nvPr/>
              </p:nvSpPr>
              <p:spPr>
                <a:xfrm>
                  <a:off x="4782270" y="3393876"/>
                  <a:ext cx="195006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Y</a:t>
                  </a:r>
                </a:p>
              </p:txBody>
            </p:sp>
          </p:grpSp>
          <p:cxnSp>
            <p:nvCxnSpPr>
              <p:cNvPr id="6" name="Straight Arrow Connector 5"/>
              <p:cNvCxnSpPr/>
              <p:nvPr/>
            </p:nvCxnSpPr>
            <p:spPr>
              <a:xfrm flipV="1">
                <a:off x="4029456" y="1707254"/>
                <a:ext cx="0" cy="14922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Group 12"/>
          <p:cNvGrpSpPr/>
          <p:nvPr/>
        </p:nvGrpSpPr>
        <p:grpSpPr>
          <a:xfrm>
            <a:off x="283780" y="5827186"/>
            <a:ext cx="2828147" cy="749664"/>
            <a:chOff x="283780" y="5827186"/>
            <a:chExt cx="2828147" cy="749664"/>
          </a:xfrm>
        </p:grpSpPr>
        <p:sp>
          <p:nvSpPr>
            <p:cNvPr id="9" name="Left Brace 8"/>
            <p:cNvSpPr/>
            <p:nvPr/>
          </p:nvSpPr>
          <p:spPr>
            <a:xfrm rot="16200000">
              <a:off x="1580413" y="4816799"/>
              <a:ext cx="228600" cy="2249374"/>
            </a:xfrm>
            <a:prstGeom prst="leftBrace">
              <a:avLst>
                <a:gd name="adj1" fmla="val 26157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83780" y="6053630"/>
              <a:ext cx="282814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The main loop </a:t>
              </a:r>
              <a:r>
                <a:rPr lang="en-US" sz="1400" b="1" i="1" u="sng" dirty="0">
                  <a:solidFill>
                    <a:srgbClr val="FF0000"/>
                  </a:solidFill>
                </a:rPr>
                <a:t>reads</a:t>
              </a:r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en-U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Mode</a:t>
              </a:r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and </a:t>
              </a:r>
              <a:r>
                <a:rPr lang="en-U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Tick</a:t>
              </a:r>
              <a:endPara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(and sometimes </a:t>
              </a:r>
              <a:r>
                <a:rPr lang="en-US" sz="1400" b="1" i="1" u="sng" dirty="0">
                  <a:solidFill>
                    <a:srgbClr val="FF0000"/>
                  </a:solidFill>
                </a:rPr>
                <a:t>resets</a:t>
              </a:r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en-U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Tick</a:t>
              </a:r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to zero)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933336" y="5827187"/>
            <a:ext cx="2249374" cy="749663"/>
            <a:chOff x="3933336" y="5827187"/>
            <a:chExt cx="2249374" cy="749663"/>
          </a:xfrm>
        </p:grpSpPr>
        <p:sp>
          <p:nvSpPr>
            <p:cNvPr id="66" name="Left Brace 65"/>
            <p:cNvSpPr/>
            <p:nvPr/>
          </p:nvSpPr>
          <p:spPr>
            <a:xfrm rot="16200000">
              <a:off x="4943723" y="4816800"/>
              <a:ext cx="228600" cy="2249374"/>
            </a:xfrm>
            <a:prstGeom prst="leftBrace">
              <a:avLst>
                <a:gd name="adj1" fmla="val 26157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951890" y="6053630"/>
              <a:ext cx="22220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The Switch interrupt code </a:t>
              </a:r>
              <a:r>
                <a:rPr lang="en-US" sz="1400" b="1" i="1" u="sng" dirty="0">
                  <a:solidFill>
                    <a:srgbClr val="FF0000"/>
                  </a:solidFill>
                </a:rPr>
                <a:t>changes</a:t>
              </a:r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en-U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Mode</a:t>
              </a:r>
              <a:endPara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705582" y="5821134"/>
            <a:ext cx="2316724" cy="755716"/>
            <a:chOff x="6705582" y="5821134"/>
            <a:chExt cx="2316724" cy="755716"/>
          </a:xfrm>
        </p:grpSpPr>
        <p:sp>
          <p:nvSpPr>
            <p:cNvPr id="68" name="Left Brace 67"/>
            <p:cNvSpPr/>
            <p:nvPr/>
          </p:nvSpPr>
          <p:spPr>
            <a:xfrm rot="16200000">
              <a:off x="7764959" y="5105839"/>
              <a:ext cx="240706" cy="1671296"/>
            </a:xfrm>
            <a:prstGeom prst="leftBrace">
              <a:avLst>
                <a:gd name="adj1" fmla="val 26157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705582" y="6053630"/>
              <a:ext cx="23167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The TIMER0 code </a:t>
              </a:r>
              <a:r>
                <a:rPr lang="en-US" sz="1400" b="1" i="1" u="sng" dirty="0">
                  <a:solidFill>
                    <a:srgbClr val="FF0000"/>
                  </a:solidFill>
                </a:rPr>
                <a:t>increments</a:t>
              </a:r>
              <a:endParaRPr lang="en-US" sz="1400" b="1" dirty="0">
                <a:solidFill>
                  <a:srgbClr val="FF0000"/>
                </a:solidFill>
              </a:endParaRPr>
            </a:p>
            <a:p>
              <a:pPr algn="ctr"/>
              <a:r>
                <a:rPr lang="en-U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Tick</a:t>
              </a:r>
              <a:r>
                <a: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once every millisecond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013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600" dirty="0"/>
              <a:t>Handling Interrupts in C</a:t>
            </a:r>
          </a:p>
        </p:txBody>
      </p:sp>
      <p:sp>
        <p:nvSpPr>
          <p:cNvPr id="550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3592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sz="2800" dirty="0"/>
              <a:t>AVR Studio provides good support for interrupt processing in C</a:t>
            </a:r>
            <a:endParaRPr lang="en-US" sz="2800" b="1" dirty="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sz="2400" dirty="0"/>
              <a:t>ISR handler must be named “ISR”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sz="2400" dirty="0"/>
              <a:t>Argument must be a specific interrupt vector name as defined in the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iom128a.h</a:t>
            </a:r>
            <a:r>
              <a:rPr lang="en-US" sz="2400" dirty="0"/>
              <a:t> file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iom128a.h</a:t>
            </a:r>
            <a:r>
              <a:rPr lang="en-US" sz="2400" dirty="0"/>
              <a:t> also defines register names and bit operators, too—very helpful!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495800" y="4343400"/>
            <a:ext cx="4305300" cy="193899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Comic Sans MS" pitchFamily="66" charset="0"/>
              </a:rPr>
              <a:t>Tip: While programming, R-click on a defined constant, macro, variable, or function name and choose “</a:t>
            </a:r>
            <a:r>
              <a:rPr lang="en-US" sz="2000" dirty="0" err="1">
                <a:latin typeface="Comic Sans MS" pitchFamily="66" charset="0"/>
              </a:rPr>
              <a:t>Goto</a:t>
            </a:r>
            <a:r>
              <a:rPr lang="en-US" sz="2000" dirty="0">
                <a:latin typeface="Comic Sans MS" pitchFamily="66" charset="0"/>
              </a:rPr>
              <a:t> Implementation”—Atmel Studio will find and open the source definition for you!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281684" y="4544568"/>
            <a:ext cx="2857500" cy="1066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9pPr>
          </a:lstStyle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ISR(INT1_vect)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	...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0789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42440" y="262890"/>
            <a:ext cx="6258560" cy="685800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ts val="3000"/>
              </a:lnSpc>
              <a:defRPr/>
            </a:pPr>
            <a:r>
              <a:rPr lang="en-US" sz="3400" dirty="0"/>
              <a:t>A State-Driven Interrupt Handler Framework (1 of 3)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304800" y="1295400"/>
            <a:ext cx="7467600" cy="5562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9pPr>
          </a:lstStyle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avr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io.h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500" dirty="0">
                <a:effectLst/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500" dirty="0"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// standard AVR header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avr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interrupt.h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500" dirty="0">
                <a:effectLst/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500" dirty="0"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// needed for interrupts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avr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delay.h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&gt;	</a:t>
            </a:r>
            <a:r>
              <a:rPr lang="en-US" sz="1500" dirty="0">
                <a:effectLst/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500" dirty="0"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// needed to use _delay_ms()</a:t>
            </a:r>
            <a:endParaRPr lang="en-US" sz="1500" dirty="0">
              <a:effectLst/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sz="1500" dirty="0">
              <a:effectLst/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#define DELAY 50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endParaRPr lang="en-US" sz="1500" dirty="0">
              <a:effectLst/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9242"/>
                </a:solidFill>
                <a:effectLst/>
                <a:latin typeface="Courier New" pitchFamily="49" charset="0"/>
                <a:cs typeface="Courier New" pitchFamily="49" charset="0"/>
              </a:rPr>
              <a:t>// enumerate the possible patterns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enum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 patterns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RightToLeft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500" dirty="0">
                <a:effectLst/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500" dirty="0">
                <a:solidFill>
                  <a:srgbClr val="009242"/>
                </a:solidFill>
                <a:effectLst/>
                <a:latin typeface="Courier New" pitchFamily="49" charset="0"/>
                <a:cs typeface="Courier New" pitchFamily="49" charset="0"/>
              </a:rPr>
              <a:t>// E0 to E7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effectLst/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LeftToRight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500" dirty="0">
                <a:effectLst/>
                <a:latin typeface="Courier New" pitchFamily="49" charset="0"/>
                <a:cs typeface="Courier New" pitchFamily="49" charset="0"/>
              </a:rPr>
              <a:t> 		</a:t>
            </a:r>
            <a:r>
              <a:rPr lang="en-US" sz="1500" dirty="0">
                <a:solidFill>
                  <a:srgbClr val="009242"/>
                </a:solidFill>
                <a:effectLst/>
                <a:latin typeface="Courier New" pitchFamily="49" charset="0"/>
                <a:cs typeface="Courier New" pitchFamily="49" charset="0"/>
              </a:rPr>
              <a:t>// E7 to E0</a:t>
            </a:r>
            <a:endParaRPr lang="en-US" sz="1500" dirty="0">
              <a:effectLst/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effectLst/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BackAndForth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500" dirty="0">
                <a:effectLst/>
                <a:latin typeface="Courier New" pitchFamily="49" charset="0"/>
                <a:cs typeface="Courier New" pitchFamily="49" charset="0"/>
              </a:rPr>
              <a:t> 		</a:t>
            </a:r>
            <a:r>
              <a:rPr lang="en-US" sz="1500" dirty="0">
                <a:solidFill>
                  <a:srgbClr val="009242"/>
                </a:solidFill>
                <a:effectLst/>
                <a:latin typeface="Courier New" pitchFamily="49" charset="0"/>
                <a:cs typeface="Courier New" pitchFamily="49" charset="0"/>
              </a:rPr>
              <a:t>// E0 to E7 to E0</a:t>
            </a:r>
            <a:endParaRPr lang="en-US" sz="1500" dirty="0">
              <a:effectLst/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effectLst/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MysteryPattern</a:t>
            </a:r>
            <a:r>
              <a:rPr lang="en-US" sz="1500" dirty="0">
                <a:effectLst/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500" dirty="0">
                <a:solidFill>
                  <a:srgbClr val="009242"/>
                </a:solidFill>
                <a:effectLst/>
                <a:latin typeface="Courier New" pitchFamily="49" charset="0"/>
                <a:cs typeface="Courier New" pitchFamily="49" charset="0"/>
              </a:rPr>
              <a:t>// ???</a:t>
            </a:r>
            <a:endParaRPr lang="en-US" sz="1500" dirty="0">
              <a:effectLst/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};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endParaRPr lang="en-US" sz="1500" dirty="0">
              <a:solidFill>
                <a:srgbClr val="00B050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// global variable to keep track of the current LED pattern</a:t>
            </a:r>
            <a:endParaRPr lang="en-US" sz="1500" dirty="0">
              <a:effectLst/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enum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 patterns Mode;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endParaRPr lang="en-US" sz="1500" dirty="0">
              <a:effectLst/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 main(void)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96875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...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6FDAD59-7882-4B8A-869C-60F1C903C9E2}"/>
              </a:ext>
            </a:extLst>
          </p:cNvPr>
          <p:cNvGrpSpPr/>
          <p:nvPr/>
        </p:nvGrpSpPr>
        <p:grpSpPr>
          <a:xfrm>
            <a:off x="5798636" y="2001645"/>
            <a:ext cx="3029146" cy="1219200"/>
            <a:chOff x="5943600" y="2057400"/>
            <a:chExt cx="3029146" cy="1219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D547E7F-0FC1-4110-87B3-7798812305FC}"/>
                </a:ext>
              </a:extLst>
            </p:cNvPr>
            <p:cNvSpPr/>
            <p:nvPr/>
          </p:nvSpPr>
          <p:spPr bwMode="auto">
            <a:xfrm>
              <a:off x="5943600" y="2362200"/>
              <a:ext cx="3029146" cy="914400"/>
            </a:xfrm>
            <a:prstGeom prst="roundRect">
              <a:avLst/>
            </a:prstGeom>
            <a:solidFill>
              <a:srgbClr val="FF0000"/>
            </a:solidFill>
            <a:ln w="9525" cap="flat" cmpd="sng" algn="ctr">
              <a:solidFill>
                <a:srgbClr val="5F5F5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600" i="1" dirty="0">
                  <a:solidFill>
                    <a:schemeClr val="bg1"/>
                  </a:solidFill>
                </a:rPr>
                <a:t>NB: </a:t>
              </a:r>
              <a:r>
                <a:rPr lang="en-US" sz="1600" dirty="0">
                  <a:solidFill>
                    <a:schemeClr val="bg1"/>
                  </a:solidFill>
                </a:rPr>
                <a:t>You’re </a:t>
              </a:r>
              <a:r>
                <a:rPr lang="en-US" sz="1600" b="1" i="1" u="sng" dirty="0">
                  <a:solidFill>
                    <a:schemeClr val="bg1"/>
                  </a:solidFill>
                </a:rPr>
                <a:t>not</a:t>
              </a:r>
              <a:r>
                <a:rPr lang="en-US" sz="1600" b="1" dirty="0">
                  <a:solidFill>
                    <a:schemeClr val="bg1"/>
                  </a:solidFill>
                </a:rPr>
                <a:t> allowed</a:t>
              </a:r>
              <a:r>
                <a:rPr lang="en-US" sz="1600" dirty="0">
                  <a:solidFill>
                    <a:schemeClr val="bg1"/>
                  </a:solidFill>
                </a:rPr>
                <a:t> to use </a:t>
              </a: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</a:t>
              </a:r>
              <a:r>
                <a:rPr lang="en-US" sz="1600" b="1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delay_ms</a:t>
              </a: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  <a:r>
                <a:rPr lang="en-US" sz="1600" dirty="0">
                  <a:solidFill>
                    <a:schemeClr val="bg1"/>
                  </a:solidFill>
                </a:rPr>
                <a:t> in Lab06!! (Use a </a:t>
              </a:r>
              <a:r>
                <a:rPr lang="en-US" sz="1600" b="1" dirty="0">
                  <a:solidFill>
                    <a:schemeClr val="bg1"/>
                  </a:solidFill>
                </a:rPr>
                <a:t>tick-timer</a:t>
              </a:r>
              <a:r>
                <a:rPr lang="en-US" sz="1600" dirty="0">
                  <a:solidFill>
                    <a:schemeClr val="bg1"/>
                  </a:solidFill>
                </a:rPr>
                <a:t> instead)</a:t>
              </a:r>
            </a:p>
          </p:txBody>
        </p:sp>
        <p:cxnSp>
          <p:nvCxnSpPr>
            <p:cNvPr id="4" name="Straight Arrow Connector 3"/>
            <p:cNvCxnSpPr/>
            <p:nvPr/>
          </p:nvCxnSpPr>
          <p:spPr bwMode="auto">
            <a:xfrm flipH="1" flipV="1">
              <a:off x="6553200" y="2057400"/>
              <a:ext cx="304800" cy="3048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27052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0138" y="5628290"/>
            <a:ext cx="1828800" cy="304800"/>
          </a:xfrm>
          <a:prstGeom prst="rect">
            <a:avLst/>
          </a:prstGeom>
          <a:solidFill>
            <a:srgbClr val="FFFF66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304800" y="1066800"/>
            <a:ext cx="8686800" cy="518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9pPr>
          </a:lstStyle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 main(void)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6075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// declare variables, initialize HW registers (interrupts,</a:t>
            </a:r>
          </a:p>
          <a:p>
            <a:pPr marL="346075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// ports, etc.) and </a:t>
            </a:r>
            <a:r>
              <a:rPr lang="en-US" sz="1500"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initialize Mode </a:t>
            </a:r>
            <a:r>
              <a:rPr lang="en-US" sz="1500" dirty="0"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to starting pattern</a:t>
            </a:r>
          </a:p>
          <a:p>
            <a:pPr marL="346075" indent="0" eaLnBrk="1" hangingPunct="1">
              <a:lnSpc>
                <a:spcPct val="80000"/>
              </a:lnSpc>
              <a:buNone/>
              <a:defRPr/>
            </a:pPr>
            <a:endParaRPr lang="en-US" sz="1500" dirty="0">
              <a:solidFill>
                <a:srgbClr val="00B050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346075" indent="0" eaLnBrk="1" hangingPunct="1">
              <a:lnSpc>
                <a:spcPct val="80000"/>
              </a:lnSpc>
              <a:buNone/>
              <a:defRPr/>
            </a:pPr>
            <a:r>
              <a:rPr lang="en-US" sz="1500" dirty="0"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// enable interrupts globally</a:t>
            </a:r>
            <a:endParaRPr lang="en-US" sz="1500" dirty="0">
              <a:effectLst/>
              <a:latin typeface="Courier New" pitchFamily="49" charset="0"/>
              <a:cs typeface="Courier New" pitchFamily="49" charset="0"/>
            </a:endParaRPr>
          </a:p>
          <a:p>
            <a:pPr marL="346075" indent="0" eaLnBrk="1" hangingPunct="1">
              <a:lnSpc>
                <a:spcPct val="80000"/>
              </a:lnSpc>
              <a:buNone/>
              <a:defRPr/>
            </a:pP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sei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(); </a:t>
            </a:r>
          </a:p>
          <a:p>
            <a:pPr marL="346075" indent="0" eaLnBrk="1" hangingPunct="1">
              <a:lnSpc>
                <a:spcPct val="80000"/>
              </a:lnSpc>
              <a:buNone/>
              <a:defRPr/>
            </a:pPr>
            <a:endParaRPr lang="en-US" sz="1500" dirty="0">
              <a:solidFill>
                <a:srgbClr val="000000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346075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while(1) </a:t>
            </a:r>
            <a:r>
              <a:rPr lang="en-US" sz="1500" dirty="0"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// loop forever</a:t>
            </a:r>
            <a:endParaRPr lang="en-US" sz="1500" dirty="0">
              <a:effectLst/>
              <a:latin typeface="Courier New" pitchFamily="49" charset="0"/>
              <a:cs typeface="Courier New" pitchFamily="49" charset="0"/>
            </a:endParaRPr>
          </a:p>
          <a:p>
            <a:pPr marL="346075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690563" indent="0" eaLnBrk="1" hangingPunct="1">
              <a:lnSpc>
                <a:spcPct val="80000"/>
              </a:lnSpc>
              <a:buNone/>
              <a:defRPr/>
            </a:pPr>
            <a:r>
              <a:rPr lang="en-US" sz="1500" dirty="0"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// execute code based on the current pattern</a:t>
            </a:r>
            <a:endParaRPr lang="en-US" sz="1500" dirty="0">
              <a:effectLst/>
              <a:latin typeface="Courier New" pitchFamily="49" charset="0"/>
              <a:cs typeface="Courier New" pitchFamily="49" charset="0"/>
            </a:endParaRPr>
          </a:p>
          <a:p>
            <a:pPr marL="690563" indent="0" eaLnBrk="1" hangingPunct="1">
              <a:lnSpc>
                <a:spcPct val="80000"/>
              </a:lnSpc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switch(Mode)</a:t>
            </a:r>
          </a:p>
          <a:p>
            <a:pPr marL="690563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1025525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case(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RightToLeft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):</a:t>
            </a:r>
          </a:p>
          <a:p>
            <a:pPr marL="137160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// turn off current LED, turn on next LED in the pattern</a:t>
            </a:r>
          </a:p>
          <a:p>
            <a:pPr marL="137160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 marL="1025525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case(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LeftToRight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):</a:t>
            </a:r>
          </a:p>
          <a:p>
            <a:pPr marL="1025525" indent="0" eaLnBrk="1" hangingPunct="1">
              <a:lnSpc>
                <a:spcPct val="80000"/>
              </a:lnSpc>
              <a:buFontTx/>
              <a:buNone/>
              <a:defRPr/>
            </a:pPr>
            <a:endParaRPr lang="en-US" sz="1500" dirty="0">
              <a:solidFill>
                <a:srgbClr val="000000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1025525" indent="0" eaLnBrk="1" hangingPunct="1">
              <a:lnSpc>
                <a:spcPct val="80000"/>
              </a:lnSpc>
              <a:buFontTx/>
              <a:buNone/>
              <a:defRPr/>
            </a:pPr>
            <a:endParaRPr lang="en-US" sz="1500" dirty="0">
              <a:solidFill>
                <a:srgbClr val="000000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690563" indent="0" eaLnBrk="1" hangingPunct="1">
              <a:lnSpc>
                <a:spcPct val="80000"/>
              </a:lnSpc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690563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_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delay_ms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(DELAY); </a:t>
            </a:r>
            <a:r>
              <a:rPr lang="en-US" sz="1500" dirty="0"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// leave the LED on for 50mS</a:t>
            </a:r>
            <a:endParaRPr lang="en-US" sz="1500" dirty="0">
              <a:effectLst/>
              <a:latin typeface="Courier New" pitchFamily="49" charset="0"/>
              <a:cs typeface="Courier New" pitchFamily="49" charset="0"/>
            </a:endParaRPr>
          </a:p>
          <a:p>
            <a:pPr marL="346075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42440" y="262890"/>
            <a:ext cx="6258560" cy="685800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ts val="3000"/>
              </a:lnSpc>
              <a:defRPr/>
            </a:pPr>
            <a:r>
              <a:rPr lang="en-US" sz="3400" dirty="0"/>
              <a:t>A State-Driven Interrupt Handler Framework (2 of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9208" y="4866290"/>
            <a:ext cx="53976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Again, don’t use</a:t>
            </a:r>
            <a:r>
              <a:rPr lang="en-US" sz="1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delay_ms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</a:rPr>
              <a:t>in Lab06. Instead, wait here until “Tick” reaches 50 (incremented automatically via the timer ISR).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Once it reaches 50, reset it to zero and continue looping.</a:t>
            </a:r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 bwMode="auto">
          <a:xfrm flipH="1">
            <a:off x="2743200" y="5213000"/>
            <a:ext cx="1066800" cy="4507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F342FE0-203E-487A-8F38-80551B70E3BD}"/>
              </a:ext>
            </a:extLst>
          </p:cNvPr>
          <p:cNvSpPr txBox="1"/>
          <p:nvPr/>
        </p:nvSpPr>
        <p:spPr>
          <a:xfrm>
            <a:off x="4419600" y="284272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Switch-Case statements are more compact than if-then-else statements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F1D27C-1015-45E3-83C5-A4CB94B0C26C}"/>
              </a:ext>
            </a:extLst>
          </p:cNvPr>
          <p:cNvCxnSpPr>
            <a:cxnSpLocks/>
          </p:cNvCxnSpPr>
          <p:nvPr/>
        </p:nvCxnSpPr>
        <p:spPr bwMode="auto">
          <a:xfrm flipH="1">
            <a:off x="3429000" y="3184634"/>
            <a:ext cx="985345" cy="8539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2EE803-F277-4307-B39D-33C2E4E6FBD8}"/>
              </a:ext>
            </a:extLst>
          </p:cNvPr>
          <p:cNvCxnSpPr>
            <a:cxnSpLocks/>
          </p:cNvCxnSpPr>
          <p:nvPr/>
        </p:nvCxnSpPr>
        <p:spPr bwMode="auto">
          <a:xfrm flipH="1">
            <a:off x="3352800" y="3289169"/>
            <a:ext cx="1095866" cy="13590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FB6855-688D-4690-8ABB-5B70AD0307F0}"/>
              </a:ext>
            </a:extLst>
          </p:cNvPr>
          <p:cNvCxnSpPr>
            <a:cxnSpLocks/>
          </p:cNvCxnSpPr>
          <p:nvPr/>
        </p:nvCxnSpPr>
        <p:spPr bwMode="auto">
          <a:xfrm flipH="1">
            <a:off x="2701160" y="3069021"/>
            <a:ext cx="1713185" cy="6306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/>
          <p:nvPr/>
        </p:nvSpPr>
        <p:spPr>
          <a:xfrm rot="5400000">
            <a:off x="1509248" y="5022377"/>
            <a:ext cx="466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8944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304800" y="1295400"/>
            <a:ext cx="8686800" cy="5562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9pPr>
          </a:lstStyle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ISR(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INTxx_vect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1500" dirty="0"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	// Invoked when joystick button PB4 (which must be connected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1500" dirty="0"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	// externally to a pin that can cause interrupts) is </a:t>
            </a:r>
            <a:r>
              <a:rPr lang="en-US" sz="1500" b="1" u="sng" dirty="0"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released</a:t>
            </a:r>
          </a:p>
          <a:p>
            <a:pPr marL="0" indent="0" eaLnBrk="1" hangingPunct="1">
              <a:lnSpc>
                <a:spcPct val="80000"/>
              </a:lnSpc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endParaRPr lang="en-US" sz="1500" dirty="0">
              <a:solidFill>
                <a:srgbClr val="00B050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1500" dirty="0"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	// change LED blinking pattern</a:t>
            </a:r>
            <a:endParaRPr lang="en-US" sz="1500" dirty="0">
              <a:effectLst/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	switch(Mode)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		case(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RightToLeft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):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			Mode = 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LeftToRight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			break;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		case(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LeftToRight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):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			Mode = 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BackAndForth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			break;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endParaRPr lang="en-US" sz="1500" dirty="0">
              <a:solidFill>
                <a:srgbClr val="000000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tabLst>
                <a:tab pos="341313" algn="l"/>
                <a:tab pos="684213" algn="l"/>
                <a:tab pos="1025525" algn="l"/>
                <a:tab pos="1376363" algn="l"/>
              </a:tabLst>
              <a:defRPr/>
            </a:pPr>
            <a:r>
              <a:rPr lang="en-US" sz="1500" dirty="0">
                <a:solidFill>
                  <a:srgbClr val="000000"/>
                </a:solidFill>
                <a:effectLst/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42440" y="262890"/>
            <a:ext cx="6258560" cy="685800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ts val="3000"/>
              </a:lnSpc>
              <a:defRPr/>
            </a:pPr>
            <a:r>
              <a:rPr lang="en-US" sz="3400" dirty="0"/>
              <a:t>A State-Driven Interrupt Handler Framework (3 of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8851" y="1370111"/>
            <a:ext cx="5603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</a:rPr>
              <a:t>NB: </a:t>
            </a:r>
            <a:r>
              <a:rPr lang="en-US" sz="1400" dirty="0">
                <a:solidFill>
                  <a:srgbClr val="FF0000"/>
                </a:solidFill>
              </a:rPr>
              <a:t>This is </a:t>
            </a:r>
            <a:r>
              <a:rPr lang="en-US" sz="1400" b="1" u="sng" dirty="0">
                <a:solidFill>
                  <a:srgbClr val="FF0000"/>
                </a:solidFill>
              </a:rPr>
              <a:t>NOT</a:t>
            </a:r>
            <a:r>
              <a:rPr lang="en-US" sz="1400" b="1" dirty="0">
                <a:solidFill>
                  <a:srgbClr val="FF0000"/>
                </a:solidFill>
              </a:rPr>
              <a:t> the correct interrupt number for Lab06</a:t>
            </a:r>
            <a:r>
              <a:rPr lang="en-US" sz="1400" dirty="0">
                <a:solidFill>
                  <a:srgbClr val="FF0000"/>
                </a:solidFill>
              </a:rPr>
              <a:t>!</a:t>
            </a:r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 bwMode="auto">
          <a:xfrm flipH="1" flipV="1">
            <a:off x="2057401" y="1447800"/>
            <a:ext cx="721450" cy="762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/>
          <p:cNvSpPr txBox="1"/>
          <p:nvPr/>
        </p:nvSpPr>
        <p:spPr>
          <a:xfrm rot="5400000">
            <a:off x="1178217" y="4565177"/>
            <a:ext cx="466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99172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790</Words>
  <Application>Microsoft Office PowerPoint</Application>
  <PresentationFormat>On-screen Show (4:3)</PresentationFormat>
  <Paragraphs>152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Comic Sans MS</vt:lpstr>
      <vt:lpstr>Courier New</vt:lpstr>
      <vt:lpstr>Office Theme</vt:lpstr>
      <vt:lpstr>EECE3264 Lab06 StateChart</vt:lpstr>
      <vt:lpstr>EECE3264 Lab06 StateChart</vt:lpstr>
      <vt:lpstr>Handling Interrupts in C</vt:lpstr>
      <vt:lpstr>A State-Driven Interrupt Handler Framework (1 of 3)</vt:lpstr>
      <vt:lpstr>A State-Driven Interrupt Handler Framework (2 of 3)</vt:lpstr>
      <vt:lpstr>A State-Driven Interrupt Handler Framework (3 of 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EECE4254 Lab06 Slides</dc:title>
  <dc:creator>Greg</dc:creator>
  <cp:lastModifiedBy>Jose De Los Santos</cp:lastModifiedBy>
  <cp:revision>54</cp:revision>
  <dcterms:created xsi:type="dcterms:W3CDTF">2006-08-16T00:00:00Z</dcterms:created>
  <dcterms:modified xsi:type="dcterms:W3CDTF">2026-10-06T16:10:15Z</dcterms:modified>
</cp:coreProperties>
</file>